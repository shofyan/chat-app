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cb1054122b4715" /><Relationship Type="http://schemas.openxmlformats.org/officeDocument/2006/relationships/extended-properties" Target="/docProps/app.xml" Id="R319d975cdb804656" /><Relationship Type="http://schemas.openxmlformats.org/officeDocument/2006/relationships/officeDocument" Target="/ppt/presentation.xml" Id="Radc4639d60534a68" /></Relationships>
</file>

<file path=ppt/presentation.xml><?xml version="1.0" encoding="utf-8"?>
<p:presentation xmlns:p="http://schemas.openxmlformats.org/presentationml/2006/main">
  <p:sldMasterIdLst>
    <p:sldMasterId xmlns:r="http://schemas.openxmlformats.org/officeDocument/2006/relationships" id="2147483648" r:id="Rbbee07054ca64740"/>
  </p:sldMasterIdLst>
  <p:notesMasterIdLst>
    <p:notesMasterId xmlns:r="http://schemas.openxmlformats.org/officeDocument/2006/relationships" r:id="R1c99b7c26e524b14"/>
  </p:notesMasterIdLst>
  <p:sldIdLst>
    <p:sldId xmlns:r="http://schemas.openxmlformats.org/officeDocument/2006/relationships" id="256" r:id="R5d1dbe541fc545a2"/>
    <p:sldId xmlns:r="http://schemas.openxmlformats.org/officeDocument/2006/relationships" id="257" r:id="R94b75b7ee8124a70"/>
    <p:sldId xmlns:r="http://schemas.openxmlformats.org/officeDocument/2006/relationships" id="258" r:id="Re0c478b3b23040eb"/>
    <p:sldId xmlns:r="http://schemas.openxmlformats.org/officeDocument/2006/relationships" id="259" r:id="R64bc4be4b3ef49a7"/>
    <p:sldId xmlns:r="http://schemas.openxmlformats.org/officeDocument/2006/relationships" id="260" r:id="Rfab768fd7fe7409c"/>
    <p:sldId xmlns:r="http://schemas.openxmlformats.org/officeDocument/2006/relationships" id="261" r:id="R5b9476aafa2943a3"/>
    <p:sldId xmlns:r="http://schemas.openxmlformats.org/officeDocument/2006/relationships" id="262" r:id="R7c9f01e6f1914d76"/>
    <p:sldId xmlns:r="http://schemas.openxmlformats.org/officeDocument/2006/relationships" id="263" r:id="R4c82a93b6db843ec"/>
    <p:sldId xmlns:r="http://schemas.openxmlformats.org/officeDocument/2006/relationships" id="264" r:id="Rfa2b0f1dfd2c4351"/>
    <p:sldId xmlns:r="http://schemas.openxmlformats.org/officeDocument/2006/relationships" id="265" r:id="R019b722a7d544d03"/>
    <p:sldId xmlns:r="http://schemas.openxmlformats.org/officeDocument/2006/relationships" id="266" r:id="R4ed4360bd02d40f6"/>
    <p:sldId xmlns:r="http://schemas.openxmlformats.org/officeDocument/2006/relationships" id="267" r:id="R0410860bdce649f1"/>
    <p:sldId xmlns:r="http://schemas.openxmlformats.org/officeDocument/2006/relationships" id="268" r:id="Rdb5075544e394bad"/>
    <p:sldId xmlns:r="http://schemas.openxmlformats.org/officeDocument/2006/relationships" id="269" r:id="R1ce51b896b3c42be"/>
    <p:sldId xmlns:r="http://schemas.openxmlformats.org/officeDocument/2006/relationships" id="270" r:id="R5e2f605375ed4cd0"/>
    <p:sldId xmlns:r="http://schemas.openxmlformats.org/officeDocument/2006/relationships" id="271" r:id="R51134ef4413c4337"/>
    <p:sldId xmlns:r="http://schemas.openxmlformats.org/officeDocument/2006/relationships" id="272" r:id="R52e3cd8c6d014e10"/>
    <p:sldId xmlns:r="http://schemas.openxmlformats.org/officeDocument/2006/relationships" id="273" r:id="Rc2d05c6891cd49c4"/>
    <p:sldId xmlns:r="http://schemas.openxmlformats.org/officeDocument/2006/relationships" id="274" r:id="Rf92cbe33477e4a45"/>
    <p:sldId xmlns:r="http://schemas.openxmlformats.org/officeDocument/2006/relationships" id="275" r:id="Re3613d4106dc4a9e"/>
    <p:sldId xmlns:r="http://schemas.openxmlformats.org/officeDocument/2006/relationships" id="276" r:id="R7e8049883df542ef"/>
    <p:sldId xmlns:r="http://schemas.openxmlformats.org/officeDocument/2006/relationships" id="277" r:id="R2bfdeb1fa5394394"/>
    <p:sldId xmlns:r="http://schemas.openxmlformats.org/officeDocument/2006/relationships" id="278" r:id="R61162871ffe44a6b"/>
    <p:sldId xmlns:r="http://schemas.openxmlformats.org/officeDocument/2006/relationships" id="279" r:id="Rff76739f4b964761"/>
    <p:sldId xmlns:r="http://schemas.openxmlformats.org/officeDocument/2006/relationships" id="280" r:id="R1faedd9bb8b6458d"/>
    <p:sldId xmlns:r="http://schemas.openxmlformats.org/officeDocument/2006/relationships" id="281" r:id="Rf86dd06facbe44bb"/>
    <p:sldId xmlns:r="http://schemas.openxmlformats.org/officeDocument/2006/relationships" id="282" r:id="Ra9b7d3c895254bb7"/>
    <p:sldId xmlns:r="http://schemas.openxmlformats.org/officeDocument/2006/relationships" id="283" r:id="R8fa8a4b1f5e44d12"/>
    <p:sldId xmlns:r="http://schemas.openxmlformats.org/officeDocument/2006/relationships" id="284" r:id="Rcbb9a05012d64bf6"/>
    <p:sldId xmlns:r="http://schemas.openxmlformats.org/officeDocument/2006/relationships" id="285" r:id="Rc033d3e31a2d404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f34aa1517f4feb" /><Relationship Type="http://schemas.openxmlformats.org/officeDocument/2006/relationships/slideMaster" Target="/ppt/slideMasters/slideMaster1.xml" Id="Rbbee07054ca64740" /><Relationship Type="http://schemas.openxmlformats.org/officeDocument/2006/relationships/notesMaster" Target="/ppt/notesMasters/notesMaster1.xml" Id="R1c99b7c26e524b14" /><Relationship Type="http://schemas.openxmlformats.org/officeDocument/2006/relationships/presProps" Target="/ppt/presProps.xml" Id="Rcc40231a195a43ac" /><Relationship Type="http://schemas.openxmlformats.org/officeDocument/2006/relationships/tableStyles" Target="/ppt/tableStyles.xml" Id="R64030758e22a4ba7" /><Relationship Type="http://schemas.openxmlformats.org/officeDocument/2006/relationships/slide" Target="/ppt/slides/slide1.xml" Id="R5d1dbe541fc545a2" /><Relationship Type="http://schemas.openxmlformats.org/officeDocument/2006/relationships/slide" Target="/ppt/slides/slide2.xml" Id="R94b75b7ee8124a70" /><Relationship Type="http://schemas.openxmlformats.org/officeDocument/2006/relationships/slide" Target="/ppt/slides/slide3.xml" Id="Re0c478b3b23040eb" /><Relationship Type="http://schemas.openxmlformats.org/officeDocument/2006/relationships/slide" Target="/ppt/slides/slide4.xml" Id="R64bc4be4b3ef49a7" /><Relationship Type="http://schemas.openxmlformats.org/officeDocument/2006/relationships/slide" Target="/ppt/slides/slide5.xml" Id="Rfab768fd7fe7409c" /><Relationship Type="http://schemas.openxmlformats.org/officeDocument/2006/relationships/slide" Target="/ppt/slides/slide6.xml" Id="R5b9476aafa2943a3" /><Relationship Type="http://schemas.openxmlformats.org/officeDocument/2006/relationships/slide" Target="/ppt/slides/slide7.xml" Id="R7c9f01e6f1914d76" /><Relationship Type="http://schemas.openxmlformats.org/officeDocument/2006/relationships/slide" Target="/ppt/slides/slide8.xml" Id="R4c82a93b6db843ec" /><Relationship Type="http://schemas.openxmlformats.org/officeDocument/2006/relationships/slide" Target="/ppt/slides/slide9.xml" Id="Rfa2b0f1dfd2c4351" /><Relationship Type="http://schemas.openxmlformats.org/officeDocument/2006/relationships/slide" Target="/ppt/slides/slide10.xml" Id="R019b722a7d544d03" /><Relationship Type="http://schemas.openxmlformats.org/officeDocument/2006/relationships/slide" Target="/ppt/slides/slide11.xml" Id="R4ed4360bd02d40f6" /><Relationship Type="http://schemas.openxmlformats.org/officeDocument/2006/relationships/slide" Target="/ppt/slides/slide12.xml" Id="R0410860bdce649f1" /><Relationship Type="http://schemas.openxmlformats.org/officeDocument/2006/relationships/slide" Target="/ppt/slides/slide13.xml" Id="Rdb5075544e394bad" /><Relationship Type="http://schemas.openxmlformats.org/officeDocument/2006/relationships/slide" Target="/ppt/slides/slide14.xml" Id="R1ce51b896b3c42be" /><Relationship Type="http://schemas.openxmlformats.org/officeDocument/2006/relationships/slide" Target="/ppt/slides/slide15.xml" Id="R5e2f605375ed4cd0" /><Relationship Type="http://schemas.openxmlformats.org/officeDocument/2006/relationships/slide" Target="/ppt/slides/slide16.xml" Id="R51134ef4413c4337" /><Relationship Type="http://schemas.openxmlformats.org/officeDocument/2006/relationships/slide" Target="/ppt/slides/slide17.xml" Id="R52e3cd8c6d014e10" /><Relationship Type="http://schemas.openxmlformats.org/officeDocument/2006/relationships/slide" Target="/ppt/slides/slide18.xml" Id="Rc2d05c6891cd49c4" /><Relationship Type="http://schemas.openxmlformats.org/officeDocument/2006/relationships/slide" Target="/ppt/slides/slide19.xml" Id="Rf92cbe33477e4a45" /><Relationship Type="http://schemas.openxmlformats.org/officeDocument/2006/relationships/slide" Target="/ppt/slides/slide20.xml" Id="Re3613d4106dc4a9e" /><Relationship Type="http://schemas.openxmlformats.org/officeDocument/2006/relationships/slide" Target="/ppt/slides/slide21.xml" Id="R7e8049883df542ef" /><Relationship Type="http://schemas.openxmlformats.org/officeDocument/2006/relationships/slide" Target="/ppt/slides/slide22.xml" Id="R2bfdeb1fa5394394" /><Relationship Type="http://schemas.openxmlformats.org/officeDocument/2006/relationships/slide" Target="/ppt/slides/slide23.xml" Id="R61162871ffe44a6b" /><Relationship Type="http://schemas.openxmlformats.org/officeDocument/2006/relationships/slide" Target="/ppt/slides/slide24.xml" Id="Rff76739f4b964761" /><Relationship Type="http://schemas.openxmlformats.org/officeDocument/2006/relationships/slide" Target="/ppt/slides/slide25.xml" Id="R1faedd9bb8b6458d" /><Relationship Type="http://schemas.openxmlformats.org/officeDocument/2006/relationships/slide" Target="/ppt/slides/slide26.xml" Id="Rf86dd06facbe44bb" /><Relationship Type="http://schemas.openxmlformats.org/officeDocument/2006/relationships/slide" Target="/ppt/slides/slide27.xml" Id="Ra9b7d3c895254bb7" /><Relationship Type="http://schemas.openxmlformats.org/officeDocument/2006/relationships/slide" Target="/ppt/slides/slide28.xml" Id="R8fa8a4b1f5e44d12" /><Relationship Type="http://schemas.openxmlformats.org/officeDocument/2006/relationships/slide" Target="/ppt/slides/slide29.xml" Id="Rcbb9a05012d64bf6" /><Relationship Type="http://schemas.openxmlformats.org/officeDocument/2006/relationships/slide" Target="/ppt/slides/slide30.xml" Id="Rc033d3e31a2d40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21721b019047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a2759d2dbc4e92" /><Relationship Type="http://schemas.openxmlformats.org/officeDocument/2006/relationships/notesMaster" Target="/ppt/notesMasters/notesMaster1.xml" Id="Rac5c8275f35c42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61f869d7544d69" /><Relationship Type="http://schemas.openxmlformats.org/officeDocument/2006/relationships/notesMaster" Target="/ppt/notesMasters/notesMaster1.xml" Id="Rf5ac4060c74547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758754fe2f4ac1" /><Relationship Type="http://schemas.openxmlformats.org/officeDocument/2006/relationships/notesMaster" Target="/ppt/notesMasters/notesMaster1.xml" Id="Rb09c4d66c29248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72644383c44817" /><Relationship Type="http://schemas.openxmlformats.org/officeDocument/2006/relationships/notesMaster" Target="/ppt/notesMasters/notesMaster1.xml" Id="Rc50d486f614249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d06b3a457e46b9" /><Relationship Type="http://schemas.openxmlformats.org/officeDocument/2006/relationships/notesMaster" Target="/ppt/notesMasters/notesMaster1.xml" Id="Ra78189551e454e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b0832c758841d0" /><Relationship Type="http://schemas.openxmlformats.org/officeDocument/2006/relationships/notesMaster" Target="/ppt/notesMasters/notesMaster1.xml" Id="R0934c0f7231d4f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a37174c2474b04" /><Relationship Type="http://schemas.openxmlformats.org/officeDocument/2006/relationships/notesMaster" Target="/ppt/notesMasters/notesMaster1.xml" Id="Re0b904e9dd0048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9ea7c9ea984f9f" /><Relationship Type="http://schemas.openxmlformats.org/officeDocument/2006/relationships/notesMaster" Target="/ppt/notesMasters/notesMaster1.xml" Id="Rbf90747f076e42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f4551b68194627" /><Relationship Type="http://schemas.openxmlformats.org/officeDocument/2006/relationships/notesMaster" Target="/ppt/notesMasters/notesMaster1.xml" Id="R5e48f6f500474e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fe31c3b5a04fb6" /><Relationship Type="http://schemas.openxmlformats.org/officeDocument/2006/relationships/notesMaster" Target="/ppt/notesMasters/notesMaster1.xml" Id="R5c8531a87fd24e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a5109b6e284b33" /><Relationship Type="http://schemas.openxmlformats.org/officeDocument/2006/relationships/notesMaster" Target="/ppt/notesMasters/notesMaster1.xml" Id="R38778b697c4a4d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c14a8f43044312" /><Relationship Type="http://schemas.openxmlformats.org/officeDocument/2006/relationships/notesMaster" Target="/ppt/notesMasters/notesMaster1.xml" Id="R63d8d6ad98b84e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3651ddf3124ea5" /><Relationship Type="http://schemas.openxmlformats.org/officeDocument/2006/relationships/notesMaster" Target="/ppt/notesMasters/notesMaster1.xml" Id="Rf47c6b19759240a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1cb5a4294645e3" /><Relationship Type="http://schemas.openxmlformats.org/officeDocument/2006/relationships/notesMaster" Target="/ppt/notesMasters/notesMaster1.xml" Id="R131c05ae66fe41c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e5d82b1fd041a6" /><Relationship Type="http://schemas.openxmlformats.org/officeDocument/2006/relationships/notesMaster" Target="/ppt/notesMasters/notesMaster1.xml" Id="R02771cf40caf43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c463efd2504ed9" /><Relationship Type="http://schemas.openxmlformats.org/officeDocument/2006/relationships/notesMaster" Target="/ppt/notesMasters/notesMaster1.xml" Id="Rb5618cf4b3c144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c03e16cb6fd4fd9" /><Relationship Type="http://schemas.openxmlformats.org/officeDocument/2006/relationships/notesMaster" Target="/ppt/notesMasters/notesMaster1.xml" Id="R5583b0df87614cc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0c20d8b53fb4f95" /><Relationship Type="http://schemas.openxmlformats.org/officeDocument/2006/relationships/notesMaster" Target="/ppt/notesMasters/notesMaster1.xml" Id="R284ec9800adf4b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6c23138b6d84520" /><Relationship Type="http://schemas.openxmlformats.org/officeDocument/2006/relationships/notesMaster" Target="/ppt/notesMasters/notesMaster1.xml" Id="R42f1d34daed244b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2fc683fb35a42f1" /><Relationship Type="http://schemas.openxmlformats.org/officeDocument/2006/relationships/notesMaster" Target="/ppt/notesMasters/notesMaster1.xml" Id="Re74c049faa5440d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f009b26b082432f" /><Relationship Type="http://schemas.openxmlformats.org/officeDocument/2006/relationships/notesMaster" Target="/ppt/notesMasters/notesMaster1.xml" Id="Rb84001c9e30d413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26b77490f8f42eb" /><Relationship Type="http://schemas.openxmlformats.org/officeDocument/2006/relationships/notesMaster" Target="/ppt/notesMasters/notesMaster1.xml" Id="R2db95f25c9b043b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26a453156af456c" /><Relationship Type="http://schemas.openxmlformats.org/officeDocument/2006/relationships/notesMaster" Target="/ppt/notesMasters/notesMaster1.xml" Id="Rb47da9f70345487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84e96cc3e7240c6" /><Relationship Type="http://schemas.openxmlformats.org/officeDocument/2006/relationships/notesMaster" Target="/ppt/notesMasters/notesMaster1.xml" Id="R24dd631b0007417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0259eb357034779" /><Relationship Type="http://schemas.openxmlformats.org/officeDocument/2006/relationships/notesMaster" Target="/ppt/notesMasters/notesMaster1.xml" Id="Rd20cd48e97f94fd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03df359c2cb4e16" /><Relationship Type="http://schemas.openxmlformats.org/officeDocument/2006/relationships/notesMaster" Target="/ppt/notesMasters/notesMaster1.xml" Id="Re5b8b4e8af0f4bf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61815039aa64b6a" /><Relationship Type="http://schemas.openxmlformats.org/officeDocument/2006/relationships/notesMaster" Target="/ppt/notesMasters/notesMaster1.xml" Id="Rd553ac098b4e4b7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534518fbfc447f0" /><Relationship Type="http://schemas.openxmlformats.org/officeDocument/2006/relationships/notesMaster" Target="/ppt/notesMasters/notesMaster1.xml" Id="R75de5f6bef8f40c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1a68ae834a7429a" /><Relationship Type="http://schemas.openxmlformats.org/officeDocument/2006/relationships/notesMaster" Target="/ppt/notesMasters/notesMaster1.xml" Id="R830883097bb24fc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756c8c4921d4e77" /><Relationship Type="http://schemas.openxmlformats.org/officeDocument/2006/relationships/notesMaster" Target="/ppt/notesMasters/notesMaster1.xml" Id="R6fdd1035cb8541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Presentasi ini memperkenalkan Ruang Chat dari sudut pandang cara kerja sistem. Mahasiswa mengikuti satu aksi sederhana, yaitu mengirim pesan, lalu mengenali peran tampilan, layanan, dan penyimpanan. Mulai dengan contoh sehari-hari sebelum menyebut istilah teknis. Materi berfokus pada gambaran umum. Pembahasan fungsi, class, query, dan implementasi detail dapat dilakukan pada pertemuan lanjutan.</a:t>
            </a:r>
          </a:p>
          <a:p xmlns:a="http://schemas.openxmlformats.org/drawingml/2006/main">
            <a:r>
              <a:t/>
            </a:r>
          </a:p>
          <a:p xmlns:a="http://schemas.openxmlformats.org/drawingml/2006/main">
            <a:r>
              <a:t>Pertanyaan pembuka: setelah tombol kirim ditekan, menurut kalian ke mana pesan pergi terlebih dahulu?</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tiga capaian ini sebagai panduan diskusi. Mahasiswa belum perlu menghafal nama endpoint atau struktur folder. Pada akhir sesi, minta mereka menggambarkan komponen sistem dan menjelaskan satu alur pesan dengan kata-kata sendiri. Tekankan bahwa sebuah fitur biasanya melibatkan lebih dari satu komponen. Balasan pesan, misalnya, mempunyai tampilan kutipan pada Flutter dan hubungan ke pesan asal pada database.</a:t>
            </a:r>
          </a:p>
          <a:p xmlns:a="http://schemas.openxmlformats.org/drawingml/2006/main">
            <a:r>
              <a:t/>
            </a:r>
          </a:p>
          <a:p xmlns:a="http://schemas.openxmlformats.org/drawingml/2006/main">
            <a:r>
              <a:t>Cek pemahaman awal: siapa yang pernah membuat UI chat yang pesannya hanya tersimpan di memori?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Bangun konteks dengan dua pengguna, Rina dan Andi. Keduanya dapat memakai perangkat yang berbeda. Aplikasi perlu mengetahui identitas pengguna, percakapan yang mereka ikuti, dan pesan yang menjadi bagian percakapan tersebut. Riwayat harus tetap tersedia ketika aplikasi dibuka kembali. Versi ini berfokus pada chat pribadi satu lawan satu. Fitur grup, panggilan, dan pesan suara belum tersedia.</a:t>
            </a:r>
          </a:p>
          <a:p xmlns:a="http://schemas.openxmlformats.org/drawingml/2006/main">
            <a:r>
              <a:t/>
            </a:r>
          </a:p>
          <a:p xmlns:a="http://schemas.openxmlformats.org/drawingml/2006/main">
            <a:r>
              <a:t>Pertanyaan kelas: jika UI sudah menampilkan balon pesan pada layar Rina, apakah itu cukup untuk menyatakan Andi sudah menerima pesannya?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https://github.com/Shofyan/chat-app/blob/750cdac9ecac4614fe7593e056e1b448e07d2e83/backend/internal/chat/schema.sql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 diagram dari kiri ke kanan. Flutter bertanggung jawab atas pengalaman pengguna, tetapi keputusan akses dilakukan oleh Go. Aplikasi tidak terhubung langsung ke PostgreSQL. Go menerima permintaan, memeriksa sesi dan keanggotaan percakapan, lalu membaca atau menyimpan data. REST dan WebSocket sama-sama berakhir pada layanan Go. Docker Compose menyediakan proses API dan database pada lingkungan lokal. Aplikasi Flutter tetap berjalan pada emulator atau perangkat.</a:t>
            </a:r>
          </a:p>
          <a:p xmlns:a="http://schemas.openxmlformats.org/drawingml/2006/main">
            <a:r>
              <a:t/>
            </a:r>
          </a:p>
          <a:p xmlns:a="http://schemas.openxmlformats.org/drawingml/2006/main">
            <a:r>
              <a:t>Pertanyaan: komponen mana yang tetap dibutuhkan ketika antarmuka Flutter diganti dengan klien lain?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tabel sebagai latihan pembagian tanggung jawab. Validasi pada form Flutter membantu pengguna memperbaiki kesalahan lebih cepat. Go tetap memeriksa input karena siapa pun dapat membuat permintaan HTTP sendiri. Database menjaga hubungan dan menyimpan data. Docker tidak menggantikan backend atau database. Docker menjalankan komponen tersebut dalam lingkungan yang ditentukan.</a:t>
            </a:r>
          </a:p>
          <a:p xmlns:a="http://schemas.openxmlformats.org/drawingml/2006/main">
            <a:r>
              <a:t/>
            </a:r>
          </a:p>
          <a:p xmlns:a="http://schemas.openxmlformats.org/drawingml/2006/main">
            <a:r>
              <a:t>Latihan singkat: tempatkan fitur mengganti warna balon, menolak pengguna di luar percakapan, dan menyimpan reaksi ke dalam komponen yang sesuai.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REST sebagai percakapan tanya jawab. Aplikasi meminta data atau mengirim perubahan, kemudian menerima respons. WebSocket mempertahankan sambungan sehingga server dapat memberi kabar tanpa permintaan baru untuk setiap perubahan. Keputusan proyek ini adalah menyimpan pesan lewat REST dan memakai WebSocket untuk event. Client hanya mengirim event mengetik melalui WebSocket. Pola ini memudahkan pelacakan hasil penyimpanan dan pengambilan ulang riwayat ketika sambungan terputus.</a:t>
            </a:r>
          </a:p>
          <a:p xmlns:a="http://schemas.openxmlformats.org/drawingml/2006/main">
            <a:r>
              <a:t/>
            </a:r>
          </a:p>
          <a:p xmlns:a="http://schemas.openxmlformats.org/drawingml/2006/main">
            <a:r>
              <a:t>Pertanyaan: kanal mana yang dipakai ketika pengguna membuka riwayat lama?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https://github.com/Shofyan/chat-app/blob/750cdac9ecac4614fe7593e056e1b448e07d2e83/docs/api.md</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https://github.com/Shofyan/chat-app/blob/750cdac9ecac4614fe7593e056e1b448e07d2e83/backend/internal/chat/realtime.go</a:t>
            </a:r>
          </a:p>
          <a:p xmlns:a="http://schemas.openxmlformats.org/drawingml/2006/main">
            <a:r>
              <a:t>https://github.com/Shofyan/chat-app/blob/750cdac9ecac4614fe7593e056e1b448e07d2e83/mobile/lib/core/realtime.dart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Tunjukkan jalur utama tanpa membahas Navigator atau widget. Setelah sesi aktif, pengguna melihat daftar percakapan. Mereka dapat membuka chat yang sudah ada atau memilih Chat baru untuk mencari pengguna. Kedua jalur berakhir pada ruang percakapan. Dari ruang chat, pengguna dapat membuka info kontak atau gambar. Profil sendiri dibuka dari daftar chat.</a:t>
            </a:r>
          </a:p>
          <a:p xmlns:a="http://schemas.openxmlformats.org/drawingml/2006/main">
            <a:r>
              <a:t/>
            </a:r>
          </a:p>
          <a:p xmlns:a="http://schemas.openxmlformats.org/drawingml/2006/main">
            <a:r>
              <a:t>Minta seorang mahasiswa menceritakan urutan layar untuk mengirim pesan kepada teman yang belum pernah diajak bercakap.</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https://github.com/Shofyan/chat-app/blob/750cdac9ecac4614fe7593e056e1b448e07d2e83/mobile/lib/main.dart</a:t>
            </a:r>
          </a:p>
          <a:p xmlns:a="http://schemas.openxmlformats.org/drawingml/2006/main">
            <a:r>
              <a:t>https://github.com/Shofyan/chat-app/blob/750cdac9ecac4614fe7593e056e1b448e07d2e83/mobile/lib/screens/home_screen.dart</a:t>
            </a:r>
          </a:p>
          <a:p xmlns:a="http://schemas.openxmlformats.org/drawingml/2006/main">
            <a:r>
              <a:t>https://github.com/Shofyan/chat-app/blob/750cdac9ecac4614fe7593e056e1b448e07d2e83/mobile/lib/screens/chat_screen.dart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Tunjukkan form registrasi pada screenshot. Nama dipakai untuk pencarian kontak. Email dipakai saat autentikasi. Go menyimpan hash bcrypt, bukan password dalam bentuk teks asli. Registrasi yang berhasil menghasilkan akun dan token sesi sehingga pengguna dapat masuk ke aplikasi. Nama yang mirip tidak boleh dianggap sebagai identitas unik. Aplikasi menggunakan ID pengguna untuk menghubungkan data.</a:t>
            </a:r>
          </a:p>
          <a:p xmlns:a="http://schemas.openxmlformats.org/drawingml/2006/main">
            <a:r>
              <a:t/>
            </a:r>
          </a:p>
          <a:p xmlns:a="http://schemas.openxmlformats.org/drawingml/2006/main">
            <a:r>
              <a:t>Pertanyaan: mengapa memeriksa email hanya pada Flutter belum cukup?</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https://github.com/Shofyan/chat-app/blob/750cdac9ecac4614fe7593e056e1b448e07d2e83/mobile/lib/screens/auth_screen.dart</a:t>
            </a:r>
          </a:p>
          <a:p xmlns:a="http://schemas.openxmlformats.org/drawingml/2006/main">
            <a:r>
              <a:t>https://github.com/Shofyan/chat-app/blob/750cdac9ecac4614fe7593e056e1b448e07d2e83/backend/internal/chat/schema.sql</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https://github.com/Shofyan/chat-app/blob/750cdac9ecac4614fe7593e056e1b448e07d2e83/docs/screenshots/02-register.png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analogi tiket akses untuk menjelaskan token. Token sesi proyek ini berupa nilai acak opak, bukan JWT. Sesi mempunyai masa berlaku 30 hari dan server menyimpan hash tokennya. Identitas pada request diperoleh dari sesi yang sah. Flutter menyimpan token melalui secure storage dan dapat memulihkan sesi saat dibuka kembali. Logout mencabut sesi saat ini.</a:t>
            </a:r>
          </a:p>
          <a:p xmlns:a="http://schemas.openxmlformats.org/drawingml/2006/main">
            <a:r>
              <a:t/>
            </a:r>
          </a:p>
          <a:p xmlns:a="http://schemas.openxmlformats.org/drawingml/2006/main">
            <a:r>
              <a:t>Tekankan bahwa server masih harus memeriksa hak akses terhadap percakapan, walaupun pengguna sudah berhasil login.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https://github.com/Shofyan/chat-app/blob/750cdac9ecac4614fe7593e056e1b448e07d2e83/mobile/lib/core/app_controller.dart</a:t>
            </a:r>
          </a:p>
          <a:p xmlns:a="http://schemas.openxmlformats.org/drawingml/2006/main">
            <a:r>
              <a:t>https://github.com/Shofyan/chat-app/blob/750cdac9ecac4614fe7593e056e1b448e07d2e83/mobile/lib/core/api.dart</a:t>
            </a:r>
          </a:p>
          <a:p xmlns:a="http://schemas.openxmlformats.org/drawingml/2006/main">
            <a:r>
              <a:t>https://github.com/Shofyan/chat-app/blob/750cdac9ecac4614fe7593e056e1b448e07d2e83/docs/api.md</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https://github.com/Shofyan/chat-app/blob/750cdac9ecac4614fe7593e056e1b448e07d2e83/docs/screenshots/01-login.png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bahwa daftar kontak pada proyek bukan hasil membaca buku alamat ponsel. Daftar tersebut berasal dari pengguna aplikasi. Email pengguna lain tidak ditampilkan dalam pencarian publik. Server menjaga agar satu pasangan pengguna mempunyai percakapan pribadi yang sama ketika dibuat ulang. Tujuannya agar riwayat tidak terpecah menjadi beberapa ruang identik.</a:t>
            </a:r>
          </a:p>
          <a:p xmlns:a="http://schemas.openxmlformats.org/drawingml/2006/main">
            <a:r>
              <a:t/>
            </a:r>
          </a:p>
          <a:p xmlns:a="http://schemas.openxmlformats.org/drawingml/2006/main">
            <a:r>
              <a:t>Pertanyaan: data apa yang sebaiknya dipakai untuk memilih kontak, nama yang terlihat atau ID pengguna?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https://github.com/Shofyan/chat-app/blob/750cdac9ecac4614fe7593e056e1b448e07d2e83/mobile/lib/screens/home_screen.dart</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https://github.com/Shofyan/chat-app/blob/750cdac9ecac4614fe7593e056e1b448e07d2e83/backend/internal/chat/messages.go</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https://github.com/Shofyan/chat-app/blob/750cdac9ecac4614fe7593e056e1b448e07d2e83/docs/screenshots/05-new-chat.png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Arahkan perhatian ke tiga bagian baris daftar chat. Avatar dan nama menunjukkan lawan bicara. Cuplikan menampilkan konteks terakhir. Angka pada sisi kanan menunjukkan pesan yang belum terbaca berdasarkan posisi baca pengguna di server. Status online berasal dari koneksi yang aktif. Search pada halaman ini menyaring daftar percakapan yang dimuat oleh aplikasi.</a:t>
            </a:r>
          </a:p>
          <a:p xmlns:a="http://schemas.openxmlformats.org/drawingml/2006/main">
            <a:r>
              <a:t/>
            </a:r>
          </a:p>
          <a:p xmlns:a="http://schemas.openxmlformats.org/drawingml/2006/main">
            <a:r>
              <a:t>Tanyakan: mengapa jumlah belum dibaca tidak cukup disimpan hanya di memori satu perangkat?</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https://github.com/Shofyan/chat-app/blob/750cdac9ecac4614fe7593e056e1b448e07d2e83/mobile/lib/screens/home_screen.dart</a:t>
            </a:r>
          </a:p>
          <a:p xmlns:a="http://schemas.openxmlformats.org/drawingml/2006/main">
            <a:r>
              <a:t>https://github.com/Shofyan/chat-app/blob/750cdac9ecac4614fe7593e056e1b448e07d2e83/backend/internal/chat/messages.go</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https://github.com/Shofyan/chat-app/blob/750cdac9ecac4614fe7593e056e1b448e07d2e83/docs/screenshots/04-conversations.png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Bacakan langkah secara berurutan. Rina mengirim pesan melalui HTTP. Go terlebih dahulu memeriksa sesi, keanggotaan, isi pesan, dan referensi lampiran atau balasan. Pesan yang sah disimpan di PostgreSQL. Setelah data tersedia, Go menyebarkan event kepada anggota melalui WebSocket dan mengembalikan representasi pesan melalui respons HTTP. Pengirim juga dapat menerima event pesan yang sama. Flutter menggunakan ID untuk menggabungkannya.</a:t>
            </a:r>
          </a:p>
          <a:p xmlns:a="http://schemas.openxmlformats.org/drawingml/2006/main">
            <a:r>
              <a:t/>
            </a:r>
          </a:p>
          <a:p xmlns:a="http://schemas.openxmlformats.org/drawingml/2006/main">
            <a:r>
              <a:t>Diagram ini menyederhanakan timing jaringan. Event dan respons dapat tiba dalam urutan berbeda pada perangkat. Prinsip yang tetap adalah penyimpanan mendahului penyebaran event.</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https://github.com/Shofyan/chat-app/blob/750cdac9ecac4614fe7593e056e1b448e07d2e83/mobile/lib/screens/chat_screen.dart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screenshot sebagai peta visual layar. Header berisi identitas kontak. Daftar pesan berada di area yang dapat digulir. Composer menempel pada bagian bawah dan menyesuaikan keyboard. Tunjukkan bahwa kutipan, gambar, reaksi, dan centang adalah representasi dari data atau status. ListView merender riwayat dan halaman sebelumnya dapat dimuat sesuai kebutuhan.</a:t>
            </a:r>
          </a:p>
          <a:p xmlns:a="http://schemas.openxmlformats.org/drawingml/2006/main">
            <a:r>
              <a:t/>
            </a:r>
          </a:p>
          <a:p xmlns:a="http://schemas.openxmlformats.org/drawingml/2006/main">
            <a:r>
              <a:t>Minta mahasiswa menyebutkan bagian mana yang merupakan data pengguna dan bagian mana yang merupakan kontrol antarmuka.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https://github.com/Shofyan/chat-app/blob/750cdac9ecac4614fe7593e056e1b448e07d2e83/mobile/lib/widgets/message_bubble.dart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https://github.com/Shofyan/chat-app/blob/750cdac9ecac4614fe7593e056e1b448e07d2e83/docs/screenshots/07-chat.png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online tidak membuktikan seseorang sedang memperhatikan layar. Status mengetik merupakan feedback sementara, bukan isi pesan yang tersimpan. Pada aplikasi ini, indikator mengetik kedaluwarsa setelah empat detik jika tidak diperbarui. Posisi baca tersimpan di tabel members dan dipakai untuk menghitung is_read serta jumlah belum dibaca. Flutter hanya memajukan posisi baca saat layar aktif, route ruang chat terlihat, dan posisi gulir dekat pesan terbaru.</a:t>
            </a:r>
          </a:p>
          <a:p xmlns:a="http://schemas.openxmlformats.org/drawingml/2006/main">
            <a:r>
              <a:t/>
            </a:r>
          </a:p>
          <a:p xmlns:a="http://schemas.openxmlformats.org/drawingml/2006/main">
            <a:r>
              <a:t>Pertanyaan: ketika koneksi putus, indikator mana yang perlu berubah dan data mana yang tetap disimpan?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https://github.com/Shofyan/chat-app/blob/750cdac9ecac4614fe7593e056e1b448e07d2e83/backend/internal/chat/realtime.go</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https://github.com/Shofyan/chat-app/blob/750cdac9ecac4614fe7593e056e1b448e07d2e83/mobile/lib/screens/chat_screen.dart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perbedaan antara menyalin isi pesan dan mereferensikan pesan asal. Proyek menyimpan hubungan reply_to_id ke pesan yang dibalas. Flutter menampilkan kutipan untuk memberi konteks. Server memeriksa bahwa referensi tersebut berasal dari percakapan yang sama. Pembatasan ini melindungi akses sekaligus menjaga konsistensi data. Screenshot memperlihatkan pratinjau balasan sebelum pesan dikirim.</a:t>
            </a:r>
          </a:p>
          <a:p xmlns:a="http://schemas.openxmlformats.org/drawingml/2006/main">
            <a:r>
              <a:t/>
            </a:r>
          </a:p>
          <a:p xmlns:a="http://schemas.openxmlformats.org/drawingml/2006/main">
            <a:r>
              <a:t>Pertanyaan: mengapa pengguna tidak boleh mengutip ID pesan dari percakapan orang lain?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https://github.com/Shofyan/chat-app/blob/750cdac9ecac4614fe7593e056e1b448e07d2e83/docs/screenshots/13-reply.png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Reaksi memberi contoh bahwa perubahan aplikasi tidak selalu berupa pesan baru. Kombinasi pengguna dan pesan menentukan satu reaksi aktif. Server melakukan pembaruan atau penghapusan pada tabel reactions dan menyebarkan event. Flutter kemudian memperbarui emoji yang tampak pada balon. Pengguna di luar percakapan tidak dapat bereaksi terhadap pesan tersebut.</a:t>
            </a:r>
          </a:p>
          <a:p xmlns:a="http://schemas.openxmlformats.org/drawingml/2006/main">
            <a:r>
              <a:t/>
            </a:r>
          </a:p>
          <a:p xmlns:a="http://schemas.openxmlformats.org/drawingml/2006/main">
            <a:r>
              <a:t>Latihan: jelaskan apa yang berubah pada UI, layanan, dan database ketika pengguna mengganti hati menjadi jempol.</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https://github.com/Shofyan/chat-app/blob/750cdac9ecac4614fe7593e056e1b448e07d2e83/docs/screenshots/12-reactions.png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Uraikan alur dua tahap. Pengguna memilih file dan aplikasi mengunggahnya. Setelah server mengembalikan metadata lampiran, pengguna mengirim pesan yang merujuk lampiran itu. Proyek membatasi file hingga 8 MiB dan menerima format gambar tertentu, PDF, serta teks biasa. Kamera memerlukan dukungan dan izin perangkat. Perbedaan antara memilih, mengunggah, dan mengirim penting untuk merancang status loading serta pesan kegagalan.</a:t>
            </a:r>
          </a:p>
          <a:p xmlns:a="http://schemas.openxmlformats.org/drawingml/2006/main">
            <a:r>
              <a:t/>
            </a:r>
          </a:p>
          <a:p xmlns:a="http://schemas.openxmlformats.org/drawingml/2006/main">
            <a:r>
              <a:t>Tanyakan: jika unggahan gagal, apa yang seharusnya ditampilkan aplikasi?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https://github.com/Shofyan/chat-app/blob/750cdac9ecac4614fe7593e056e1b448e07d2e83/mobile/lib/core/api.dart</a:t>
            </a:r>
          </a:p>
          <a:p xmlns:a="http://schemas.openxmlformats.org/drawingml/2006/main">
            <a:r>
              <a:t>https://github.com/Shofyan/chat-app/blob/750cdac9ecac4614fe7593e056e1b448e07d2e83/backend/internal/chat/media.go</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https://github.com/Shofyan/chat-app/blob/750cdac9ecac4614fe7593e056e1b448e07d2e83/docs/screenshots/11-attachments.png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menunjukkan penampil gambar dari pesan yang diunggah melalui API. Pada implementasi ini, bytes lampiran berada di PostgreSQL, bukan pada direktori publik. Karena itu data media ikut tersimpan bersama database. Client mengambil file dengan token sesi, lalu merender bytes gambar. Server juga memeriksa pemilik atau keanggotaan percakapan sebelum mengirim file.</a:t>
            </a:r>
          </a:p>
          <a:p xmlns:a="http://schemas.openxmlformats.org/drawingml/2006/main">
            <a:r>
              <a:t/>
            </a:r>
          </a:p>
          <a:p xmlns:a="http://schemas.openxmlformats.org/drawingml/2006/main">
            <a:r>
              <a:t>Pertanyaan kelas: apa risiko jika semua file diletakkan pada URL publik tanpa pemeriksaan akses?</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https://github.com/Shofyan/chat-app/blob/750cdac9ecac4614fe7593e056e1b448e07d2e83/backend/internal/chat/media.go</a:t>
            </a:r>
          </a:p>
          <a:p xmlns:a="http://schemas.openxmlformats.org/drawingml/2006/main">
            <a:r>
              <a:t>https://github.com/Shofyan/chat-app/blob/750cdac9ecac4614fe7593e056e1b448e07d2e83/backend/internal/chat/schema.sql</a:t>
            </a:r>
          </a:p>
          <a:p xmlns:a="http://schemas.openxmlformats.org/drawingml/2006/main">
            <a:r>
              <a:t>https://github.com/Shofyan/chat-app/blob/750cdac9ecac4614fe7593e056e1b448e07d2e83/mobile/lib/widgets/message_bubble.dart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https://github.com/Shofyan/chat-app/blob/750cdac9ecac4614fe7593e056e1b448e07d2e83/docs/screenshots/10-image-viewer.png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Batas fitur perlu dijelaskan dengan jujur. Pencarian dalam ruang chat saat ini dilakukan pada riwayat yang sudah dimuat, bukan pencarian global seluruh database. Riwayat pesan dimuat dengan pagination sebanyak 50 pesan per halaman. Mahasiswa dapat membandingkan pencarian lokal yang sederhana dengan kemungkinan endpoint pencarian server pada versi lanjutan.</a:t>
            </a:r>
          </a:p>
          <a:p xmlns:a="http://schemas.openxmlformats.org/drawingml/2006/main">
            <a:r>
              <a:t/>
            </a:r>
          </a:p>
          <a:p xmlns:a="http://schemas.openxmlformats.org/drawingml/2006/main">
            <a:r>
              <a:t>Pertanyaan: mengapa kata yang ada pada pesan lama mungkin belum muncul sebagai hasil pencarian?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https://github.com/Shofyan/chat-app/blob/750cdac9ecac4614fe7593e056e1b448e07d2e83/README.md</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https://github.com/Shofyan/chat-app/blob/750cdac9ecac4614fe7593e056e1b448e07d2e83/docs/screenshots/14-search.png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Perlihatkan bahwa profil sendiri mempunyai kontrol yang dapat mengubah preferensi atau sesi. Info kontak berfokus pada identitas publik lawan bicara dan tidak menampilkan emailnya. Transisi avatar memakai Hero untuk menjaga kesinambungan visual antarlayar. Pada tahap high level, cukup jelaskan tujuan transisi tersebut tanpa membahas tag widget.</a:t>
            </a:r>
          </a:p>
          <a:p xmlns:a="http://schemas.openxmlformats.org/drawingml/2006/main">
            <a:r>
              <a:t/>
            </a:r>
          </a:p>
          <a:p xmlns:a="http://schemas.openxmlformats.org/drawingml/2006/main">
            <a:r>
              <a:t>Pertanyaan: informasi apa yang pantas ditampilkan pada profil sendiri tetapi tidak perlu dibuka kepada pengguna lain?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https://github.com/Shofyan/chat-app/blob/750cdac9ecac4614fe7593e056e1b448e07d2e83/mobile/lib/screens/profile_screen.dart</a:t>
            </a:r>
          </a:p>
          <a:p xmlns:a="http://schemas.openxmlformats.org/drawingml/2006/main">
            <a:r>
              <a:t>https://github.com/Shofyan/chat-app/blob/750cdac9ecac4614fe7593e056e1b448e07d2e83/backend/internal/chat/auth.go</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https://github.com/Shofyan/chat-app/blob/750cdac9ecac4614fe7593e056e1b448e07d2e83/docs/screenshots/06-profile.png</a:t>
            </a:r>
          </a:p>
          <a:p xmlns:a="http://schemas.openxmlformats.org/drawingml/2006/main">
            <a:r>
              <a:t>https://github.com/Shofyan/chat-app/blob/750cdac9ecac4614fe7593e056e1b448e07d2e83/docs/screenshots/09-contact.png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Tema memberi contoh data preferensi perangkat. Mengganti tema tidak memerlukan perubahan pesan pada database. Flutter membaca pilihan dan membangun tampilan sesuai brightness. Nilai preferensi disimpan pada perangkat, berbeda dari token yang memakai secure storage. Jelaskan bahwa warna pengirim dan penerima tetap perlu mudah dibedakan pada kedua tema.</a:t>
            </a:r>
          </a:p>
          <a:p xmlns:a="http://schemas.openxmlformats.org/drawingml/2006/main">
            <a:r>
              <a:t/>
            </a:r>
          </a:p>
          <a:p xmlns:a="http://schemas.openxmlformats.org/drawingml/2006/main">
            <a:r>
              <a:t>Latihan pengamatan: komponen apa saja yang berubah warna pada screenshot ini?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https://github.com/Shofyan/chat-app/blob/750cdac9ecac4614fe7593e056e1b448e07d2e83/mobile/lib/core/app_controller.dart</a:t>
            </a:r>
          </a:p>
          <a:p xmlns:a="http://schemas.openxmlformats.org/drawingml/2006/main">
            <a:r>
              <a:t>https://github.com/Shofyan/chat-app/blob/750cdac9ecac4614fe7593e056e1b448e07d2e83/mobile/lib/widgets/common.dart</a:t>
            </a:r>
          </a:p>
          <a:p xmlns:a="http://schemas.openxmlformats.org/drawingml/2006/main">
            <a:r>
              <a:t>https://github.com/Shofyan/chat-app/blob/750cdac9ecac4614fe7593e056e1b448e07d2e83/mobile/lib/widgets/message_bubble.dart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https://github.com/Shofyan/chat-app/blob/750cdac9ecac4614fe7593e056e1b448e07d2e83/docs/screenshots/08-chat-dark.png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model konseptual ini sebelum membahas SQL atau ERD rinci. Pengguna dan percakapan terhubung melalui keanggotaan. Keanggotaan juga menyimpan posisi baca. Pesan merujuk pengirim dan percakapan. Sebuah pesan dapat merujuk lampiran serta pesan asal untuk kutipan. Reaksi menghubungkan pengguna dengan pesan. Sesi merupakan data autentikasi yang terpisah.</a:t>
            </a:r>
          </a:p>
          <a:p xmlns:a="http://schemas.openxmlformats.org/drawingml/2006/main">
            <a:r>
              <a:t/>
            </a:r>
          </a:p>
          <a:p xmlns:a="http://schemas.openxmlformats.org/drawingml/2006/main">
            <a:r>
              <a:t>Latihan: jika Rina mengirim foto sambil membalas pesan Andi, kelompok data apa saja yang terlibat?</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Bedakan data yang tahan lama dari keadaan yang hanya berlaku pada koneksi saat ini. Restart layanan akan menghilangkan keadaan online dan mengetik dari hub, tetapi data database tetap ada di volume. Preferensi tema tersimpan pada perangkat dan tidak otomatis menjadi preferensi global semua perangkat. Jangan menyamakan secure storage dengan shared preferences untuk menyimpan token.</a:t>
            </a:r>
          </a:p>
          <a:p xmlns:a="http://schemas.openxmlformats.org/drawingml/2006/main">
            <a:r>
              <a:t/>
            </a:r>
          </a:p>
          <a:p xmlns:a="http://schemas.openxmlformats.org/drawingml/2006/main">
            <a:r>
              <a:t>Pertanyaan: apa yang terjadi pada pesan dan status online ketika container API dimulai ulang?</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https://github.com/Shofyan/chat-app/blob/750cdac9ecac4614fe7593e056e1b448e07d2e83/backend/internal/chat/schema.sql</a:t>
            </a:r>
          </a:p>
          <a:p xmlns:a="http://schemas.openxmlformats.org/drawingml/2006/main">
            <a:r>
              <a:t>https://github.com/Shofyan/chat-app/blob/750cdac9ecac4614fe7593e056e1b448e07d2e83/backend/internal/chat/realtime.go</a:t>
            </a:r>
          </a:p>
          <a:p xmlns:a="http://schemas.openxmlformats.org/drawingml/2006/main">
            <a:r>
              <a:t>https://github.com/Shofyan/chat-app/blob/750cdac9ecac4614fe7593e056e1b448e07d2e83/mobile/lib/core/app_controller.dart</a:t>
            </a:r>
          </a:p>
          <a:p xmlns:a="http://schemas.openxmlformats.org/drawingml/2006/main">
            <a:r>
              <a:t>https://github.com/Shofyan/chat-app/blob/750cdac9ecac4614fe7593e056e1b448e07d2e83/compose.yaml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WebSocket mencoba menyambung ulang dengan jeda yang bertambah hingga batas tertentu. Saat menerima ready, client mengambil kembali data melalui REST karena event bukan antrean persisten. Pesan HTTP juga dapat mempunyai hasil yang belum diketahui ketika respons hilang. Client mempertahankan client_id untuk draft yang sama dan server mengembalikan pesan yang sudah tersimpan jika permintaan identik diulang. Draft yang gagal belum menjadi antrean offline dan hanya dipertahankan pada layar yang masih aktif.</a:t>
            </a:r>
          </a:p>
          <a:p xmlns:a="http://schemas.openxmlformats.org/drawingml/2006/main">
            <a:r>
              <a:t/>
            </a:r>
          </a:p>
          <a:p xmlns:a="http://schemas.openxmlformats.org/drawingml/2006/main">
            <a:r>
              <a:t>Pertanyaan: mengapa menerima kembali semua event lama bukan satu-satunya cara memulihkan tampilan?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https://github.com/Shofyan/chat-app/blob/750cdac9ecac4614fe7593e056e1b448e07d2e83/mobile/lib/core/realtime.dart</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Pisahkan autentikasi dan otorisasi. Login yang berhasil menjawab siapa pengguna, tetapi keanggotaan menjawab apakah pengguna boleh mengakses percakapan tertentu. Batas input mengurangi data yang tidak valid dan penggunaan sumber daya berlebihan. Password serta token server menggunakan hash untuk tujuan yang berbeda. Konfigurasi lokal masih memakai HTTP agar praktikum mudah dijalankan. Jangan menggambarkan versi ini sebagai sistem produksi yang sudah lengkap atau sebagai chat dengan enkripsi end-to-end.</a:t>
            </a:r>
          </a:p>
          <a:p xmlns:a="http://schemas.openxmlformats.org/drawingml/2006/main">
            <a:r>
              <a:t/>
            </a:r>
          </a:p>
          <a:p xmlns:a="http://schemas.openxmlformats.org/drawingml/2006/main">
            <a:r>
              <a:t>Pertanyaan: apakah mengetahui ID pesan otomatis memberi hak untuk membacanya?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https://github.com/Shofyan/chat-app/blob/750cdac9ecac4614fe7593e056e1b448e07d2e83/backend/internal/chat/media.go</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container sebagai proses dengan lingkungan yang ditentukan. Image API dibangun dari source Go dengan multi-stage build. Database memakai image PostgreSQL. Compose menghubungkan keduanya melalui jaringan internal dan menunggu healthcheck database sebelum memulai API. Port API dipetakan ke komputer pada 8080. Database aplikasi tidak diekspos melalui port host pada konfigurasi ini. Named volume menyimpan data PostgreSQL.</a:t>
            </a:r>
          </a:p>
          <a:p xmlns:a="http://schemas.openxmlformats.org/drawingml/2006/main">
            <a:r>
              <a:t/>
            </a:r>
          </a:p>
          <a:p xmlns:a="http://schemas.openxmlformats.org/drawingml/2006/main">
            <a:r>
              <a:t>Pertanyaan: apa perbedaan menghentikan container dengan menghapus volume datanya?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https://github.com/Shofyan/chat-app/blob/750cdac9ecac4614fe7593e056e1b448e07d2e83/compose.yaml</a:t>
            </a:r>
          </a:p>
          <a:p xmlns:a="http://schemas.openxmlformats.org/drawingml/2006/main">
            <a:r>
              <a:t>https://github.com/Shofyan/chat-app/blob/750cdac9ecac4614fe7593e056e1b448e07d2e83/backend/Dockerfile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dimulai dari backend. Dari root proyek, jalankan docker compose up -d --build --wait dan periksa /health. Android emulator memakai 10.0.2.2:8080 untuk API utama, sedangkan ponsel fisik memakai alamat LAN komputer yang dapat dijangkau. Screenshot menggunakan port 18081 milik backend pengujian terpisah. Rina dan Andi dapat menggunakan akun demo pada API utama ketika SEED_DEMO aktif. Password contoh tercatat pada README. Untuk klien kedua, gunakan perangkat lain atau Flutter web pada origin lokal yang diizinkan.</a:t>
            </a:r>
          </a:p>
          <a:p xmlns:a="http://schemas.openxmlformats.org/drawingml/2006/main">
            <a:r>
              <a:t/>
            </a:r>
          </a:p>
          <a:p xmlns:a="http://schemas.openxmlformats.org/drawingml/2006/main">
            <a:r>
              <a:t>Titik pengamatan demo: status online, pesan masuk, centang baca, dan reaksi pada kedua klien.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https://github.com/Shofyan/chat-app/blob/750cdac9ecac4614fe7593e056e1b448e07d2e83/compose.yaml</a:t>
            </a:r>
          </a:p>
          <a:p xmlns:a="http://schemas.openxmlformats.org/drawingml/2006/main">
            <a:r>
              <a:t>https://github.com/Shofyan/chat-app/blob/750cdac9ecac4614fe7593e056e1b448e07d2e83/scripts/capture-screenshots.sh</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https://github.com/Shofyan/chat-app/blob/750cdac9ecac4614fe7593e056e1b448e07d2e83/docs/screenshots/03-server-settings.png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Tunjukkan bahwa tes mempunyai cakupan yang berbeda. Tes backend memakai PostgreSQL sementara dan memeriksa akses serta persistensi. Tes widget Flutter memeriksa form, composer, serta penanganan error menggunakan client pengujian. Tes Android menggunakan aplikasi yang berjalan pada emulator dan backend Docker terpisah. Screenshot adalah bukti tampilan pada skenario tertentu, bukan bukti semua kemungkinan benar. Workflow GitHub Actions disiapkan untuk pemeriksaan otomatis. Status setiap run tetap perlu dilihat pada GitHub.</a:t>
            </a:r>
          </a:p>
          <a:p xmlns:a="http://schemas.openxmlformats.org/drawingml/2006/main">
            <a:r>
              <a:t/>
            </a:r>
          </a:p>
          <a:p xmlns:a="http://schemas.openxmlformats.org/drawingml/2006/main">
            <a:r>
              <a:t>Pertanyaan: tes apa yang dapat membuktikan pengguna ketiga tidak bisa membaca pesan Rina dan Andi?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https://github.com/Shofyan/chat-app/blob/750cdac9ecac4614fe7593e056e1b448e07d2e83/backend/internal/chat/server_test.go</a:t>
            </a:r>
          </a:p>
          <a:p xmlns:a="http://schemas.openxmlformats.org/drawingml/2006/main">
            <a:r>
              <a:t>https://github.com/Shofyan/chat-app/blob/750cdac9ecac4614fe7593e056e1b448e07d2e83/mobile/test/widget_test.dart</a:t>
            </a:r>
          </a:p>
          <a:p xmlns:a="http://schemas.openxmlformats.org/drawingml/2006/main">
            <a:r>
              <a:t>https://github.com/Shofyan/chat-app/blob/750cdac9ecac4614fe7593e056e1b448e07d2e83/mobile/integration_test/chat_test.dart</a:t>
            </a:r>
          </a:p>
          <a:p xmlns:a="http://schemas.openxmlformats.org/drawingml/2006/main">
            <a:r>
              <a:t>https://github.com/Shofyan/chat-app/blob/750cdac9ecac4614fe7593e056e1b448e07d2e83/mobile/integration_test/screenshots_test.dart</a:t>
            </a:r>
          </a:p>
          <a:p xmlns:a="http://schemas.openxmlformats.org/drawingml/2006/main">
            <a:r>
              <a:t>https://github.com/Shofyan/chat-app/blob/750cdac9ecac4614fe7593e056e1b448e07d2e83/.github/workflows/ci.yml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Arah pengembangan ini bukan klaim fitur yang sudah tersedia. Implementasi saat ini memakai satu instance API dengan hub event di memori. Menambah replica membutuhkan broker untuk menyebarkan event antarlayanan. Push notification dan offline queue membutuhkan desain tambahan. Enkripsi end-to-end juga memerlukan rancangan pengelolaan kunci serta perubahan cara memproses pesan dan lampiran.</a:t>
            </a:r>
          </a:p>
          <a:p xmlns:a="http://schemas.openxmlformats.org/drawingml/2006/main">
            <a:r>
              <a:t/>
            </a:r>
          </a:p>
          <a:p xmlns:a="http://schemas.openxmlformats.org/drawingml/2006/main">
            <a:r>
              <a:t>Latihan prioritas: pilih satu pengembangan dan jelaskan komponen mana saja yang akan berubah. Hindari langsung memilih library sebelum memahami kebutuhan fiturnya.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https://github.com/Shofyan/chat-app/blob/750cdac9ecac4614fe7593e056e1b448e07d2e83/docs/api.md</a:t>
            </a:r>
          </a:p>
          <a:p xmlns:a="http://schemas.openxmlformats.org/drawingml/2006/main">
            <a:r>
              <a:t>https://github.com/Shofyan/chat-app/blob/750cdac9ecac4614fe7593e056e1b448e07d2e83/backend/internal/chat/realtime.go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Minta mahasiswa menjelaskan kembali alur tanpa melihat diagram sebelumnya. Jawaban inti pertama: REST memproses penyimpanan pesan dan WebSocket menyebarkan event setelah data tersedia. Jawaban kedua: Go memeriksa sesi dan keanggotaan percakapan. Jawaban ketiga: data PostgreSQL tetap ada apabila volume database dipertahankan, sementara status koneksi perlu dibangun kembali.</a:t>
            </a:r>
          </a:p>
          <a:p xmlns:a="http://schemas.openxmlformats.org/drawingml/2006/main">
            <a:r>
              <a:t/>
            </a:r>
          </a:p>
          <a:p xmlns:a="http://schemas.openxmlformats.org/drawingml/2006/main">
            <a:r>
              <a:t>Tugas singkat: gambarkan alur mengirim foto sebagai balasan, lalu sebutkan kemungkinan titik gagal. Repositori dan README memuat screenshot serta panduan menjalankan proyek. Repositori saat ini private, sehingga mahasiswa memerlukan izin dari pemilik untuk membukanya.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https://github.com/Shofyan/chat-app/blob/750cdac9ecac4614fe7593e056e1b448e07d2e83/docs/api.md</a:t>
            </a:r>
          </a:p>
          <a:p xmlns:a="http://schemas.openxmlformats.org/drawingml/2006/main">
            <a:r>
              <a:t>https://github.com/Shofyan/chat-app/blob/750cdac9ecac4614fe7593e056e1b448e07d2e83/compose.yaml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2bc27f052f4b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104fb9a22348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1b25e628eb41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eba2cde27b42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8c01247fb745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258782fe6240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73D60A-C331-4A7F-AF0B-09E98A009A1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6A1661B-54B7-4DBC-9C24-E0FDE8508523}"/>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C850198-5617-4C2A-BB15-66298DF04D18}"/>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F1EAF4-6016-478F-9BB2-A98BE387F82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2E221D-B329-4C78-AECF-38D2ED83C61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06082F2-FA9A-4C49-A4AC-52ED4D333B3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08031B-E2BE-47E4-ACE3-5019951A437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32C1616-77E7-4073-8E16-68414C84DF41}"/>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5F8294-0AF6-4163-BCA8-7CE2F60EAB0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31F776-800B-413B-B4F9-D2B2A762F8D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c77c0970484e65" /><Relationship Type="http://schemas.openxmlformats.org/officeDocument/2006/relationships/slideLayout" Target="/ppt/slideLayouts/slideLayout1.xml" Id="R3714806c50d441c2" /><Relationship Type="http://schemas.openxmlformats.org/officeDocument/2006/relationships/slideLayout" Target="/ppt/slideLayouts/slideLayout2.xml" Id="R741be10a285f4aa1" /><Relationship Type="http://schemas.openxmlformats.org/officeDocument/2006/relationships/slideLayout" Target="/ppt/slideLayouts/slideLayout3.xml" Id="R75e09fe00d1349d2" /><Relationship Type="http://schemas.openxmlformats.org/officeDocument/2006/relationships/slideLayout" Target="/ppt/slideLayouts/slideLayout4.xml" Id="R6156678158184930" /><Relationship Type="http://schemas.openxmlformats.org/officeDocument/2006/relationships/slideLayout" Target="/ppt/slideLayouts/slideLayout5.xml" Id="Rdf73f106059a4499" /><Relationship Type="http://schemas.openxmlformats.org/officeDocument/2006/relationships/slideLayout" Target="/ppt/slideLayouts/slideLayout6.xml" Id="R062c70763de34f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14806c50d441c2"/>
    <p:sldLayoutId xmlns:r="http://schemas.openxmlformats.org/officeDocument/2006/relationships" id="2147483650" r:id="R741be10a285f4aa1"/>
    <p:sldLayoutId xmlns:r="http://schemas.openxmlformats.org/officeDocument/2006/relationships" id="2147483651" r:id="R75e09fe00d1349d2"/>
    <p:sldLayoutId xmlns:r="http://schemas.openxmlformats.org/officeDocument/2006/relationships" id="2147483652" r:id="R6156678158184930"/>
    <p:sldLayoutId xmlns:r="http://schemas.openxmlformats.org/officeDocument/2006/relationships" id="2147483653" r:id="Rdf73f106059a4499"/>
    <p:sldLayoutId xmlns:r="http://schemas.openxmlformats.org/officeDocument/2006/relationships" id="2147483654" r:id="R062c70763de34f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6fb7864b9f4442" /><Relationship Type="http://schemas.openxmlformats.org/officeDocument/2006/relationships/image" Target="/ppt/media/image.png" Id="Rb1dd8a1ae8434f65" /><Relationship Type="http://schemas.openxmlformats.org/officeDocument/2006/relationships/notesSlide" Target="/ppt/notesSlides/notesSlide1.xml" Id="Rc9a000337c3345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6b997078a34490" /><Relationship Type="http://schemas.openxmlformats.org/officeDocument/2006/relationships/notesSlide" Target="/ppt/notesSlides/notesSlide2.xml" Id="R399760b8069a49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471399a6274428" /><Relationship Type="http://schemas.openxmlformats.org/officeDocument/2006/relationships/notesSlide" Target="/ppt/notesSlides/notesSlide3.xml" Id="R58bb14deb5bc45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9fc49530e24071" /><Relationship Type="http://schemas.openxmlformats.org/officeDocument/2006/relationships/notesSlide" Target="/ppt/notesSlides/notesSlide4.xml" Id="R355c8178f9fb4a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ba9a5edfb7b45cf" /><Relationship Type="http://schemas.openxmlformats.org/officeDocument/2006/relationships/notesSlide" Target="/ppt/notesSlides/notesSlide5.xml" Id="Rdc184627927348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fe9bcf5d3dd4410" /><Relationship Type="http://schemas.openxmlformats.org/officeDocument/2006/relationships/notesSlide" Target="/ppt/notesSlides/notesSlide6.xml" Id="R7b49e451db5f4c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e868fac087e4f8f" /><Relationship Type="http://schemas.openxmlformats.org/officeDocument/2006/relationships/notesSlide" Target="/ppt/notesSlides/notesSlide7.xml" Id="Rcbfc875a07f044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9c585dca0ec46ae" /><Relationship Type="http://schemas.openxmlformats.org/officeDocument/2006/relationships/image" Target="/ppt/media/image2.png" Id="R9f1dee99b1284ffb" /><Relationship Type="http://schemas.openxmlformats.org/officeDocument/2006/relationships/notesSlide" Target="/ppt/notesSlides/notesSlide8.xml" Id="R6ae4f4f2857140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ba7331bf1104697" /><Relationship Type="http://schemas.openxmlformats.org/officeDocument/2006/relationships/image" Target="/ppt/media/image3.png" Id="Rc6b3bb54843e4192" /><Relationship Type="http://schemas.openxmlformats.org/officeDocument/2006/relationships/notesSlide" Target="/ppt/notesSlides/notesSlide9.xml" Id="Rf6d846fcef3340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31f316b5a1a49e3" /><Relationship Type="http://schemas.openxmlformats.org/officeDocument/2006/relationships/image" Target="/ppt/media/image4.png" Id="Rf5639a1af9f14fd4" /><Relationship Type="http://schemas.openxmlformats.org/officeDocument/2006/relationships/notesSlide" Target="/ppt/notesSlides/notesSlide10.xml" Id="R0be4964235484d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1a7aa74c37e4165" /><Relationship Type="http://schemas.openxmlformats.org/officeDocument/2006/relationships/image" Target="/ppt/media/image5.png" Id="R455e8f8e30b14b76" /><Relationship Type="http://schemas.openxmlformats.org/officeDocument/2006/relationships/notesSlide" Target="/ppt/notesSlides/notesSlide11.xml" Id="Ra6646f0af63046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032b6976c1b4605" /><Relationship Type="http://schemas.openxmlformats.org/officeDocument/2006/relationships/notesSlide" Target="/ppt/notesSlides/notesSlide12.xml" Id="R44072722a0364b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1700835e53f481e" /><Relationship Type="http://schemas.openxmlformats.org/officeDocument/2006/relationships/image" Target="/ppt/media/image6.png" Id="R68f9f63a0f4c4b24" /><Relationship Type="http://schemas.openxmlformats.org/officeDocument/2006/relationships/notesSlide" Target="/ppt/notesSlides/notesSlide13.xml" Id="R52295e17bf7c48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06668672e2c40a8" /><Relationship Type="http://schemas.openxmlformats.org/officeDocument/2006/relationships/notesSlide" Target="/ppt/notesSlides/notesSlide14.xml" Id="R991eb578bb4e4b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21ee03bac604de6" /><Relationship Type="http://schemas.openxmlformats.org/officeDocument/2006/relationships/image" Target="/ppt/media/image7.png" Id="Rdd263ea26c8f4d14" /><Relationship Type="http://schemas.openxmlformats.org/officeDocument/2006/relationships/notesSlide" Target="/ppt/notesSlides/notesSlide15.xml" Id="R6bf5f467454345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0dc5d7d4c59419c" /><Relationship Type="http://schemas.openxmlformats.org/officeDocument/2006/relationships/image" Target="/ppt/media/image8.png" Id="Rcf7d261b7924430a" /><Relationship Type="http://schemas.openxmlformats.org/officeDocument/2006/relationships/notesSlide" Target="/ppt/notesSlides/notesSlide16.xml" Id="Rb97d9444db45473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bffed71a0e94216" /><Relationship Type="http://schemas.openxmlformats.org/officeDocument/2006/relationships/image" Target="/ppt/media/image9.png" Id="R837a05077e544a20" /><Relationship Type="http://schemas.openxmlformats.org/officeDocument/2006/relationships/notesSlide" Target="/ppt/notesSlides/notesSlide17.xml" Id="R557df69d14864d8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7b0ae333ddc4d2b" /><Relationship Type="http://schemas.openxmlformats.org/officeDocument/2006/relationships/image" Target="/ppt/media/image10.png" Id="Ra4e8b2cae93d47c5" /><Relationship Type="http://schemas.openxmlformats.org/officeDocument/2006/relationships/notesSlide" Target="/ppt/notesSlides/notesSlide18.xml" Id="Rd5c4835be8a54d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b18747192634d91" /><Relationship Type="http://schemas.openxmlformats.org/officeDocument/2006/relationships/image" Target="/ppt/media/image11.png" Id="R0b49815f576f4e5b" /><Relationship Type="http://schemas.openxmlformats.org/officeDocument/2006/relationships/notesSlide" Target="/ppt/notesSlides/notesSlide19.xml" Id="Rbd8eb420a62145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17cea0b13024d57" /><Relationship Type="http://schemas.openxmlformats.org/officeDocument/2006/relationships/image" Target="/ppt/media/image12.png" Id="R5787a25822314985" /><Relationship Type="http://schemas.openxmlformats.org/officeDocument/2006/relationships/image" Target="/ppt/media/image13.png" Id="Rde54a13c2a9342a8" /><Relationship Type="http://schemas.openxmlformats.org/officeDocument/2006/relationships/notesSlide" Target="/ppt/notesSlides/notesSlide20.xml" Id="Rdf4167662e2943a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4263f15105d437c" /><Relationship Type="http://schemas.openxmlformats.org/officeDocument/2006/relationships/image" Target="/ppt/media/image14.png" Id="R25bb791590ce4e5e" /><Relationship Type="http://schemas.openxmlformats.org/officeDocument/2006/relationships/notesSlide" Target="/ppt/notesSlides/notesSlide21.xml" Id="Rb4caa4c84db04c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642d03743f7460e" /><Relationship Type="http://schemas.openxmlformats.org/officeDocument/2006/relationships/notesSlide" Target="/ppt/notesSlides/notesSlide22.xml" Id="Rce215bfb7b1c4e8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1e222bcf8e24573" /><Relationship Type="http://schemas.openxmlformats.org/officeDocument/2006/relationships/notesSlide" Target="/ppt/notesSlides/notesSlide23.xml" Id="R59d448ae1f1f48a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04d35e683ba49a0" /><Relationship Type="http://schemas.openxmlformats.org/officeDocument/2006/relationships/notesSlide" Target="/ppt/notesSlides/notesSlide24.xml" Id="R936844c6901a46a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a69bb5fcbc64bd5" /><Relationship Type="http://schemas.openxmlformats.org/officeDocument/2006/relationships/notesSlide" Target="/ppt/notesSlides/notesSlide25.xml" Id="Rc471a46259f6494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88cfd8f33c2480a" /><Relationship Type="http://schemas.openxmlformats.org/officeDocument/2006/relationships/notesSlide" Target="/ppt/notesSlides/notesSlide26.xml" Id="R630f3c3dd2544d6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ddf00ba30d943dc" /><Relationship Type="http://schemas.openxmlformats.org/officeDocument/2006/relationships/image" Target="/ppt/media/image15.png" Id="R64d05fb9d9a44656" /><Relationship Type="http://schemas.openxmlformats.org/officeDocument/2006/relationships/notesSlide" Target="/ppt/notesSlides/notesSlide27.xml" Id="R81f00c1219bc40c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c62aa9769b04692" /><Relationship Type="http://schemas.openxmlformats.org/officeDocument/2006/relationships/notesSlide" Target="/ppt/notesSlides/notesSlide28.xml" Id="R233573e3036543a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c814cd9e3f04c65" /><Relationship Type="http://schemas.openxmlformats.org/officeDocument/2006/relationships/notesSlide" Target="/ppt/notesSlides/notesSlide29.xml" Id="R690a1b55adc94d6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c4b6d6169c549ae" /><Relationship Type="http://schemas.openxmlformats.org/officeDocument/2006/relationships/hyperlink" Target="https://github.com/Shofyan/chat-app" TargetMode="External" Id="Ra19f1955f8cb4f5b" /><Relationship Type="http://schemas.openxmlformats.org/officeDocument/2006/relationships/notesSlide" Target="/ppt/notesSlides/notesSlide30.xml" Id="R3f43fda7ea4f4695"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078A4A9C-A22D-4399-92B1-7213020CE66D}"/>
              </a:ext>
            </a:extLst>
          </p:cNvPr>
          <p:cNvSpPr>
            <a:spLocks xmlns:a="http://schemas.openxmlformats.org/drawingml/2006/main" noGrp="1"/>
          </p:cNvSpPr>
          <p:nvPr/>
        </p:nvSpPr>
        <p:spPr>
          <a:xfrm xmlns:a="http://schemas.openxmlformats.org/drawingml/2006/main">
            <a:off x="914400" y="2095500"/>
            <a:ext cx="952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FFFFFF"/>
                </a:solidFill>
                <a:latin typeface="Arial"/>
                <a:ea typeface="Arial"/>
                <a:cs typeface="Arial"/>
              </a:defRPr>
            </a:defPPr>
            <a:lvl1pPr algn="l">
              <a:defRPr sz="7500" b="1">
                <a:solidFill>
                  <a:srgbClr val="FFFFFF"/>
                </a:solidFill>
                <a:latin typeface="Arial"/>
                <a:ea typeface="Arial"/>
                <a:cs typeface="Arial"/>
              </a:defRPr>
            </a:lvl1pPr>
            <a:lvl2pPr algn="l">
              <a:defRPr sz="7500" b="1">
                <a:solidFill>
                  <a:srgbClr val="FFFFFF"/>
                </a:solidFill>
                <a:latin typeface="Arial"/>
                <a:ea typeface="Arial"/>
                <a:cs typeface="Arial"/>
              </a:defRPr>
            </a:lvl2pPr>
            <a:lvl3pPr algn="l">
              <a:defRPr sz="7500" b="1">
                <a:solidFill>
                  <a:srgbClr val="FFFFFF"/>
                </a:solidFill>
                <a:latin typeface="Arial"/>
                <a:ea typeface="Arial"/>
                <a:cs typeface="Arial"/>
              </a:defRPr>
            </a:lvl3pPr>
            <a:lvl4pPr algn="l">
              <a:defRPr sz="7500" b="1">
                <a:solidFill>
                  <a:srgbClr val="FFFFFF"/>
                </a:solidFill>
                <a:latin typeface="Arial"/>
                <a:ea typeface="Arial"/>
                <a:cs typeface="Arial"/>
              </a:defRPr>
            </a:lvl4pPr>
            <a:lvl5pPr algn="l">
              <a:defRPr sz="7500" b="1">
                <a:solidFill>
                  <a:srgbClr val="FFFFFF"/>
                </a:solidFill>
                <a:latin typeface="Arial"/>
                <a:ea typeface="Arial"/>
                <a:cs typeface="Arial"/>
              </a:defRPr>
            </a:lvl5pPr>
            <a:lvl6pPr algn="l">
              <a:defRPr sz="7500" b="1">
                <a:solidFill>
                  <a:srgbClr val="FFFFFF"/>
                </a:solidFill>
                <a:latin typeface="Arial"/>
                <a:ea typeface="Arial"/>
                <a:cs typeface="Arial"/>
              </a:defRPr>
            </a:lvl6pPr>
            <a:lvl7pPr algn="l">
              <a:defRPr sz="7500" b="1">
                <a:solidFill>
                  <a:srgbClr val="FFFFFF"/>
                </a:solidFill>
                <a:latin typeface="Arial"/>
                <a:ea typeface="Arial"/>
                <a:cs typeface="Arial"/>
              </a:defRPr>
            </a:lvl7pPr>
            <a:lvl8pPr algn="l">
              <a:defRPr sz="7500" b="1">
                <a:solidFill>
                  <a:srgbClr val="FFFFFF"/>
                </a:solidFill>
                <a:latin typeface="Arial"/>
                <a:ea typeface="Arial"/>
                <a:cs typeface="Arial"/>
              </a:defRPr>
            </a:lvl8pPr>
            <a:lvl9pPr algn="l">
              <a:defRPr sz="7500" b="1">
                <a:solidFill>
                  <a:srgbClr val="FFFFFF"/>
                </a:solidFill>
                <a:latin typeface="Arial"/>
                <a:ea typeface="Arial"/>
                <a:cs typeface="Arial"/>
              </a:defRPr>
            </a:lvl9pPr>
          </a:lstStyle>
          <a:p xmlns:a="http://schemas.openxmlformats.org/drawingml/2006/main">
            <a:pPr algn="l">
              <a:defRPr sz="7500" b="1">
                <a:solidFill>
                  <a:srgbClr val="FFFFFF"/>
                </a:solidFill>
                <a:latin typeface="Arial"/>
                <a:ea typeface="Arial"/>
                <a:cs typeface="Arial"/>
              </a:defRPr>
            </a:pPr>
            <a:r>
              <a:rPr sz="7500" b="1">
                <a:solidFill>
                  <a:srgbClr val="FFFFFF"/>
                </a:solidFill>
                <a:latin typeface="Arial"/>
                <a:ea typeface="Arial"/>
                <a:cs typeface="Arial"/>
              </a:rPr>
              <a:t>Ruang Chat</a:t>
            </a:r>
          </a:p>
        </p:txBody>
      </p:sp>
      <p:sp>
        <p:nvSpPr>
          <p:cNvPr id="2" name="text-2">
            <a:extLst xmlns:a="http://schemas.openxmlformats.org/drawingml/2006/main">
              <a:ext uri="{FF2B5EF4-FFF2-40B4-BE49-F238E27FC236}">
                <a16:creationId xmlns:a16="http://schemas.microsoft.com/office/drawing/2014/main" id="{A57805A8-A13A-4D28-8FA1-3C78101DCCEE}"/>
              </a:ext>
            </a:extLst>
          </p:cNvPr>
          <p:cNvSpPr>
            <a:spLocks xmlns:a="http://schemas.openxmlformats.org/drawingml/2006/main" noGrp="1"/>
          </p:cNvSpPr>
          <p:nvPr/>
        </p:nvSpPr>
        <p:spPr>
          <a:xfrm xmlns:a="http://schemas.openxmlformats.org/drawingml/2006/main">
            <a:off x="952500" y="3638550"/>
            <a:ext cx="990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CBD5E1"/>
                </a:solidFill>
                <a:latin typeface="Arial"/>
                <a:ea typeface="Arial"/>
                <a:cs typeface="Arial"/>
              </a:defRPr>
            </a:defPPr>
            <a:lvl1pPr algn="l">
              <a:defRPr sz="3150" b="0">
                <a:solidFill>
                  <a:srgbClr val="CBD5E1"/>
                </a:solidFill>
                <a:latin typeface="Arial"/>
                <a:ea typeface="Arial"/>
                <a:cs typeface="Arial"/>
              </a:defRPr>
            </a:lvl1pPr>
            <a:lvl2pPr algn="l">
              <a:defRPr sz="3150" b="0">
                <a:solidFill>
                  <a:srgbClr val="CBD5E1"/>
                </a:solidFill>
                <a:latin typeface="Arial"/>
                <a:ea typeface="Arial"/>
                <a:cs typeface="Arial"/>
              </a:defRPr>
            </a:lvl2pPr>
            <a:lvl3pPr algn="l">
              <a:defRPr sz="3150" b="0">
                <a:solidFill>
                  <a:srgbClr val="CBD5E1"/>
                </a:solidFill>
                <a:latin typeface="Arial"/>
                <a:ea typeface="Arial"/>
                <a:cs typeface="Arial"/>
              </a:defRPr>
            </a:lvl3pPr>
            <a:lvl4pPr algn="l">
              <a:defRPr sz="3150" b="0">
                <a:solidFill>
                  <a:srgbClr val="CBD5E1"/>
                </a:solidFill>
                <a:latin typeface="Arial"/>
                <a:ea typeface="Arial"/>
                <a:cs typeface="Arial"/>
              </a:defRPr>
            </a:lvl4pPr>
            <a:lvl5pPr algn="l">
              <a:defRPr sz="3150" b="0">
                <a:solidFill>
                  <a:srgbClr val="CBD5E1"/>
                </a:solidFill>
                <a:latin typeface="Arial"/>
                <a:ea typeface="Arial"/>
                <a:cs typeface="Arial"/>
              </a:defRPr>
            </a:lvl5pPr>
            <a:lvl6pPr algn="l">
              <a:defRPr sz="3150" b="0">
                <a:solidFill>
                  <a:srgbClr val="CBD5E1"/>
                </a:solidFill>
                <a:latin typeface="Arial"/>
                <a:ea typeface="Arial"/>
                <a:cs typeface="Arial"/>
              </a:defRPr>
            </a:lvl6pPr>
            <a:lvl7pPr algn="l">
              <a:defRPr sz="3150" b="0">
                <a:solidFill>
                  <a:srgbClr val="CBD5E1"/>
                </a:solidFill>
                <a:latin typeface="Arial"/>
                <a:ea typeface="Arial"/>
                <a:cs typeface="Arial"/>
              </a:defRPr>
            </a:lvl7pPr>
            <a:lvl8pPr algn="l">
              <a:defRPr sz="3150" b="0">
                <a:solidFill>
                  <a:srgbClr val="CBD5E1"/>
                </a:solidFill>
                <a:latin typeface="Arial"/>
                <a:ea typeface="Arial"/>
                <a:cs typeface="Arial"/>
              </a:defRPr>
            </a:lvl8pPr>
            <a:lvl9pPr algn="l">
              <a:defRPr sz="3150" b="0">
                <a:solidFill>
                  <a:srgbClr val="CBD5E1"/>
                </a:solidFill>
                <a:latin typeface="Arial"/>
                <a:ea typeface="Arial"/>
                <a:cs typeface="Arial"/>
              </a:defRPr>
            </a:lvl9pPr>
          </a:lstStyle>
          <a:p xmlns:a="http://schemas.openxmlformats.org/drawingml/2006/main">
            <a:pPr algn="l">
              <a:defRPr sz="3150" b="0">
                <a:solidFill>
                  <a:srgbClr val="CBD5E1"/>
                </a:solidFill>
                <a:latin typeface="Arial"/>
                <a:ea typeface="Arial"/>
                <a:cs typeface="Arial"/>
              </a:defRPr>
            </a:pPr>
            <a:r>
              <a:rPr sz="3150" b="0">
                <a:solidFill>
                  <a:srgbClr val="CBD5E1"/>
                </a:solidFill>
                <a:latin typeface="Arial"/>
                <a:ea typeface="Arial"/>
                <a:cs typeface="Arial"/>
              </a:rPr>
              <a:t>Arsitektur, flow aplikasi, dan fitur</a:t>
            </a:r>
          </a:p>
        </p:txBody>
      </p:sp>
      <p:sp>
        <p:nvSpPr>
          <p:cNvPr id="3" name="text-3">
            <a:extLst xmlns:a="http://schemas.openxmlformats.org/drawingml/2006/main">
              <a:ext uri="{FF2B5EF4-FFF2-40B4-BE49-F238E27FC236}">
                <a16:creationId xmlns:a16="http://schemas.microsoft.com/office/drawing/2014/main" id="{F1CF6582-679B-4D3E-8674-ED41BCEA4B3D}"/>
              </a:ext>
            </a:extLst>
          </p:cNvPr>
          <p:cNvSpPr>
            <a:spLocks xmlns:a="http://schemas.openxmlformats.org/drawingml/2006/main" noGrp="1"/>
          </p:cNvSpPr>
          <p:nvPr/>
        </p:nvSpPr>
        <p:spPr>
          <a:xfrm xmlns:a="http://schemas.openxmlformats.org/drawingml/2006/main">
            <a:off x="952500" y="45910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8BDF8"/>
                </a:solidFill>
                <a:latin typeface="Arial"/>
                <a:ea typeface="Arial"/>
                <a:cs typeface="Arial"/>
              </a:defRPr>
            </a:defPPr>
            <a:lvl1pPr algn="l">
              <a:defRPr sz="2325" b="0">
                <a:solidFill>
                  <a:srgbClr val="38BDF8"/>
                </a:solidFill>
                <a:latin typeface="Arial"/>
                <a:ea typeface="Arial"/>
                <a:cs typeface="Arial"/>
              </a:defRPr>
            </a:lvl1pPr>
            <a:lvl2pPr algn="l">
              <a:defRPr sz="2325" b="0">
                <a:solidFill>
                  <a:srgbClr val="38BDF8"/>
                </a:solidFill>
                <a:latin typeface="Arial"/>
                <a:ea typeface="Arial"/>
                <a:cs typeface="Arial"/>
              </a:defRPr>
            </a:lvl2pPr>
            <a:lvl3pPr algn="l">
              <a:defRPr sz="2325" b="0">
                <a:solidFill>
                  <a:srgbClr val="38BDF8"/>
                </a:solidFill>
                <a:latin typeface="Arial"/>
                <a:ea typeface="Arial"/>
                <a:cs typeface="Arial"/>
              </a:defRPr>
            </a:lvl3pPr>
            <a:lvl4pPr algn="l">
              <a:defRPr sz="2325" b="0">
                <a:solidFill>
                  <a:srgbClr val="38BDF8"/>
                </a:solidFill>
                <a:latin typeface="Arial"/>
                <a:ea typeface="Arial"/>
                <a:cs typeface="Arial"/>
              </a:defRPr>
            </a:lvl4pPr>
            <a:lvl5pPr algn="l">
              <a:defRPr sz="2325" b="0">
                <a:solidFill>
                  <a:srgbClr val="38BDF8"/>
                </a:solidFill>
                <a:latin typeface="Arial"/>
                <a:ea typeface="Arial"/>
                <a:cs typeface="Arial"/>
              </a:defRPr>
            </a:lvl5pPr>
            <a:lvl6pPr algn="l">
              <a:defRPr sz="2325" b="0">
                <a:solidFill>
                  <a:srgbClr val="38BDF8"/>
                </a:solidFill>
                <a:latin typeface="Arial"/>
                <a:ea typeface="Arial"/>
                <a:cs typeface="Arial"/>
              </a:defRPr>
            </a:lvl6pPr>
            <a:lvl7pPr algn="l">
              <a:defRPr sz="2325" b="0">
                <a:solidFill>
                  <a:srgbClr val="38BDF8"/>
                </a:solidFill>
                <a:latin typeface="Arial"/>
                <a:ea typeface="Arial"/>
                <a:cs typeface="Arial"/>
              </a:defRPr>
            </a:lvl7pPr>
            <a:lvl8pPr algn="l">
              <a:defRPr sz="2325" b="0">
                <a:solidFill>
                  <a:srgbClr val="38BDF8"/>
                </a:solidFill>
                <a:latin typeface="Arial"/>
                <a:ea typeface="Arial"/>
                <a:cs typeface="Arial"/>
              </a:defRPr>
            </a:lvl8pPr>
            <a:lvl9pPr algn="l">
              <a:defRPr sz="2325" b="0">
                <a:solidFill>
                  <a:srgbClr val="38BDF8"/>
                </a:solidFill>
                <a:latin typeface="Arial"/>
                <a:ea typeface="Arial"/>
                <a:cs typeface="Arial"/>
              </a:defRPr>
            </a:lvl9pPr>
          </a:lstStyle>
          <a:p xmlns:a="http://schemas.openxmlformats.org/drawingml/2006/main">
            <a:pPr algn="l">
              <a:defRPr sz="2325" b="0">
                <a:solidFill>
                  <a:srgbClr val="38BDF8"/>
                </a:solidFill>
                <a:latin typeface="Arial"/>
                <a:ea typeface="Arial"/>
                <a:cs typeface="Arial"/>
              </a:defRPr>
            </a:pPr>
            <a:r>
              <a:rPr sz="2325" b="0">
                <a:solidFill>
                  <a:srgbClr val="38BDF8"/>
                </a:solidFill>
                <a:latin typeface="Arial"/>
                <a:ea typeface="Arial"/>
                <a:cs typeface="Arial"/>
              </a:rPr>
              <a:t>Flutter, Go, PostgreSQL, dan Docker</a:t>
            </a:r>
          </a:p>
        </p:txBody>
      </p:sp>
      <p:sp>
        <p:nvSpPr>
          <p:cNvPr id="4" name="text-4">
            <a:extLst xmlns:a="http://schemas.openxmlformats.org/drawingml/2006/main">
              <a:ext uri="{FF2B5EF4-FFF2-40B4-BE49-F238E27FC236}">
                <a16:creationId xmlns:a16="http://schemas.microsoft.com/office/drawing/2014/main" id="{9D5DBBAA-AD6D-4E2B-A12B-FA1B797837DE}"/>
              </a:ext>
            </a:extLst>
          </p:cNvPr>
          <p:cNvSpPr>
            <a:spLocks xmlns:a="http://schemas.openxmlformats.org/drawingml/2006/main" noGrp="1"/>
          </p:cNvSpPr>
          <p:nvPr/>
        </p:nvSpPr>
        <p:spPr>
          <a:xfrm xmlns:a="http://schemas.openxmlformats.org/drawingml/2006/main">
            <a:off x="952500" y="718185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Studi kasus untuk mahasiswa</a:t>
            </a:r>
          </a:p>
        </p:txBody>
      </p:sp>
      <p:pic>
        <p:nvPicPr>
          <p:cNvPr id="5" name="">
            <a:extLst xmlns:a="http://schemas.openxmlformats.org/drawingml/2006/main">
              <a:ext uri="{FF2B5EF4-FFF2-40B4-BE49-F238E27FC236}">
                <a16:creationId xmlns:a16="http://schemas.microsoft.com/office/drawing/2014/main" id="{6A752FAF-B6D0-491B-AC49-6D4C4E2AFB74}"/>
              </a:ext>
            </a:extLst>
          </p:cNvPr>
          <p:cNvPicPr>
            <a:picLocks xmlns:a="http://schemas.openxmlformats.org/drawingml/2006/main" noChangeAspect="1"/>
          </p:cNvPicPr>
          <p:nvPr/>
        </p:nvPicPr>
        <p:blipFill>
          <a:blip xmlns:r="http://schemas.openxmlformats.org/officeDocument/2006/relationships" xmlns:a="http://schemas.openxmlformats.org/drawingml/2006/main" r:embed="Rb1dd8a1ae8434f65"/>
          <a:stretch xmlns:a="http://schemas.openxmlformats.org/drawingml/2006/main"/>
        </p:blipFill>
        <p:spPr>
          <a:xfrm xmlns:a="http://schemas.openxmlformats.org/drawingml/2006/main">
            <a:off x="11582400" y="2362200"/>
            <a:ext cx="2133600" cy="2133600"/>
          </a:xfrm>
          <a:prstGeom xmlns:a="http://schemas.openxmlformats.org/drawingml/2006/main" prst="rect">
            <a:avLst/>
          </a:prstGeom>
        </p:spPr>
      </p:pic>
      <p:sp>
        <p:nvSpPr>
          <p:cNvPr id="6" name="text-6">
            <a:extLst xmlns:a="http://schemas.openxmlformats.org/drawingml/2006/main">
              <a:ext uri="{FF2B5EF4-FFF2-40B4-BE49-F238E27FC236}">
                <a16:creationId xmlns:a16="http://schemas.microsoft.com/office/drawing/2014/main" id="{E0D0C57E-04DD-48A8-86FB-8BCD3D51EAB0}"/>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1</a:t>
            </a:r>
          </a:p>
        </p:txBody>
      </p:sp>
    </p:spTree>
    <p:extLst>
      <p:ext uri="{BB962C8B-B14F-4D97-AF65-F5344CB8AC3E}">
        <p14:creationId xmlns:p14="http://schemas.microsoft.com/office/powerpoint/2010/main" val="755903057"/>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text-7">
            <a:extLst xmlns:a="http://schemas.openxmlformats.org/drawingml/2006/main">
              <a:ext uri="{FF2B5EF4-FFF2-40B4-BE49-F238E27FC236}">
                <a16:creationId xmlns:a16="http://schemas.microsoft.com/office/drawing/2014/main" id="{E80EC0B8-783D-489E-B9DE-80B9BB2D1938}"/>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Capaian pembelajaran</a:t>
            </a:r>
          </a:p>
        </p:txBody>
      </p:sp>
      <p:sp>
        <p:nvSpPr>
          <p:cNvPr id="2" name="text-8">
            <a:extLst xmlns:a="http://schemas.openxmlformats.org/drawingml/2006/main">
              <a:ext uri="{FF2B5EF4-FFF2-40B4-BE49-F238E27FC236}">
                <a16:creationId xmlns:a16="http://schemas.microsoft.com/office/drawing/2014/main" id="{DCD4D96A-2487-4DC0-9167-02071D13DAEE}"/>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Setelah sesi ini, mahasiswa dapat menjelaskan cara kerja proyek secara utuh.</a:t>
            </a:r>
          </a:p>
        </p:txBody>
      </p:sp>
      <p:sp>
        <p:nvSpPr>
          <p:cNvPr id="3" name="text-9">
            <a:extLst xmlns:a="http://schemas.openxmlformats.org/drawingml/2006/main">
              <a:ext uri="{FF2B5EF4-FFF2-40B4-BE49-F238E27FC236}">
                <a16:creationId xmlns:a16="http://schemas.microsoft.com/office/drawing/2014/main" id="{9A338E1A-5019-4C06-A8C8-78A3C659ADDF}"/>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a:t>
            </a:r>
          </a:p>
        </p:txBody>
      </p:sp>
      <p:sp>
        <p:nvSpPr>
          <p:cNvPr id="4" name="text-10">
            <a:extLst xmlns:a="http://schemas.openxmlformats.org/drawingml/2006/main">
              <a:ext uri="{FF2B5EF4-FFF2-40B4-BE49-F238E27FC236}">
                <a16:creationId xmlns:a16="http://schemas.microsoft.com/office/drawing/2014/main" id="{2ADA05B4-B255-4AD2-BD11-E5D9167E48E1}"/>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1">
            <a:extLst xmlns:a="http://schemas.openxmlformats.org/drawingml/2006/main">
              <a:ext uri="{FF2B5EF4-FFF2-40B4-BE49-F238E27FC236}">
                <a16:creationId xmlns:a16="http://schemas.microsoft.com/office/drawing/2014/main" id="{8E354FF5-1C13-46A4-838D-212923B86A98}"/>
              </a:ext>
            </a:extLst>
          </p:cNvPr>
          <p:cNvSpPr>
            <a:spLocks xmlns:a="http://schemas.openxmlformats.org/drawingml/2006/main" noGrp="1"/>
          </p:cNvSpPr>
          <p:nvPr/>
        </p:nvSpPr>
        <p:spPr>
          <a:xfrm xmlns:a="http://schemas.openxmlformats.org/drawingml/2006/main">
            <a:off x="1619250" y="2667000"/>
            <a:ext cx="1186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Membaca arsitektur</a:t>
            </a:r>
          </a:p>
        </p:txBody>
      </p:sp>
      <p:sp>
        <p:nvSpPr>
          <p:cNvPr id="6" name="text-12">
            <a:extLst xmlns:a="http://schemas.openxmlformats.org/drawingml/2006/main">
              <a:ext uri="{FF2B5EF4-FFF2-40B4-BE49-F238E27FC236}">
                <a16:creationId xmlns:a16="http://schemas.microsoft.com/office/drawing/2014/main" id="{60A3FB24-C54B-47C4-813C-C3F5E7CB326F}"/>
              </a:ext>
            </a:extLst>
          </p:cNvPr>
          <p:cNvSpPr>
            <a:spLocks xmlns:a="http://schemas.openxmlformats.org/drawingml/2006/main" noGrp="1"/>
          </p:cNvSpPr>
          <p:nvPr/>
        </p:nvSpPr>
        <p:spPr>
          <a:xfrm xmlns:a="http://schemas.openxmlformats.org/drawingml/2006/main">
            <a:off x="1619250" y="3238500"/>
            <a:ext cx="11791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Mengenali peran aplikasi Flutter, layanan Go, database, dan Docker.</a:t>
            </a:r>
          </a:p>
        </p:txBody>
      </p:sp>
      <p:sp>
        <p:nvSpPr>
          <p:cNvPr id="7" name="text-13">
            <a:extLst xmlns:a="http://schemas.openxmlformats.org/drawingml/2006/main">
              <a:ext uri="{FF2B5EF4-FFF2-40B4-BE49-F238E27FC236}">
                <a16:creationId xmlns:a16="http://schemas.microsoft.com/office/drawing/2014/main" id="{EB8FF820-AE55-4D49-A841-52AC3BBA1D33}"/>
              </a:ext>
            </a:extLst>
          </p:cNvPr>
          <p:cNvSpPr>
            <a:spLocks xmlns:a="http://schemas.openxmlformats.org/drawingml/2006/main" noGrp="1"/>
          </p:cNvSpPr>
          <p:nvPr/>
        </p:nvSpPr>
        <p:spPr>
          <a:xfrm xmlns:a="http://schemas.openxmlformats.org/drawingml/2006/main">
            <a:off x="914400" y="423862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4">
            <a:extLst xmlns:a="http://schemas.openxmlformats.org/drawingml/2006/main">
              <a:ext uri="{FF2B5EF4-FFF2-40B4-BE49-F238E27FC236}">
                <a16:creationId xmlns:a16="http://schemas.microsoft.com/office/drawing/2014/main" id="{685627D3-BCE5-4E59-8A7B-EC3ACDCB12FA}"/>
              </a:ext>
            </a:extLst>
          </p:cNvPr>
          <p:cNvSpPr>
            <a:spLocks xmlns:a="http://schemas.openxmlformats.org/drawingml/2006/main" noGrp="1"/>
          </p:cNvSpPr>
          <p:nvPr/>
        </p:nvSpPr>
        <p:spPr>
          <a:xfrm xmlns:a="http://schemas.openxmlformats.org/drawingml/2006/main">
            <a:off x="1619250" y="4238625"/>
            <a:ext cx="1186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Menelusuri alur pesan</a:t>
            </a:r>
          </a:p>
        </p:txBody>
      </p:sp>
      <p:sp>
        <p:nvSpPr>
          <p:cNvPr id="9" name="text-15">
            <a:extLst xmlns:a="http://schemas.openxmlformats.org/drawingml/2006/main">
              <a:ext uri="{FF2B5EF4-FFF2-40B4-BE49-F238E27FC236}">
                <a16:creationId xmlns:a16="http://schemas.microsoft.com/office/drawing/2014/main" id="{169A3A46-920A-4F4E-9C38-D0F205B5F521}"/>
              </a:ext>
            </a:extLst>
          </p:cNvPr>
          <p:cNvSpPr>
            <a:spLocks xmlns:a="http://schemas.openxmlformats.org/drawingml/2006/main" noGrp="1"/>
          </p:cNvSpPr>
          <p:nvPr/>
        </p:nvSpPr>
        <p:spPr>
          <a:xfrm xmlns:a="http://schemas.openxmlformats.org/drawingml/2006/main">
            <a:off x="1619250" y="4810125"/>
            <a:ext cx="11791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Menjelaskan perjalanan data dari tombol kirim hingga layar penerima.</a:t>
            </a:r>
          </a:p>
        </p:txBody>
      </p:sp>
      <p:sp>
        <p:nvSpPr>
          <p:cNvPr id="10" name="text-16">
            <a:extLst xmlns:a="http://schemas.openxmlformats.org/drawingml/2006/main">
              <a:ext uri="{FF2B5EF4-FFF2-40B4-BE49-F238E27FC236}">
                <a16:creationId xmlns:a16="http://schemas.microsoft.com/office/drawing/2014/main" id="{606D61F6-4DAC-460C-82B0-1D1EC351A8F3}"/>
              </a:ext>
            </a:extLst>
          </p:cNvPr>
          <p:cNvSpPr>
            <a:spLocks xmlns:a="http://schemas.openxmlformats.org/drawingml/2006/main" noGrp="1"/>
          </p:cNvSpPr>
          <p:nvPr/>
        </p:nvSpPr>
        <p:spPr>
          <a:xfrm xmlns:a="http://schemas.openxmlformats.org/drawingml/2006/main">
            <a:off x="914400" y="58102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7">
            <a:extLst xmlns:a="http://schemas.openxmlformats.org/drawingml/2006/main">
              <a:ext uri="{FF2B5EF4-FFF2-40B4-BE49-F238E27FC236}">
                <a16:creationId xmlns:a16="http://schemas.microsoft.com/office/drawing/2014/main" id="{B77B0B84-21AC-48D0-92C4-FD3668A01CC9}"/>
              </a:ext>
            </a:extLst>
          </p:cNvPr>
          <p:cNvSpPr>
            <a:spLocks xmlns:a="http://schemas.openxmlformats.org/drawingml/2006/main" noGrp="1"/>
          </p:cNvSpPr>
          <p:nvPr/>
        </p:nvSpPr>
        <p:spPr>
          <a:xfrm xmlns:a="http://schemas.openxmlformats.org/drawingml/2006/main">
            <a:off x="1619250" y="5810250"/>
            <a:ext cx="1186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Menghubungkan fitur dengan sistem</a:t>
            </a:r>
          </a:p>
        </p:txBody>
      </p:sp>
      <p:sp>
        <p:nvSpPr>
          <p:cNvPr id="12" name="text-18">
            <a:extLst xmlns:a="http://schemas.openxmlformats.org/drawingml/2006/main">
              <a:ext uri="{FF2B5EF4-FFF2-40B4-BE49-F238E27FC236}">
                <a16:creationId xmlns:a16="http://schemas.microsoft.com/office/drawing/2014/main" id="{0F65DDCE-F2EE-4264-821A-D04F34150872}"/>
              </a:ext>
            </a:extLst>
          </p:cNvPr>
          <p:cNvSpPr>
            <a:spLocks xmlns:a="http://schemas.openxmlformats.org/drawingml/2006/main" noGrp="1"/>
          </p:cNvSpPr>
          <p:nvPr/>
        </p:nvSpPr>
        <p:spPr>
          <a:xfrm xmlns:a="http://schemas.openxmlformats.org/drawingml/2006/main">
            <a:off x="1619250" y="6381750"/>
            <a:ext cx="11791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Membedakan tampilan, aturan akses, data tersimpan, dan status sementara.</a:t>
            </a:r>
          </a:p>
        </p:txBody>
      </p:sp>
    </p:spTree>
    <p:extLst>
      <p:ext uri="{BB962C8B-B14F-4D97-AF65-F5344CB8AC3E}">
        <p14:creationId xmlns:p14="http://schemas.microsoft.com/office/powerpoint/2010/main" val="1827203133"/>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text-19">
            <a:extLst xmlns:a="http://schemas.openxmlformats.org/drawingml/2006/main">
              <a:ext uri="{FF2B5EF4-FFF2-40B4-BE49-F238E27FC236}">
                <a16:creationId xmlns:a16="http://schemas.microsoft.com/office/drawing/2014/main" id="{A59DFBB2-80A5-438B-ACB5-729B6A80FDC6}"/>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Skenario yang kita bangun</a:t>
            </a:r>
          </a:p>
        </p:txBody>
      </p:sp>
      <p:sp>
        <p:nvSpPr>
          <p:cNvPr id="2" name="text-20">
            <a:extLst xmlns:a="http://schemas.openxmlformats.org/drawingml/2006/main">
              <a:ext uri="{FF2B5EF4-FFF2-40B4-BE49-F238E27FC236}">
                <a16:creationId xmlns:a16="http://schemas.microsoft.com/office/drawing/2014/main" id="{59E7D712-EE23-4C81-A081-10B585744A96}"/>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Rina dan Andi memakai aplikasi yang terhubung ke layanan chat yang sama.</a:t>
            </a:r>
          </a:p>
        </p:txBody>
      </p:sp>
      <p:sp>
        <p:nvSpPr>
          <p:cNvPr id="3" name="text-21">
            <a:extLst xmlns:a="http://schemas.openxmlformats.org/drawingml/2006/main">
              <a:ext uri="{FF2B5EF4-FFF2-40B4-BE49-F238E27FC236}">
                <a16:creationId xmlns:a16="http://schemas.microsoft.com/office/drawing/2014/main" id="{1E7C5FF8-11DE-44D6-8027-CECDCB4A07B0}"/>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3</a:t>
            </a:r>
          </a:p>
        </p:txBody>
      </p:sp>
      <p:sp>
        <p:nvSpPr>
          <p:cNvPr id="4" name="text-22">
            <a:extLst xmlns:a="http://schemas.openxmlformats.org/drawingml/2006/main">
              <a:ext uri="{FF2B5EF4-FFF2-40B4-BE49-F238E27FC236}">
                <a16:creationId xmlns:a16="http://schemas.microsoft.com/office/drawing/2014/main" id="{23F10046-5DA8-4390-B25D-8FF3073CCD5D}"/>
              </a:ext>
            </a:extLst>
          </p:cNvPr>
          <p:cNvSpPr>
            <a:spLocks xmlns:a="http://schemas.openxmlformats.org/drawingml/2006/main" noGrp="1"/>
          </p:cNvSpPr>
          <p:nvPr/>
        </p:nvSpPr>
        <p:spPr>
          <a:xfrm xmlns:a="http://schemas.openxmlformats.org/drawingml/2006/main">
            <a:off x="914400" y="2895600"/>
            <a:ext cx="619125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0284C7"/>
                </a:solidFill>
                <a:latin typeface="Arial"/>
                <a:ea typeface="Arial"/>
                <a:cs typeface="Arial"/>
              </a:defRPr>
            </a:defPPr>
            <a:lvl1pPr algn="l">
              <a:defRPr sz="4875" b="1">
                <a:solidFill>
                  <a:srgbClr val="0284C7"/>
                </a:solidFill>
                <a:latin typeface="Arial"/>
                <a:ea typeface="Arial"/>
                <a:cs typeface="Arial"/>
              </a:defRPr>
            </a:lvl1pPr>
            <a:lvl2pPr algn="l">
              <a:defRPr sz="4875" b="1">
                <a:solidFill>
                  <a:srgbClr val="0284C7"/>
                </a:solidFill>
                <a:latin typeface="Arial"/>
                <a:ea typeface="Arial"/>
                <a:cs typeface="Arial"/>
              </a:defRPr>
            </a:lvl2pPr>
            <a:lvl3pPr algn="l">
              <a:defRPr sz="4875" b="1">
                <a:solidFill>
                  <a:srgbClr val="0284C7"/>
                </a:solidFill>
                <a:latin typeface="Arial"/>
                <a:ea typeface="Arial"/>
                <a:cs typeface="Arial"/>
              </a:defRPr>
            </a:lvl3pPr>
            <a:lvl4pPr algn="l">
              <a:defRPr sz="4875" b="1">
                <a:solidFill>
                  <a:srgbClr val="0284C7"/>
                </a:solidFill>
                <a:latin typeface="Arial"/>
                <a:ea typeface="Arial"/>
                <a:cs typeface="Arial"/>
              </a:defRPr>
            </a:lvl4pPr>
            <a:lvl5pPr algn="l">
              <a:defRPr sz="4875" b="1">
                <a:solidFill>
                  <a:srgbClr val="0284C7"/>
                </a:solidFill>
                <a:latin typeface="Arial"/>
                <a:ea typeface="Arial"/>
                <a:cs typeface="Arial"/>
              </a:defRPr>
            </a:lvl5pPr>
            <a:lvl6pPr algn="l">
              <a:defRPr sz="4875" b="1">
                <a:solidFill>
                  <a:srgbClr val="0284C7"/>
                </a:solidFill>
                <a:latin typeface="Arial"/>
                <a:ea typeface="Arial"/>
                <a:cs typeface="Arial"/>
              </a:defRPr>
            </a:lvl6pPr>
            <a:lvl7pPr algn="l">
              <a:defRPr sz="4875" b="1">
                <a:solidFill>
                  <a:srgbClr val="0284C7"/>
                </a:solidFill>
                <a:latin typeface="Arial"/>
                <a:ea typeface="Arial"/>
                <a:cs typeface="Arial"/>
              </a:defRPr>
            </a:lvl7pPr>
            <a:lvl8pPr algn="l">
              <a:defRPr sz="4875" b="1">
                <a:solidFill>
                  <a:srgbClr val="0284C7"/>
                </a:solidFill>
                <a:latin typeface="Arial"/>
                <a:ea typeface="Arial"/>
                <a:cs typeface="Arial"/>
              </a:defRPr>
            </a:lvl8pPr>
            <a:lvl9pPr algn="l">
              <a:defRPr sz="4875" b="1">
                <a:solidFill>
                  <a:srgbClr val="0284C7"/>
                </a:solidFill>
                <a:latin typeface="Arial"/>
                <a:ea typeface="Arial"/>
                <a:cs typeface="Arial"/>
              </a:defRPr>
            </a:lvl9pPr>
          </a:lstStyle>
          <a:p xmlns:a="http://schemas.openxmlformats.org/drawingml/2006/main">
            <a:pPr algn="l">
              <a:defRPr sz="4875" b="1">
                <a:solidFill>
                  <a:srgbClr val="0284C7"/>
                </a:solidFill>
                <a:latin typeface="Arial"/>
                <a:ea typeface="Arial"/>
                <a:cs typeface="Arial"/>
              </a:defRPr>
            </a:pPr>
            <a:r>
              <a:rPr sz="4875" b="1">
                <a:solidFill>
                  <a:srgbClr val="0284C7"/>
                </a:solidFill>
                <a:latin typeface="Arial"/>
                <a:ea typeface="Arial"/>
                <a:cs typeface="Arial"/>
              </a:rPr>
              <a:t>Rina mengirim</a:t>
            </a:r>
          </a:p>
          <a:p xmlns:a="http://schemas.openxmlformats.org/drawingml/2006/main">
            <a:pPr algn="l">
              <a:defRPr sz="4875" b="1">
                <a:solidFill>
                  <a:srgbClr val="0284C7"/>
                </a:solidFill>
                <a:latin typeface="Arial"/>
                <a:ea typeface="Arial"/>
                <a:cs typeface="Arial"/>
              </a:defRPr>
            </a:pPr>
            <a:r>
              <a:rPr sz="4875" b="1">
                <a:solidFill>
                  <a:srgbClr val="0284C7"/>
                </a:solidFill>
                <a:latin typeface="Arial"/>
                <a:ea typeface="Arial"/>
                <a:cs typeface="Arial"/>
              </a:rPr>
              <a:t>pesan ke Andi</a:t>
            </a:r>
          </a:p>
        </p:txBody>
      </p:sp>
      <p:sp>
        <p:nvSpPr>
          <p:cNvPr id="5" name="text-23">
            <a:extLst xmlns:a="http://schemas.openxmlformats.org/drawingml/2006/main">
              <a:ext uri="{FF2B5EF4-FFF2-40B4-BE49-F238E27FC236}">
                <a16:creationId xmlns:a16="http://schemas.microsoft.com/office/drawing/2014/main" id="{C38533D4-D2A6-48E2-8CD1-A21A41B080ED}"/>
              </a:ext>
            </a:extLst>
          </p:cNvPr>
          <p:cNvSpPr>
            <a:spLocks xmlns:a="http://schemas.openxmlformats.org/drawingml/2006/main" noGrp="1"/>
          </p:cNvSpPr>
          <p:nvPr/>
        </p:nvSpPr>
        <p:spPr>
          <a:xfrm xmlns:a="http://schemas.openxmlformats.org/drawingml/2006/main">
            <a:off x="8096250" y="2857500"/>
            <a:ext cx="5905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F172A"/>
                </a:solidFill>
                <a:latin typeface="Arial"/>
                <a:ea typeface="Arial"/>
                <a:cs typeface="Arial"/>
              </a:defRPr>
            </a:defPPr>
            <a:lvl1pPr algn="l">
              <a:defRPr sz="3075" b="0">
                <a:solidFill>
                  <a:srgbClr val="0F172A"/>
                </a:solidFill>
                <a:latin typeface="Arial"/>
                <a:ea typeface="Arial"/>
                <a:cs typeface="Arial"/>
              </a:defRPr>
            </a:lvl1pPr>
            <a:lvl2pPr algn="l">
              <a:defRPr sz="3075" b="0">
                <a:solidFill>
                  <a:srgbClr val="0F172A"/>
                </a:solidFill>
                <a:latin typeface="Arial"/>
                <a:ea typeface="Arial"/>
                <a:cs typeface="Arial"/>
              </a:defRPr>
            </a:lvl2pPr>
            <a:lvl3pPr algn="l">
              <a:defRPr sz="3075" b="0">
                <a:solidFill>
                  <a:srgbClr val="0F172A"/>
                </a:solidFill>
                <a:latin typeface="Arial"/>
                <a:ea typeface="Arial"/>
                <a:cs typeface="Arial"/>
              </a:defRPr>
            </a:lvl3pPr>
            <a:lvl4pPr algn="l">
              <a:defRPr sz="3075" b="0">
                <a:solidFill>
                  <a:srgbClr val="0F172A"/>
                </a:solidFill>
                <a:latin typeface="Arial"/>
                <a:ea typeface="Arial"/>
                <a:cs typeface="Arial"/>
              </a:defRPr>
            </a:lvl4pPr>
            <a:lvl5pPr algn="l">
              <a:defRPr sz="3075" b="0">
                <a:solidFill>
                  <a:srgbClr val="0F172A"/>
                </a:solidFill>
                <a:latin typeface="Arial"/>
                <a:ea typeface="Arial"/>
                <a:cs typeface="Arial"/>
              </a:defRPr>
            </a:lvl5pPr>
            <a:lvl6pPr algn="l">
              <a:defRPr sz="3075" b="0">
                <a:solidFill>
                  <a:srgbClr val="0F172A"/>
                </a:solidFill>
                <a:latin typeface="Arial"/>
                <a:ea typeface="Arial"/>
                <a:cs typeface="Arial"/>
              </a:defRPr>
            </a:lvl6pPr>
            <a:lvl7pPr algn="l">
              <a:defRPr sz="3075" b="0">
                <a:solidFill>
                  <a:srgbClr val="0F172A"/>
                </a:solidFill>
                <a:latin typeface="Arial"/>
                <a:ea typeface="Arial"/>
                <a:cs typeface="Arial"/>
              </a:defRPr>
            </a:lvl7pPr>
            <a:lvl8pPr algn="l">
              <a:defRPr sz="3075" b="0">
                <a:solidFill>
                  <a:srgbClr val="0F172A"/>
                </a:solidFill>
                <a:latin typeface="Arial"/>
                <a:ea typeface="Arial"/>
                <a:cs typeface="Arial"/>
              </a:defRPr>
            </a:lvl8pPr>
            <a:lvl9pPr algn="l">
              <a:defRPr sz="3075" b="0">
                <a:solidFill>
                  <a:srgbClr val="0F172A"/>
                </a:solidFill>
                <a:latin typeface="Arial"/>
                <a:ea typeface="Arial"/>
                <a:cs typeface="Arial"/>
              </a:defRPr>
            </a:lvl9pPr>
          </a:lstStyle>
          <a:p xmlns:a="http://schemas.openxmlformats.org/drawingml/2006/main">
            <a:pPr algn="l">
              <a:defRPr sz="3075" b="0">
                <a:solidFill>
                  <a:srgbClr val="0F172A"/>
                </a:solidFill>
                <a:latin typeface="Arial"/>
                <a:ea typeface="Arial"/>
                <a:cs typeface="Arial"/>
              </a:defRPr>
            </a:pPr>
            <a:r>
              <a:rPr sz="3075" b="0">
                <a:solidFill>
                  <a:srgbClr val="0F172A"/>
                </a:solidFill>
                <a:latin typeface="Arial"/>
                <a:ea typeface="Arial"/>
                <a:cs typeface="Arial"/>
              </a:rPr>
              <a:t>Pesan perlu sampai ke akun yang benar, tersimpan, dan muncul pada layar penerima.</a:t>
            </a:r>
          </a:p>
        </p:txBody>
      </p:sp>
      <p:sp>
        <p:nvSpPr>
          <p:cNvPr id="6" name="text-24">
            <a:extLst xmlns:a="http://schemas.openxmlformats.org/drawingml/2006/main">
              <a:ext uri="{FF2B5EF4-FFF2-40B4-BE49-F238E27FC236}">
                <a16:creationId xmlns:a16="http://schemas.microsoft.com/office/drawing/2014/main" id="{E7F37C4E-0B2B-4F34-A24E-9D57721EBC77}"/>
              </a:ext>
            </a:extLst>
          </p:cNvPr>
          <p:cNvSpPr>
            <a:spLocks xmlns:a="http://schemas.openxmlformats.org/drawingml/2006/main" noGrp="1"/>
          </p:cNvSpPr>
          <p:nvPr/>
        </p:nvSpPr>
        <p:spPr>
          <a:xfrm xmlns:a="http://schemas.openxmlformats.org/drawingml/2006/main">
            <a:off x="952500" y="6648450"/>
            <a:ext cx="1276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475569"/>
                </a:solidFill>
                <a:latin typeface="Arial"/>
                <a:ea typeface="Arial"/>
                <a:cs typeface="Arial"/>
              </a:defRPr>
            </a:defPPr>
            <a:lvl1pPr algn="l">
              <a:defRPr sz="2400" b="1">
                <a:solidFill>
                  <a:srgbClr val="475569"/>
                </a:solidFill>
                <a:latin typeface="Arial"/>
                <a:ea typeface="Arial"/>
                <a:cs typeface="Arial"/>
              </a:defRPr>
            </a:lvl1pPr>
            <a:lvl2pPr algn="l">
              <a:defRPr sz="2400" b="1">
                <a:solidFill>
                  <a:srgbClr val="475569"/>
                </a:solidFill>
                <a:latin typeface="Arial"/>
                <a:ea typeface="Arial"/>
                <a:cs typeface="Arial"/>
              </a:defRPr>
            </a:lvl2pPr>
            <a:lvl3pPr algn="l">
              <a:defRPr sz="2400" b="1">
                <a:solidFill>
                  <a:srgbClr val="475569"/>
                </a:solidFill>
                <a:latin typeface="Arial"/>
                <a:ea typeface="Arial"/>
                <a:cs typeface="Arial"/>
              </a:defRPr>
            </a:lvl3pPr>
            <a:lvl4pPr algn="l">
              <a:defRPr sz="2400" b="1">
                <a:solidFill>
                  <a:srgbClr val="475569"/>
                </a:solidFill>
                <a:latin typeface="Arial"/>
                <a:ea typeface="Arial"/>
                <a:cs typeface="Arial"/>
              </a:defRPr>
            </a:lvl4pPr>
            <a:lvl5pPr algn="l">
              <a:defRPr sz="2400" b="1">
                <a:solidFill>
                  <a:srgbClr val="475569"/>
                </a:solidFill>
                <a:latin typeface="Arial"/>
                <a:ea typeface="Arial"/>
                <a:cs typeface="Arial"/>
              </a:defRPr>
            </a:lvl5pPr>
            <a:lvl6pPr algn="l">
              <a:defRPr sz="2400" b="1">
                <a:solidFill>
                  <a:srgbClr val="475569"/>
                </a:solidFill>
                <a:latin typeface="Arial"/>
                <a:ea typeface="Arial"/>
                <a:cs typeface="Arial"/>
              </a:defRPr>
            </a:lvl6pPr>
            <a:lvl7pPr algn="l">
              <a:defRPr sz="2400" b="1">
                <a:solidFill>
                  <a:srgbClr val="475569"/>
                </a:solidFill>
                <a:latin typeface="Arial"/>
                <a:ea typeface="Arial"/>
                <a:cs typeface="Arial"/>
              </a:defRPr>
            </a:lvl7pPr>
            <a:lvl8pPr algn="l">
              <a:defRPr sz="2400" b="1">
                <a:solidFill>
                  <a:srgbClr val="475569"/>
                </a:solidFill>
                <a:latin typeface="Arial"/>
                <a:ea typeface="Arial"/>
                <a:cs typeface="Arial"/>
              </a:defRPr>
            </a:lvl8pPr>
            <a:lvl9pPr algn="l">
              <a:defRPr sz="2400" b="1">
                <a:solidFill>
                  <a:srgbClr val="475569"/>
                </a:solidFill>
                <a:latin typeface="Arial"/>
                <a:ea typeface="Arial"/>
                <a:cs typeface="Arial"/>
              </a:defRPr>
            </a:lvl9pPr>
          </a:lstStyle>
          <a:p xmlns:a="http://schemas.openxmlformats.org/drawingml/2006/main">
            <a:pPr algn="l">
              <a:defRPr sz="2400" b="1">
                <a:solidFill>
                  <a:srgbClr val="475569"/>
                </a:solidFill>
                <a:latin typeface="Arial"/>
                <a:ea typeface="Arial"/>
                <a:cs typeface="Arial"/>
              </a:defRPr>
            </a:pPr>
            <a:r>
              <a:rPr sz="2400" b="1">
                <a:solidFill>
                  <a:srgbClr val="475569"/>
                </a:solidFill>
                <a:latin typeface="Arial"/>
                <a:ea typeface="Arial"/>
                <a:cs typeface="Arial"/>
              </a:rPr>
              <a:t>Percakapan pribadi dua pengguna menjadi ruang lingkup awal proyek.</a:t>
            </a:r>
          </a:p>
        </p:txBody>
      </p:sp>
    </p:spTree>
    <p:extLst>
      <p:ext uri="{BB962C8B-B14F-4D97-AF65-F5344CB8AC3E}">
        <p14:creationId xmlns:p14="http://schemas.microsoft.com/office/powerpoint/2010/main" val="254193565"/>
      </p:ext>
    </p:extLst>
  </p:cSld>
</p:sld>
</file>

<file path=ppt/slides/slide4.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242CCF4B-5F41-4B44-810F-65849661E4BF}"/>
              </a:ext>
            </a:extLst>
          </p:cNvPr>
          <p:cNvCxnSpPr>
            <a:stCxn xmlns:a="http://schemas.openxmlformats.org/drawingml/2006/main" id="5" idx="3"/>
            <a:endCxn xmlns:a="http://schemas.openxmlformats.org/drawingml/2006/main" id="6" idx="1"/>
          </p:cNvCxnSpPr>
          <p:nvPr/>
        </p:nvCxnSpPr>
        <p:spPr>
          <a:xfrm xmlns:a="http://schemas.openxmlformats.org/drawingml/2006/main">
            <a:off x="9334500" y="4133850"/>
            <a:ext cx="1562100" cy="0"/>
          </a:xfrm>
          <a:prstGeom xmlns:a="http://schemas.openxmlformats.org/drawingml/2006/main" prst="straightConnector1">
            <a:avLst/>
          </a:prstGeom>
          <a:ln xmlns:a="http://schemas.openxmlformats.org/drawingml/2006/main" w="28575">
            <a:solidFill>
              <a:srgbClr val="38BDF8"/>
            </a:solidFill>
            <a:tailEnd type="triangle" w="med" len="med"/>
          </a:ln>
        </p:spPr>
      </p:cxnSp>
      <p:cxnSp>
        <p:nvCxnSpPr>
          <p:cNvPr id="7" name="">
            <a:extLst xmlns:a="http://schemas.openxmlformats.org/drawingml/2006/main">
              <a:ext uri="{FF2B5EF4-FFF2-40B4-BE49-F238E27FC236}">
                <a16:creationId xmlns:a16="http://schemas.microsoft.com/office/drawing/2014/main" id="{419E17EB-2FA9-4B4D-BAC3-7AE9406497BC}"/>
              </a:ext>
            </a:extLst>
          </p:cNvPr>
          <p:cNvCxnSpPr>
            <a:stCxn xmlns:a="http://schemas.openxmlformats.org/drawingml/2006/main" id="4" idx="3"/>
            <a:endCxn xmlns:a="http://schemas.openxmlformats.org/drawingml/2006/main" id="5" idx="1"/>
          </p:cNvCxnSpPr>
          <p:nvPr/>
        </p:nvCxnSpPr>
        <p:spPr>
          <a:xfrm xmlns:a="http://schemas.openxmlformats.org/drawingml/2006/main">
            <a:off x="4343400" y="4133850"/>
            <a:ext cx="1562100" cy="0"/>
          </a:xfrm>
          <a:prstGeom xmlns:a="http://schemas.openxmlformats.org/drawingml/2006/main" prst="straightConnector1">
            <a:avLst/>
          </a:prstGeom>
          <a:ln xmlns:a="http://schemas.openxmlformats.org/drawingml/2006/main" w="28575">
            <a:solidFill>
              <a:srgbClr val="38BDF8"/>
            </a:solidFill>
            <a:tailEnd type="triangle" w="med" len="med"/>
          </a:ln>
        </p:spPr>
      </p:cxnSp>
      <p:sp>
        <p:nvSpPr>
          <p:cNvPr id="12" name="text-25">
            <a:extLst xmlns:a="http://schemas.openxmlformats.org/drawingml/2006/main">
              <a:ext uri="{FF2B5EF4-FFF2-40B4-BE49-F238E27FC236}">
                <a16:creationId xmlns:a16="http://schemas.microsoft.com/office/drawing/2014/main" id="{B6D9CBC2-C3DD-440B-9048-959CC7EC17CF}"/>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Arsitektur keseluruhan</a:t>
            </a:r>
          </a:p>
        </p:txBody>
      </p:sp>
      <p:sp>
        <p:nvSpPr>
          <p:cNvPr id="2" name="text-26">
            <a:extLst xmlns:a="http://schemas.openxmlformats.org/drawingml/2006/main">
              <a:ext uri="{FF2B5EF4-FFF2-40B4-BE49-F238E27FC236}">
                <a16:creationId xmlns:a16="http://schemas.microsoft.com/office/drawing/2014/main" id="{06C59772-C72F-4699-8F39-8D37992977B3}"/>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Flutter berjalan pada perangkat. Go dan PostgreSQL berjalan melalui Docker Compose.</a:t>
            </a:r>
          </a:p>
        </p:txBody>
      </p:sp>
      <p:sp>
        <p:nvSpPr>
          <p:cNvPr id="3" name="text-27">
            <a:extLst xmlns:a="http://schemas.openxmlformats.org/drawingml/2006/main">
              <a:ext uri="{FF2B5EF4-FFF2-40B4-BE49-F238E27FC236}">
                <a16:creationId xmlns:a16="http://schemas.microsoft.com/office/drawing/2014/main" id="{B5EE3046-3601-4312-AE7C-5F666B8515E0}"/>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4</a:t>
            </a:r>
          </a:p>
        </p:txBody>
      </p:sp>
      <p:sp>
        <p:nvSpPr>
          <p:cNvPr id="4" name="diagram-node-28">
            <a:extLst xmlns:a="http://schemas.openxmlformats.org/drawingml/2006/main">
              <a:ext uri="{FF2B5EF4-FFF2-40B4-BE49-F238E27FC236}">
                <a16:creationId xmlns:a16="http://schemas.microsoft.com/office/drawing/2014/main" id="{133AECD3-4F3F-4A15-A9EB-EADE78B7FC49}"/>
              </a:ext>
            </a:extLst>
          </p:cNvPr>
          <p:cNvSpPr>
            <a:spLocks xmlns:a="http://schemas.openxmlformats.org/drawingml/2006/main" noGrp="1"/>
          </p:cNvSpPr>
          <p:nvPr/>
        </p:nvSpPr>
        <p:spPr>
          <a:xfrm xmlns:a="http://schemas.openxmlformats.org/drawingml/2006/main">
            <a:off x="914400" y="3067050"/>
            <a:ext cx="3429000" cy="213360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Flutter</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Tampilan dan interaksi</a:t>
            </a:r>
            <a:br>
              <a:rPr sz="2025">
                <a:solidFill>
                  <a:srgbClr val="FFFFFF"/>
                </a:solidFill>
                <a:latin typeface="Arial"/>
                <a:ea typeface="Arial"/>
                <a:cs typeface="Arial"/>
              </a:rPr>
            </a:br>
            <a:r>
              <a:rPr sz="2025">
                <a:solidFill>
                  <a:srgbClr val="FFFFFF"/>
                </a:solidFill>
                <a:latin typeface="Arial"/>
                <a:ea typeface="Arial"/>
                <a:cs typeface="Arial"/>
              </a:rPr>
              <a:t>pada perangkat</a:t>
            </a:r>
          </a:p>
        </p:txBody>
      </p:sp>
      <p:sp>
        <p:nvSpPr>
          <p:cNvPr id="5" name="diagram-node-29">
            <a:extLst xmlns:a="http://schemas.openxmlformats.org/drawingml/2006/main">
              <a:ext uri="{FF2B5EF4-FFF2-40B4-BE49-F238E27FC236}">
                <a16:creationId xmlns:a16="http://schemas.microsoft.com/office/drawing/2014/main" id="{77B6ACD7-DBC4-4F96-A5E9-8F1F93E9BC3F}"/>
              </a:ext>
            </a:extLst>
          </p:cNvPr>
          <p:cNvSpPr>
            <a:spLocks xmlns:a="http://schemas.openxmlformats.org/drawingml/2006/main" noGrp="1"/>
          </p:cNvSpPr>
          <p:nvPr/>
        </p:nvSpPr>
        <p:spPr>
          <a:xfrm xmlns:a="http://schemas.openxmlformats.org/drawingml/2006/main">
            <a:off x="5905500" y="3067050"/>
            <a:ext cx="3429000" cy="213360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Go</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Aturan akses dan</a:t>
            </a:r>
            <a:br>
              <a:rPr sz="2025">
                <a:solidFill>
                  <a:srgbClr val="FFFFFF"/>
                </a:solidFill>
                <a:latin typeface="Arial"/>
                <a:ea typeface="Arial"/>
                <a:cs typeface="Arial"/>
              </a:rPr>
            </a:br>
            <a:r>
              <a:rPr sz="2025">
                <a:solidFill>
                  <a:srgbClr val="FFFFFF"/>
                </a:solidFill>
                <a:latin typeface="Arial"/>
                <a:ea typeface="Arial"/>
                <a:cs typeface="Arial"/>
              </a:rPr>
              <a:t>layanan percakapan</a:t>
            </a:r>
          </a:p>
        </p:txBody>
      </p:sp>
      <p:sp>
        <p:nvSpPr>
          <p:cNvPr id="6" name="diagram-node-30">
            <a:extLst xmlns:a="http://schemas.openxmlformats.org/drawingml/2006/main">
              <a:ext uri="{FF2B5EF4-FFF2-40B4-BE49-F238E27FC236}">
                <a16:creationId xmlns:a16="http://schemas.microsoft.com/office/drawing/2014/main" id="{299F0302-64EF-4F7A-B391-DDA41BB14918}"/>
              </a:ext>
            </a:extLst>
          </p:cNvPr>
          <p:cNvSpPr>
            <a:spLocks xmlns:a="http://schemas.openxmlformats.org/drawingml/2006/main" noGrp="1"/>
          </p:cNvSpPr>
          <p:nvPr/>
        </p:nvSpPr>
        <p:spPr>
          <a:xfrm xmlns:a="http://schemas.openxmlformats.org/drawingml/2006/main">
            <a:off x="10896600" y="3067050"/>
            <a:ext cx="3429000" cy="213360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PostgreSQL</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Data akun, pesan,</a:t>
            </a:r>
            <a:br>
              <a:rPr sz="2025">
                <a:solidFill>
                  <a:srgbClr val="FFFFFF"/>
                </a:solidFill>
                <a:latin typeface="Arial"/>
                <a:ea typeface="Arial"/>
                <a:cs typeface="Arial"/>
              </a:rPr>
            </a:br>
            <a:r>
              <a:rPr sz="2025">
                <a:solidFill>
                  <a:srgbClr val="FFFFFF"/>
                </a:solidFill>
                <a:latin typeface="Arial"/>
                <a:ea typeface="Arial"/>
                <a:cs typeface="Arial"/>
              </a:rPr>
              <a:t>reaksi, dan lampiran</a:t>
            </a:r>
          </a:p>
        </p:txBody>
      </p:sp>
      <p:sp>
        <p:nvSpPr>
          <p:cNvPr id="9" name="text-31">
            <a:extLst xmlns:a="http://schemas.openxmlformats.org/drawingml/2006/main">
              <a:ext uri="{FF2B5EF4-FFF2-40B4-BE49-F238E27FC236}">
                <a16:creationId xmlns:a16="http://schemas.microsoft.com/office/drawing/2014/main" id="{A582157C-AE82-422E-A664-651143C16F74}"/>
              </a:ext>
            </a:extLst>
          </p:cNvPr>
          <p:cNvSpPr>
            <a:spLocks xmlns:a="http://schemas.openxmlformats.org/drawingml/2006/main" noGrp="1"/>
          </p:cNvSpPr>
          <p:nvPr/>
        </p:nvSpPr>
        <p:spPr>
          <a:xfrm xmlns:a="http://schemas.openxmlformats.org/drawingml/2006/main">
            <a:off x="4381500" y="2324100"/>
            <a:ext cx="1485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8BDF8"/>
                </a:solidFill>
                <a:latin typeface="Arial"/>
                <a:ea typeface="Arial"/>
                <a:cs typeface="Arial"/>
              </a:defRPr>
            </a:defPPr>
            <a:lvl1pPr algn="ctr">
              <a:defRPr sz="1800" b="1">
                <a:solidFill>
                  <a:srgbClr val="38BDF8"/>
                </a:solidFill>
                <a:latin typeface="Arial"/>
                <a:ea typeface="Arial"/>
                <a:cs typeface="Arial"/>
              </a:defRPr>
            </a:lvl1pPr>
            <a:lvl2pPr algn="ctr">
              <a:defRPr sz="1800" b="1">
                <a:solidFill>
                  <a:srgbClr val="38BDF8"/>
                </a:solidFill>
                <a:latin typeface="Arial"/>
                <a:ea typeface="Arial"/>
                <a:cs typeface="Arial"/>
              </a:defRPr>
            </a:lvl2pPr>
            <a:lvl3pPr algn="ctr">
              <a:defRPr sz="1800" b="1">
                <a:solidFill>
                  <a:srgbClr val="38BDF8"/>
                </a:solidFill>
                <a:latin typeface="Arial"/>
                <a:ea typeface="Arial"/>
                <a:cs typeface="Arial"/>
              </a:defRPr>
            </a:lvl3pPr>
            <a:lvl4pPr algn="ctr">
              <a:defRPr sz="1800" b="1">
                <a:solidFill>
                  <a:srgbClr val="38BDF8"/>
                </a:solidFill>
                <a:latin typeface="Arial"/>
                <a:ea typeface="Arial"/>
                <a:cs typeface="Arial"/>
              </a:defRPr>
            </a:lvl4pPr>
            <a:lvl5pPr algn="ctr">
              <a:defRPr sz="1800" b="1">
                <a:solidFill>
                  <a:srgbClr val="38BDF8"/>
                </a:solidFill>
                <a:latin typeface="Arial"/>
                <a:ea typeface="Arial"/>
                <a:cs typeface="Arial"/>
              </a:defRPr>
            </a:lvl5pPr>
            <a:lvl6pPr algn="ctr">
              <a:defRPr sz="1800" b="1">
                <a:solidFill>
                  <a:srgbClr val="38BDF8"/>
                </a:solidFill>
                <a:latin typeface="Arial"/>
                <a:ea typeface="Arial"/>
                <a:cs typeface="Arial"/>
              </a:defRPr>
            </a:lvl6pPr>
            <a:lvl7pPr algn="ctr">
              <a:defRPr sz="1800" b="1">
                <a:solidFill>
                  <a:srgbClr val="38BDF8"/>
                </a:solidFill>
                <a:latin typeface="Arial"/>
                <a:ea typeface="Arial"/>
                <a:cs typeface="Arial"/>
              </a:defRPr>
            </a:lvl7pPr>
            <a:lvl8pPr algn="ctr">
              <a:defRPr sz="1800" b="1">
                <a:solidFill>
                  <a:srgbClr val="38BDF8"/>
                </a:solidFill>
                <a:latin typeface="Arial"/>
                <a:ea typeface="Arial"/>
                <a:cs typeface="Arial"/>
              </a:defRPr>
            </a:lvl8pPr>
            <a:lvl9pPr algn="ctr">
              <a:defRPr sz="1800" b="1">
                <a:solidFill>
                  <a:srgbClr val="38BDF8"/>
                </a:solidFill>
                <a:latin typeface="Arial"/>
                <a:ea typeface="Arial"/>
                <a:cs typeface="Arial"/>
              </a:defRPr>
            </a:lvl9pPr>
          </a:lstStyle>
          <a:p xmlns:a="http://schemas.openxmlformats.org/drawingml/2006/main">
            <a:pPr algn="ctr">
              <a:defRPr sz="1800" b="1">
                <a:solidFill>
                  <a:srgbClr val="38BDF8"/>
                </a:solidFill>
                <a:latin typeface="Arial"/>
                <a:ea typeface="Arial"/>
                <a:cs typeface="Arial"/>
              </a:defRPr>
            </a:pPr>
            <a:r>
              <a:rPr sz="1800" b="1">
                <a:solidFill>
                  <a:srgbClr val="38BDF8"/>
                </a:solidFill>
                <a:latin typeface="Arial"/>
                <a:ea typeface="Arial"/>
                <a:cs typeface="Arial"/>
              </a:rPr>
              <a:t>REST +</a:t>
            </a:r>
          </a:p>
          <a:p xmlns:a="http://schemas.openxmlformats.org/drawingml/2006/main">
            <a:pPr algn="ctr">
              <a:defRPr sz="1800" b="1">
                <a:solidFill>
                  <a:srgbClr val="38BDF8"/>
                </a:solidFill>
                <a:latin typeface="Arial"/>
                <a:ea typeface="Arial"/>
                <a:cs typeface="Arial"/>
              </a:defRPr>
            </a:pPr>
            <a:r>
              <a:rPr sz="1800" b="1">
                <a:solidFill>
                  <a:srgbClr val="38BDF8"/>
                </a:solidFill>
                <a:latin typeface="Arial"/>
                <a:ea typeface="Arial"/>
                <a:cs typeface="Arial"/>
              </a:rPr>
              <a:t>WebSocket</a:t>
            </a:r>
          </a:p>
        </p:txBody>
      </p:sp>
      <p:sp>
        <p:nvSpPr>
          <p:cNvPr id="10" name="text-32">
            <a:extLst xmlns:a="http://schemas.openxmlformats.org/drawingml/2006/main">
              <a:ext uri="{FF2B5EF4-FFF2-40B4-BE49-F238E27FC236}">
                <a16:creationId xmlns:a16="http://schemas.microsoft.com/office/drawing/2014/main" id="{50C74CDD-F0F9-40AB-91C4-473D463FC2F1}"/>
              </a:ext>
            </a:extLst>
          </p:cNvPr>
          <p:cNvSpPr>
            <a:spLocks xmlns:a="http://schemas.openxmlformats.org/drawingml/2006/main" noGrp="1"/>
          </p:cNvSpPr>
          <p:nvPr/>
        </p:nvSpPr>
        <p:spPr>
          <a:xfrm xmlns:a="http://schemas.openxmlformats.org/drawingml/2006/main">
            <a:off x="9372600" y="2571750"/>
            <a:ext cx="148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38BDF8"/>
                </a:solidFill>
                <a:latin typeface="Arial"/>
                <a:ea typeface="Arial"/>
                <a:cs typeface="Arial"/>
              </a:defRPr>
            </a:defPPr>
            <a:lvl1pPr algn="ctr">
              <a:defRPr sz="1950" b="1">
                <a:solidFill>
                  <a:srgbClr val="38BDF8"/>
                </a:solidFill>
                <a:latin typeface="Arial"/>
                <a:ea typeface="Arial"/>
                <a:cs typeface="Arial"/>
              </a:defRPr>
            </a:lvl1pPr>
            <a:lvl2pPr algn="ctr">
              <a:defRPr sz="1950" b="1">
                <a:solidFill>
                  <a:srgbClr val="38BDF8"/>
                </a:solidFill>
                <a:latin typeface="Arial"/>
                <a:ea typeface="Arial"/>
                <a:cs typeface="Arial"/>
              </a:defRPr>
            </a:lvl2pPr>
            <a:lvl3pPr algn="ctr">
              <a:defRPr sz="1950" b="1">
                <a:solidFill>
                  <a:srgbClr val="38BDF8"/>
                </a:solidFill>
                <a:latin typeface="Arial"/>
                <a:ea typeface="Arial"/>
                <a:cs typeface="Arial"/>
              </a:defRPr>
            </a:lvl3pPr>
            <a:lvl4pPr algn="ctr">
              <a:defRPr sz="1950" b="1">
                <a:solidFill>
                  <a:srgbClr val="38BDF8"/>
                </a:solidFill>
                <a:latin typeface="Arial"/>
                <a:ea typeface="Arial"/>
                <a:cs typeface="Arial"/>
              </a:defRPr>
            </a:lvl4pPr>
            <a:lvl5pPr algn="ctr">
              <a:defRPr sz="1950" b="1">
                <a:solidFill>
                  <a:srgbClr val="38BDF8"/>
                </a:solidFill>
                <a:latin typeface="Arial"/>
                <a:ea typeface="Arial"/>
                <a:cs typeface="Arial"/>
              </a:defRPr>
            </a:lvl5pPr>
            <a:lvl6pPr algn="ctr">
              <a:defRPr sz="1950" b="1">
                <a:solidFill>
                  <a:srgbClr val="38BDF8"/>
                </a:solidFill>
                <a:latin typeface="Arial"/>
                <a:ea typeface="Arial"/>
                <a:cs typeface="Arial"/>
              </a:defRPr>
            </a:lvl6pPr>
            <a:lvl7pPr algn="ctr">
              <a:defRPr sz="1950" b="1">
                <a:solidFill>
                  <a:srgbClr val="38BDF8"/>
                </a:solidFill>
                <a:latin typeface="Arial"/>
                <a:ea typeface="Arial"/>
                <a:cs typeface="Arial"/>
              </a:defRPr>
            </a:lvl7pPr>
            <a:lvl8pPr algn="ctr">
              <a:defRPr sz="1950" b="1">
                <a:solidFill>
                  <a:srgbClr val="38BDF8"/>
                </a:solidFill>
                <a:latin typeface="Arial"/>
                <a:ea typeface="Arial"/>
                <a:cs typeface="Arial"/>
              </a:defRPr>
            </a:lvl8pPr>
            <a:lvl9pPr algn="ctr">
              <a:defRPr sz="1950" b="1">
                <a:solidFill>
                  <a:srgbClr val="38BDF8"/>
                </a:solidFill>
                <a:latin typeface="Arial"/>
                <a:ea typeface="Arial"/>
                <a:cs typeface="Arial"/>
              </a:defRPr>
            </a:lvl9pPr>
          </a:lstStyle>
          <a:p xmlns:a="http://schemas.openxmlformats.org/drawingml/2006/main">
            <a:pPr algn="ctr">
              <a:defRPr sz="1950" b="1">
                <a:solidFill>
                  <a:srgbClr val="38BDF8"/>
                </a:solidFill>
                <a:latin typeface="Arial"/>
                <a:ea typeface="Arial"/>
                <a:cs typeface="Arial"/>
              </a:defRPr>
            </a:pPr>
            <a:r>
              <a:rPr sz="1950" b="1">
                <a:solidFill>
                  <a:srgbClr val="38BDF8"/>
                </a:solidFill>
                <a:latin typeface="Arial"/>
                <a:ea typeface="Arial"/>
                <a:cs typeface="Arial"/>
              </a:rPr>
              <a:t>SQL</a:t>
            </a:r>
          </a:p>
        </p:txBody>
      </p:sp>
      <p:sp>
        <p:nvSpPr>
          <p:cNvPr id="11" name="text-33">
            <a:extLst xmlns:a="http://schemas.openxmlformats.org/drawingml/2006/main">
              <a:ext uri="{FF2B5EF4-FFF2-40B4-BE49-F238E27FC236}">
                <a16:creationId xmlns:a16="http://schemas.microsoft.com/office/drawing/2014/main" id="{6C2118F7-447C-4229-B2F7-F2B7B83719EC}"/>
              </a:ext>
            </a:extLst>
          </p:cNvPr>
          <p:cNvSpPr>
            <a:spLocks xmlns:a="http://schemas.openxmlformats.org/drawingml/2006/main" noGrp="1"/>
          </p:cNvSpPr>
          <p:nvPr/>
        </p:nvSpPr>
        <p:spPr>
          <a:xfrm xmlns:a="http://schemas.openxmlformats.org/drawingml/2006/main">
            <a:off x="914400" y="6572250"/>
            <a:ext cx="1323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CBD5E1"/>
                </a:solidFill>
                <a:latin typeface="Arial"/>
                <a:ea typeface="Arial"/>
                <a:cs typeface="Arial"/>
              </a:defRPr>
            </a:defPPr>
            <a:lvl1pPr algn="l">
              <a:defRPr sz="2550" b="0">
                <a:solidFill>
                  <a:srgbClr val="CBD5E1"/>
                </a:solidFill>
                <a:latin typeface="Arial"/>
                <a:ea typeface="Arial"/>
                <a:cs typeface="Arial"/>
              </a:defRPr>
            </a:lvl1pPr>
            <a:lvl2pPr algn="l">
              <a:defRPr sz="2550" b="0">
                <a:solidFill>
                  <a:srgbClr val="CBD5E1"/>
                </a:solidFill>
                <a:latin typeface="Arial"/>
                <a:ea typeface="Arial"/>
                <a:cs typeface="Arial"/>
              </a:defRPr>
            </a:lvl2pPr>
            <a:lvl3pPr algn="l">
              <a:defRPr sz="2550" b="0">
                <a:solidFill>
                  <a:srgbClr val="CBD5E1"/>
                </a:solidFill>
                <a:latin typeface="Arial"/>
                <a:ea typeface="Arial"/>
                <a:cs typeface="Arial"/>
              </a:defRPr>
            </a:lvl3pPr>
            <a:lvl4pPr algn="l">
              <a:defRPr sz="2550" b="0">
                <a:solidFill>
                  <a:srgbClr val="CBD5E1"/>
                </a:solidFill>
                <a:latin typeface="Arial"/>
                <a:ea typeface="Arial"/>
                <a:cs typeface="Arial"/>
              </a:defRPr>
            </a:lvl4pPr>
            <a:lvl5pPr algn="l">
              <a:defRPr sz="2550" b="0">
                <a:solidFill>
                  <a:srgbClr val="CBD5E1"/>
                </a:solidFill>
                <a:latin typeface="Arial"/>
                <a:ea typeface="Arial"/>
                <a:cs typeface="Arial"/>
              </a:defRPr>
            </a:lvl5pPr>
            <a:lvl6pPr algn="l">
              <a:defRPr sz="2550" b="0">
                <a:solidFill>
                  <a:srgbClr val="CBD5E1"/>
                </a:solidFill>
                <a:latin typeface="Arial"/>
                <a:ea typeface="Arial"/>
                <a:cs typeface="Arial"/>
              </a:defRPr>
            </a:lvl6pPr>
            <a:lvl7pPr algn="l">
              <a:defRPr sz="2550" b="0">
                <a:solidFill>
                  <a:srgbClr val="CBD5E1"/>
                </a:solidFill>
                <a:latin typeface="Arial"/>
                <a:ea typeface="Arial"/>
                <a:cs typeface="Arial"/>
              </a:defRPr>
            </a:lvl7pPr>
            <a:lvl8pPr algn="l">
              <a:defRPr sz="2550" b="0">
                <a:solidFill>
                  <a:srgbClr val="CBD5E1"/>
                </a:solidFill>
                <a:latin typeface="Arial"/>
                <a:ea typeface="Arial"/>
                <a:cs typeface="Arial"/>
              </a:defRPr>
            </a:lvl8pPr>
            <a:lvl9pPr algn="l">
              <a:defRPr sz="2550" b="0">
                <a:solidFill>
                  <a:srgbClr val="CBD5E1"/>
                </a:solidFill>
                <a:latin typeface="Arial"/>
                <a:ea typeface="Arial"/>
                <a:cs typeface="Arial"/>
              </a:defRPr>
            </a:lvl9pPr>
          </a:lstStyle>
          <a:p xmlns:a="http://schemas.openxmlformats.org/drawingml/2006/main">
            <a:pPr algn="l">
              <a:defRPr sz="2550" b="0">
                <a:solidFill>
                  <a:srgbClr val="CBD5E1"/>
                </a:solidFill>
                <a:latin typeface="Arial"/>
                <a:ea typeface="Arial"/>
                <a:cs typeface="Arial"/>
              </a:defRPr>
            </a:pPr>
            <a:r>
              <a:rPr sz="2550" b="0">
                <a:solidFill>
                  <a:srgbClr val="CBD5E1"/>
                </a:solidFill>
                <a:latin typeface="Arial"/>
                <a:ea typeface="Arial"/>
                <a:cs typeface="Arial"/>
              </a:rPr>
              <a:t>Aplikasi berkomunikasi dengan Go. Layanan Go mengakses database.</a:t>
            </a:r>
          </a:p>
        </p:txBody>
      </p:sp>
    </p:spTree>
    <p:extLst>
      <p:ext uri="{BB962C8B-B14F-4D97-AF65-F5344CB8AC3E}">
        <p14:creationId xmlns:p14="http://schemas.microsoft.com/office/powerpoint/2010/main" val="1864507672"/>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text-34">
            <a:extLst xmlns:a="http://schemas.openxmlformats.org/drawingml/2006/main">
              <a:ext uri="{FF2B5EF4-FFF2-40B4-BE49-F238E27FC236}">
                <a16:creationId xmlns:a16="http://schemas.microsoft.com/office/drawing/2014/main" id="{ABDE014F-7B07-4585-8A2C-FE5563981FF8}"/>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Tanggung jawab tiap komponen</a:t>
            </a:r>
          </a:p>
        </p:txBody>
      </p:sp>
      <p:sp>
        <p:nvSpPr>
          <p:cNvPr id="2" name="text-35">
            <a:extLst xmlns:a="http://schemas.openxmlformats.org/drawingml/2006/main">
              <a:ext uri="{FF2B5EF4-FFF2-40B4-BE49-F238E27FC236}">
                <a16:creationId xmlns:a16="http://schemas.microsoft.com/office/drawing/2014/main" id="{418C6C0F-8DF1-49B0-90EA-71427E4FEE85}"/>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Pembagian peran membantu kita menentukan letak sebuah perilaku atau masalah.</a:t>
            </a:r>
          </a:p>
        </p:txBody>
      </p:sp>
      <p:sp>
        <p:nvSpPr>
          <p:cNvPr id="3" name="text-36">
            <a:extLst xmlns:a="http://schemas.openxmlformats.org/drawingml/2006/main">
              <a:ext uri="{FF2B5EF4-FFF2-40B4-BE49-F238E27FC236}">
                <a16:creationId xmlns:a16="http://schemas.microsoft.com/office/drawing/2014/main" id="{D29C358C-913E-4D5E-8BA2-8F246AAF6E9A}"/>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8742CCD5-3530-44C6-A597-20414EC00FE7}"/>
              </a:ext>
            </a:extLst>
          </p:cNvPr>
          <p:cNvGraphicFramePr/>
          <p:nvPr/>
        </p:nvGraphicFramePr>
        <p:xfrm>
          <a:off xmlns:a="http://schemas.openxmlformats.org/drawingml/2006/main" x="914400" y="2524125"/>
          <a:ext xmlns:a="http://schemas.openxmlformats.org/drawingml/2006/main" cx="13411200" cy="3810000"/>
        </p:xfrm>
        <a:graphic xmlns:a="http://schemas.openxmlformats.org/drawingml/2006/main">
          <a:graphicData uri="http://schemas.openxmlformats.org/drawingml/2006/table">
            <a:tbl>
              <a:tblPr firstRow="0" bandRow="0"/>
              <a:tblGrid>
                <a:gridCol w="2476500"/>
                <a:gridCol w="4953000"/>
                <a:gridCol w="5981700"/>
              </a:tblGrid>
              <a:tr h="952500">
                <a:tc>
                  <a:txBody>
                    <a:bodyPr wrap="square" lIns="152400" tIns="152400" rIns="152400" bIns="152400">
                      <a:noAutofit/>
                    </a:bodyPr>
                    <a:lstStyle/>
                    <a:p>
                      <a:pPr algn="l"/>
                      <a:r>
                        <a:rPr sz="2025" b="1">
                          <a:solidFill>
                            <a:srgbClr val="FFFFFF"/>
                          </a:solidFill>
                          <a:latin typeface="Arial"/>
                          <a:ea typeface="Arial"/>
                          <a:cs typeface="Arial"/>
                        </a:rPr>
                        <a:t>Komponen</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Tanggung jawab</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Contoh pada proyek</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952500">
                <a:tc>
                  <a:txBody>
                    <a:bodyPr wrap="square" lIns="152400" tIns="152400" rIns="152400" bIns="152400">
                      <a:noAutofit/>
                    </a:bodyPr>
                    <a:lstStyle/>
                    <a:p>
                      <a:pPr algn="l"/>
                      <a:r>
                        <a:rPr sz="2025" b="1">
                          <a:solidFill>
                            <a:srgbClr val="0F172A"/>
                          </a:solidFill>
                          <a:latin typeface="Arial"/>
                          <a:ea typeface="Arial"/>
                          <a:cs typeface="Arial"/>
                        </a:rPr>
                        <a:t>Flutter</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Menerima input dan memperbarui tampilan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Balon pesan, pencarian, tema, dan pratinjau balasan.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952500">
                <a:tc>
                  <a:txBody>
                    <a:bodyPr wrap="square" lIns="152400" tIns="152400" rIns="152400" bIns="152400">
                      <a:noAutofit/>
                    </a:bodyPr>
                    <a:lstStyle/>
                    <a:p>
                      <a:pPr algn="l"/>
                      <a:r>
                        <a:rPr sz="2025" b="1">
                          <a:solidFill>
                            <a:srgbClr val="0F172A"/>
                          </a:solidFill>
                          <a:latin typeface="Arial"/>
                          <a:ea typeface="Arial"/>
                          <a:cs typeface="Arial"/>
                        </a:rPr>
                        <a:t>Go</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Memeriksa aturan dan melayani permintaan</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Validasi sesi, anggota percakapan, dan isi pesan.</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952500">
                <a:tc>
                  <a:txBody>
                    <a:bodyPr wrap="square" lIns="152400" tIns="152400" rIns="152400" bIns="152400">
                      <a:noAutofit/>
                    </a:bodyPr>
                    <a:lstStyle/>
                    <a:p>
                      <a:pPr algn="l"/>
                      <a:r>
                        <a:rPr sz="2025" b="1">
                          <a:solidFill>
                            <a:srgbClr val="0F172A"/>
                          </a:solidFill>
                          <a:latin typeface="Arial"/>
                          <a:ea typeface="Arial"/>
                          <a:cs typeface="Arial"/>
                        </a:rPr>
                        <a:t>PostgreSQL</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Menyimpan data yang perlu bertahan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Akun, riwayat, posisi baca, reaksi, dan lampiran.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
        <p:nvSpPr>
          <p:cNvPr id="5" name="text-37">
            <a:extLst xmlns:a="http://schemas.openxmlformats.org/drawingml/2006/main">
              <a:ext uri="{FF2B5EF4-FFF2-40B4-BE49-F238E27FC236}">
                <a16:creationId xmlns:a16="http://schemas.microsoft.com/office/drawing/2014/main" id="{FFA479F0-8EB4-4936-96A5-B9AEC17D8F04}"/>
              </a:ext>
            </a:extLst>
          </p:cNvPr>
          <p:cNvSpPr>
            <a:spLocks xmlns:a="http://schemas.openxmlformats.org/drawingml/2006/main" noGrp="1"/>
          </p:cNvSpPr>
          <p:nvPr/>
        </p:nvSpPr>
        <p:spPr>
          <a:xfrm xmlns:a="http://schemas.openxmlformats.org/drawingml/2006/main">
            <a:off x="914400" y="6896100"/>
            <a:ext cx="1323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Aturan akses tetap berlaku meskipun seseorang memakai klien selain aplikasi Flutter.</a:t>
            </a:r>
          </a:p>
        </p:txBody>
      </p:sp>
    </p:spTree>
    <p:extLst>
      <p:ext uri="{BB962C8B-B14F-4D97-AF65-F5344CB8AC3E}">
        <p14:creationId xmlns:p14="http://schemas.microsoft.com/office/powerpoint/2010/main" val="620291977"/>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text-38">
            <a:extLst xmlns:a="http://schemas.openxmlformats.org/drawingml/2006/main">
              <a:ext uri="{FF2B5EF4-FFF2-40B4-BE49-F238E27FC236}">
                <a16:creationId xmlns:a16="http://schemas.microsoft.com/office/drawing/2014/main" id="{F04CEAA4-928A-41B7-82C6-48D129CABF8C}"/>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REST dan WebSocket</a:t>
            </a:r>
          </a:p>
        </p:txBody>
      </p:sp>
      <p:sp>
        <p:nvSpPr>
          <p:cNvPr id="2" name="text-39">
            <a:extLst xmlns:a="http://schemas.openxmlformats.org/drawingml/2006/main">
              <a:ext uri="{FF2B5EF4-FFF2-40B4-BE49-F238E27FC236}">
                <a16:creationId xmlns:a16="http://schemas.microsoft.com/office/drawing/2014/main" id="{A11F2C68-581C-4B46-AB40-59AA1F36645D}"/>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Dua pola komunikasi melayani kebutuhan yang berbeda pada aplikasi yang sama.</a:t>
            </a:r>
          </a:p>
        </p:txBody>
      </p:sp>
      <p:sp>
        <p:nvSpPr>
          <p:cNvPr id="3" name="text-40">
            <a:extLst xmlns:a="http://schemas.openxmlformats.org/drawingml/2006/main">
              <a:ext uri="{FF2B5EF4-FFF2-40B4-BE49-F238E27FC236}">
                <a16:creationId xmlns:a16="http://schemas.microsoft.com/office/drawing/2014/main" id="{9B908993-9ECC-43DE-9809-C4C74FC5A12D}"/>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6</a:t>
            </a:r>
          </a:p>
        </p:txBody>
      </p:sp>
      <p:graphicFrame>
        <p:nvGraphicFramePr>
          <p:cNvPr id="4" name="">
            <a:extLst xmlns:a="http://schemas.openxmlformats.org/drawingml/2006/main">
              <a:ext uri="{FF2B5EF4-FFF2-40B4-BE49-F238E27FC236}">
                <a16:creationId xmlns:a16="http://schemas.microsoft.com/office/drawing/2014/main" id="{701D3A84-DDA9-4C2D-9F65-233444023F08}"/>
              </a:ext>
            </a:extLst>
          </p:cNvPr>
          <p:cNvGraphicFramePr/>
          <p:nvPr/>
        </p:nvGraphicFramePr>
        <p:xfrm>
          <a:off xmlns:a="http://schemas.openxmlformats.org/drawingml/2006/main" x="914400" y="2524125"/>
          <a:ext xmlns:a="http://schemas.openxmlformats.org/drawingml/2006/main" cx="13411200" cy="4114800"/>
        </p:xfrm>
        <a:graphic xmlns:a="http://schemas.openxmlformats.org/drawingml/2006/main">
          <a:graphicData uri="http://schemas.openxmlformats.org/drawingml/2006/table">
            <a:tbl>
              <a:tblPr firstRow="0" bandRow="0"/>
              <a:tblGrid>
                <a:gridCol w="2381250"/>
                <a:gridCol w="5514975"/>
                <a:gridCol w="5514975"/>
              </a:tblGrid>
              <a:tr h="1028700">
                <a:tc>
                  <a:txBody>
                    <a:bodyPr wrap="square" lIns="152400" tIns="152400" rIns="152400" bIns="152400">
                      <a:noAutofit/>
                    </a:bodyPr>
                    <a:lstStyle/>
                    <a:p>
                      <a:pPr algn="l"/>
                      <a:r>
                        <a:rPr sz="2025" b="1">
                          <a:solidFill>
                            <a:srgbClr val="FFFFFF"/>
                          </a:solidFill>
                          <a:latin typeface="Arial"/>
                          <a:ea typeface="Arial"/>
                          <a:cs typeface="Arial"/>
                        </a:rPr>
                        <a:t>Aspek</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REST melalui HTTP</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WebSocket</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1028700">
                <a:tc>
                  <a:txBody>
                    <a:bodyPr wrap="square" lIns="152400" tIns="152400" rIns="152400" bIns="152400">
                      <a:noAutofit/>
                    </a:bodyPr>
                    <a:lstStyle/>
                    <a:p>
                      <a:pPr algn="l"/>
                      <a:r>
                        <a:rPr sz="2025" b="1">
                          <a:solidFill>
                            <a:srgbClr val="0F172A"/>
                          </a:solidFill>
                          <a:latin typeface="Arial"/>
                          <a:ea typeface="Arial"/>
                          <a:cs typeface="Arial"/>
                        </a:rPr>
                        <a:t>Pola</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Aplikasi mengirim permintaan dan menerima respons.</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Koneksi terbuka untuk menerima event.</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1028700">
                <a:tc>
                  <a:txBody>
                    <a:bodyPr wrap="square" lIns="152400" tIns="152400" rIns="152400" bIns="152400">
                      <a:noAutofit/>
                    </a:bodyPr>
                    <a:lstStyle/>
                    <a:p>
                      <a:pPr algn="l"/>
                      <a:r>
                        <a:rPr sz="2025" b="1">
                          <a:solidFill>
                            <a:srgbClr val="0F172A"/>
                          </a:solidFill>
                          <a:latin typeface="Arial"/>
                          <a:ea typeface="Arial"/>
                          <a:cs typeface="Arial"/>
                        </a:rPr>
                        <a:t>Pemakaian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Login, riwayat, kirim pesan, dan unggah file.</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Pesan baru, reaksi, posisi baca, online, dan mengetik.</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1028700">
                <a:tc>
                  <a:txBody>
                    <a:bodyPr wrap="square" lIns="152400" tIns="152400" rIns="152400" bIns="152400">
                      <a:noAutofit/>
                    </a:bodyPr>
                    <a:lstStyle/>
                    <a:p>
                      <a:pPr algn="l"/>
                      <a:r>
                        <a:rPr sz="2025" b="1">
                          <a:solidFill>
                            <a:srgbClr val="0F172A"/>
                          </a:solidFill>
                          <a:latin typeface="Arial"/>
                          <a:ea typeface="Arial"/>
                          <a:cs typeface="Arial"/>
                        </a:rPr>
                        <a:t>Data pesan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Go menyimpan pesan melalui permintaan HTTP.</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Go mengabarkan perubahan kepada anggota.</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
        <p:nvSpPr>
          <p:cNvPr id="5" name="text-41">
            <a:extLst xmlns:a="http://schemas.openxmlformats.org/drawingml/2006/main">
              <a:ext uri="{FF2B5EF4-FFF2-40B4-BE49-F238E27FC236}">
                <a16:creationId xmlns:a16="http://schemas.microsoft.com/office/drawing/2014/main" id="{43E4A3DA-ECB1-40D5-969C-84B7DBEBBF6A}"/>
              </a:ext>
            </a:extLst>
          </p:cNvPr>
          <p:cNvSpPr>
            <a:spLocks xmlns:a="http://schemas.openxmlformats.org/drawingml/2006/main" noGrp="1"/>
          </p:cNvSpPr>
          <p:nvPr/>
        </p:nvSpPr>
        <p:spPr>
          <a:xfrm xmlns:a="http://schemas.openxmlformats.org/drawingml/2006/main">
            <a:off x="914400" y="7124700"/>
            <a:ext cx="1323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284C7"/>
                </a:solidFill>
                <a:latin typeface="Arial"/>
                <a:ea typeface="Arial"/>
                <a:cs typeface="Arial"/>
              </a:defRPr>
            </a:defPPr>
            <a:lvl1pPr algn="l">
              <a:defRPr sz="2250" b="1">
                <a:solidFill>
                  <a:srgbClr val="0284C7"/>
                </a:solidFill>
                <a:latin typeface="Arial"/>
                <a:ea typeface="Arial"/>
                <a:cs typeface="Arial"/>
              </a:defRPr>
            </a:lvl1pPr>
            <a:lvl2pPr algn="l">
              <a:defRPr sz="2250" b="1">
                <a:solidFill>
                  <a:srgbClr val="0284C7"/>
                </a:solidFill>
                <a:latin typeface="Arial"/>
                <a:ea typeface="Arial"/>
                <a:cs typeface="Arial"/>
              </a:defRPr>
            </a:lvl2pPr>
            <a:lvl3pPr algn="l">
              <a:defRPr sz="2250" b="1">
                <a:solidFill>
                  <a:srgbClr val="0284C7"/>
                </a:solidFill>
                <a:latin typeface="Arial"/>
                <a:ea typeface="Arial"/>
                <a:cs typeface="Arial"/>
              </a:defRPr>
            </a:lvl3pPr>
            <a:lvl4pPr algn="l">
              <a:defRPr sz="2250" b="1">
                <a:solidFill>
                  <a:srgbClr val="0284C7"/>
                </a:solidFill>
                <a:latin typeface="Arial"/>
                <a:ea typeface="Arial"/>
                <a:cs typeface="Arial"/>
              </a:defRPr>
            </a:lvl4pPr>
            <a:lvl5pPr algn="l">
              <a:defRPr sz="2250" b="1">
                <a:solidFill>
                  <a:srgbClr val="0284C7"/>
                </a:solidFill>
                <a:latin typeface="Arial"/>
                <a:ea typeface="Arial"/>
                <a:cs typeface="Arial"/>
              </a:defRPr>
            </a:lvl5pPr>
            <a:lvl6pPr algn="l">
              <a:defRPr sz="2250" b="1">
                <a:solidFill>
                  <a:srgbClr val="0284C7"/>
                </a:solidFill>
                <a:latin typeface="Arial"/>
                <a:ea typeface="Arial"/>
                <a:cs typeface="Arial"/>
              </a:defRPr>
            </a:lvl6pPr>
            <a:lvl7pPr algn="l">
              <a:defRPr sz="2250" b="1">
                <a:solidFill>
                  <a:srgbClr val="0284C7"/>
                </a:solidFill>
                <a:latin typeface="Arial"/>
                <a:ea typeface="Arial"/>
                <a:cs typeface="Arial"/>
              </a:defRPr>
            </a:lvl7pPr>
            <a:lvl8pPr algn="l">
              <a:defRPr sz="2250" b="1">
                <a:solidFill>
                  <a:srgbClr val="0284C7"/>
                </a:solidFill>
                <a:latin typeface="Arial"/>
                <a:ea typeface="Arial"/>
                <a:cs typeface="Arial"/>
              </a:defRPr>
            </a:lvl8pPr>
            <a:lvl9pPr algn="l">
              <a:defRPr sz="2250" b="1">
                <a:solidFill>
                  <a:srgbClr val="0284C7"/>
                </a:solidFill>
                <a:latin typeface="Arial"/>
                <a:ea typeface="Arial"/>
                <a:cs typeface="Arial"/>
              </a:defRPr>
            </a:lvl9pPr>
          </a:lstStyle>
          <a:p xmlns:a="http://schemas.openxmlformats.org/drawingml/2006/main">
            <a:pPr algn="l">
              <a:defRPr sz="2250" b="1">
                <a:solidFill>
                  <a:srgbClr val="0284C7"/>
                </a:solidFill>
                <a:latin typeface="Arial"/>
                <a:ea typeface="Arial"/>
                <a:cs typeface="Arial"/>
              </a:defRPr>
            </a:pPr>
            <a:r>
              <a:rPr sz="2250" b="1">
                <a:solidFill>
                  <a:srgbClr val="0284C7"/>
                </a:solidFill>
                <a:latin typeface="Arial"/>
                <a:ea typeface="Arial"/>
                <a:cs typeface="Arial"/>
              </a:rPr>
              <a:t>Pada proyek ini, pesan disimpan melalui REST lalu perubahan disebarkan melalui WebSocket.</a:t>
            </a:r>
          </a:p>
        </p:txBody>
      </p:sp>
    </p:spTree>
    <p:extLst>
      <p:ext uri="{BB962C8B-B14F-4D97-AF65-F5344CB8AC3E}">
        <p14:creationId xmlns:p14="http://schemas.microsoft.com/office/powerpoint/2010/main" val="540347607"/>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25171D7-6D9E-4B78-B53B-6AD4183593BF}"/>
              </a:ext>
            </a:extLst>
          </p:cNvPr>
          <p:cNvCxnSpPr>
            <a:stCxn xmlns:a="http://schemas.openxmlformats.org/drawingml/2006/main" id="7" idx="3"/>
            <a:endCxn xmlns:a="http://schemas.openxmlformats.org/drawingml/2006/main" id="6" idx="2"/>
          </p:cNvCxnSpPr>
          <p:nvPr/>
        </p:nvCxnSpPr>
        <p:spPr>
          <a:xfrm xmlns:a="http://schemas.openxmlformats.org/drawingml/2006/main" flipV="1">
            <a:off x="10515600" y="4686300"/>
            <a:ext cx="2247900" cy="1590675"/>
          </a:xfrm>
          <a:prstGeom xmlns:a="http://schemas.openxmlformats.org/drawingml/2006/main" prst="bentConnector2">
            <a:avLst/>
          </a:prstGeom>
          <a:ln xmlns:a="http://schemas.openxmlformats.org/drawingml/2006/main" w="28575">
            <a:solidFill>
              <a:srgbClr val="0284C7"/>
            </a:solidFill>
            <a:tailEnd type="triangle" w="med" len="med"/>
          </a:ln>
        </p:spPr>
      </p:cxnSp>
      <p:cxnSp>
        <p:nvCxnSpPr>
          <p:cNvPr id="10" name="">
            <a:extLst xmlns:a="http://schemas.openxmlformats.org/drawingml/2006/main">
              <a:ext uri="{FF2B5EF4-FFF2-40B4-BE49-F238E27FC236}">
                <a16:creationId xmlns:a16="http://schemas.microsoft.com/office/drawing/2014/main" id="{3C8CA863-DD4B-48AF-B1D8-784B406E10C3}"/>
              </a:ext>
            </a:extLst>
          </p:cNvPr>
          <p:cNvCxnSpPr>
            <a:stCxn xmlns:a="http://schemas.openxmlformats.org/drawingml/2006/main" id="5" idx="2"/>
            <a:endCxn xmlns:a="http://schemas.openxmlformats.org/drawingml/2006/main" id="7" idx="1"/>
          </p:cNvCxnSpPr>
          <p:nvPr/>
        </p:nvCxnSpPr>
        <p:spPr>
          <a:xfrm xmlns:a="http://schemas.openxmlformats.org/drawingml/2006/main">
            <a:off x="5724525" y="4686300"/>
            <a:ext cx="2124075" cy="1590675"/>
          </a:xfrm>
          <a:prstGeom xmlns:a="http://schemas.openxmlformats.org/drawingml/2006/main" prst="bentConnector5">
            <a:avLst>
              <a:gd name="adj1" fmla="val 0"/>
              <a:gd name="adj2" fmla="val 14371"/>
              <a:gd name="adj3" fmla="val 89238"/>
            </a:avLst>
          </a:prstGeom>
          <a:ln xmlns:a="http://schemas.openxmlformats.org/drawingml/2006/main" w="28575">
            <a:solidFill>
              <a:srgbClr val="0284C7"/>
            </a:solidFill>
            <a:tailEnd type="triangle" w="med" len="med"/>
          </a:ln>
        </p:spPr>
      </p:cxnSp>
      <p:cxnSp>
        <p:nvCxnSpPr>
          <p:cNvPr id="9" name="">
            <a:extLst xmlns:a="http://schemas.openxmlformats.org/drawingml/2006/main">
              <a:ext uri="{FF2B5EF4-FFF2-40B4-BE49-F238E27FC236}">
                <a16:creationId xmlns:a16="http://schemas.microsoft.com/office/drawing/2014/main" id="{768797BC-7280-4F78-BCA6-FF4F75CF6F6B}"/>
              </a:ext>
            </a:extLst>
          </p:cNvPr>
          <p:cNvCxnSpPr>
            <a:stCxn xmlns:a="http://schemas.openxmlformats.org/drawingml/2006/main" id="5" idx="3"/>
            <a:endCxn xmlns:a="http://schemas.openxmlformats.org/drawingml/2006/main" id="6" idx="1"/>
          </p:cNvCxnSpPr>
          <p:nvPr/>
        </p:nvCxnSpPr>
        <p:spPr>
          <a:xfrm xmlns:a="http://schemas.openxmlformats.org/drawingml/2006/main">
            <a:off x="7105650" y="4067175"/>
            <a:ext cx="4095750" cy="0"/>
          </a:xfrm>
          <a:prstGeom xmlns:a="http://schemas.openxmlformats.org/drawingml/2006/main" prst="straightConnector1">
            <a:avLst/>
          </a:prstGeom>
          <a:ln xmlns:a="http://schemas.openxmlformats.org/drawingml/2006/main" w="28575">
            <a:solidFill>
              <a:srgbClr val="0284C7"/>
            </a:solidFill>
            <a:tailEnd type="triangle" w="med" len="med"/>
          </a:ln>
        </p:spPr>
      </p:cxnSp>
      <p:cxnSp>
        <p:nvCxnSpPr>
          <p:cNvPr id="8" name="">
            <a:extLst xmlns:a="http://schemas.openxmlformats.org/drawingml/2006/main">
              <a:ext uri="{FF2B5EF4-FFF2-40B4-BE49-F238E27FC236}">
                <a16:creationId xmlns:a16="http://schemas.microsoft.com/office/drawing/2014/main" id="{1F52EB73-38A6-4CB7-9B4A-2FF66A6CEB25}"/>
              </a:ext>
            </a:extLst>
          </p:cNvPr>
          <p:cNvCxnSpPr>
            <a:stCxn xmlns:a="http://schemas.openxmlformats.org/drawingml/2006/main" id="4" idx="3"/>
            <a:endCxn xmlns:a="http://schemas.openxmlformats.org/drawingml/2006/main" id="5" idx="1"/>
          </p:cNvCxnSpPr>
          <p:nvPr/>
        </p:nvCxnSpPr>
        <p:spPr>
          <a:xfrm xmlns:a="http://schemas.openxmlformats.org/drawingml/2006/main">
            <a:off x="3390900" y="4067175"/>
            <a:ext cx="952500" cy="0"/>
          </a:xfrm>
          <a:prstGeom xmlns:a="http://schemas.openxmlformats.org/drawingml/2006/main" prst="straightConnector1">
            <a:avLst/>
          </a:prstGeom>
          <a:ln xmlns:a="http://schemas.openxmlformats.org/drawingml/2006/main" w="28575">
            <a:solidFill>
              <a:srgbClr val="0284C7"/>
            </a:solidFill>
            <a:tailEnd type="triangle" w="med" len="med"/>
          </a:ln>
        </p:spPr>
      </p:cxnSp>
      <p:sp>
        <p:nvSpPr>
          <p:cNvPr id="14" name="text-42">
            <a:extLst xmlns:a="http://schemas.openxmlformats.org/drawingml/2006/main">
              <a:ext uri="{FF2B5EF4-FFF2-40B4-BE49-F238E27FC236}">
                <a16:creationId xmlns:a16="http://schemas.microsoft.com/office/drawing/2014/main" id="{E0B82B34-7611-438F-A357-FD41479C2FEA}"/>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Flow pengguna</a:t>
            </a:r>
          </a:p>
        </p:txBody>
      </p:sp>
      <p:sp>
        <p:nvSpPr>
          <p:cNvPr id="2" name="text-43">
            <a:extLst xmlns:a="http://schemas.openxmlformats.org/drawingml/2006/main">
              <a:ext uri="{FF2B5EF4-FFF2-40B4-BE49-F238E27FC236}">
                <a16:creationId xmlns:a16="http://schemas.microsoft.com/office/drawing/2014/main" id="{70B57962-C214-45C1-ABBD-0287FC3F8587}"/>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Dua jalur membuka ruang chat, yaitu percakapan yang sudah ada atau kontak baru.</a:t>
            </a:r>
          </a:p>
        </p:txBody>
      </p:sp>
      <p:sp>
        <p:nvSpPr>
          <p:cNvPr id="3" name="text-44">
            <a:extLst xmlns:a="http://schemas.openxmlformats.org/drawingml/2006/main">
              <a:ext uri="{FF2B5EF4-FFF2-40B4-BE49-F238E27FC236}">
                <a16:creationId xmlns:a16="http://schemas.microsoft.com/office/drawing/2014/main" id="{ED7A9479-1E66-4EB7-A8E7-62D2B3ACCE56}"/>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7</a:t>
            </a:r>
          </a:p>
        </p:txBody>
      </p:sp>
      <p:sp>
        <p:nvSpPr>
          <p:cNvPr id="4" name="diagram-node-45">
            <a:extLst xmlns:a="http://schemas.openxmlformats.org/drawingml/2006/main">
              <a:ext uri="{FF2B5EF4-FFF2-40B4-BE49-F238E27FC236}">
                <a16:creationId xmlns:a16="http://schemas.microsoft.com/office/drawing/2014/main" id="{AEDFD14F-451C-40C3-8810-A4DEBA74F2BB}"/>
              </a:ext>
            </a:extLst>
          </p:cNvPr>
          <p:cNvSpPr>
            <a:spLocks xmlns:a="http://schemas.openxmlformats.org/drawingml/2006/main" noGrp="1"/>
          </p:cNvSpPr>
          <p:nvPr/>
        </p:nvSpPr>
        <p:spPr>
          <a:xfrm xmlns:a="http://schemas.openxmlformats.org/drawingml/2006/main">
            <a:off x="914400" y="3448050"/>
            <a:ext cx="247650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Masuk</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Sesi pengguna aktif</a:t>
            </a:r>
          </a:p>
        </p:txBody>
      </p:sp>
      <p:sp>
        <p:nvSpPr>
          <p:cNvPr id="5" name="diagram-node-46">
            <a:extLst xmlns:a="http://schemas.openxmlformats.org/drawingml/2006/main">
              <a:ext uri="{FF2B5EF4-FFF2-40B4-BE49-F238E27FC236}">
                <a16:creationId xmlns:a16="http://schemas.microsoft.com/office/drawing/2014/main" id="{202E268A-2679-4542-817E-CDF700565DAA}"/>
              </a:ext>
            </a:extLst>
          </p:cNvPr>
          <p:cNvSpPr>
            <a:spLocks xmlns:a="http://schemas.openxmlformats.org/drawingml/2006/main" noGrp="1"/>
          </p:cNvSpPr>
          <p:nvPr/>
        </p:nvSpPr>
        <p:spPr>
          <a:xfrm xmlns:a="http://schemas.openxmlformats.org/drawingml/2006/main">
            <a:off x="4343400" y="3448050"/>
            <a:ext cx="276225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Daftar chat</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Ringkasan percakapan</a:t>
            </a:r>
          </a:p>
        </p:txBody>
      </p:sp>
      <p:sp>
        <p:nvSpPr>
          <p:cNvPr id="6" name="diagram-node-47">
            <a:extLst xmlns:a="http://schemas.openxmlformats.org/drawingml/2006/main">
              <a:ext uri="{FF2B5EF4-FFF2-40B4-BE49-F238E27FC236}">
                <a16:creationId xmlns:a16="http://schemas.microsoft.com/office/drawing/2014/main" id="{3EDBFBB3-A235-439D-A7C0-9C7491BE0316}"/>
              </a:ext>
            </a:extLst>
          </p:cNvPr>
          <p:cNvSpPr>
            <a:spLocks xmlns:a="http://schemas.openxmlformats.org/drawingml/2006/main" noGrp="1"/>
          </p:cNvSpPr>
          <p:nvPr/>
        </p:nvSpPr>
        <p:spPr>
          <a:xfrm xmlns:a="http://schemas.openxmlformats.org/drawingml/2006/main">
            <a:off x="11201400" y="3448050"/>
            <a:ext cx="312420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Ruang chat</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Membaca dan mengirim</a:t>
            </a:r>
          </a:p>
        </p:txBody>
      </p:sp>
      <p:sp>
        <p:nvSpPr>
          <p:cNvPr id="7" name="diagram-node-48">
            <a:extLst xmlns:a="http://schemas.openxmlformats.org/drawingml/2006/main">
              <a:ext uri="{FF2B5EF4-FFF2-40B4-BE49-F238E27FC236}">
                <a16:creationId xmlns:a16="http://schemas.microsoft.com/office/drawing/2014/main" id="{3A308A8B-7D28-4A97-89A0-042D06F865AB}"/>
              </a:ext>
            </a:extLst>
          </p:cNvPr>
          <p:cNvSpPr>
            <a:spLocks xmlns:a="http://schemas.openxmlformats.org/drawingml/2006/main" noGrp="1"/>
          </p:cNvSpPr>
          <p:nvPr/>
        </p:nvSpPr>
        <p:spPr>
          <a:xfrm xmlns:a="http://schemas.openxmlformats.org/drawingml/2006/main">
            <a:off x="7848600" y="5657850"/>
            <a:ext cx="266700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Chat baru</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Memilih pengguna</a:t>
            </a:r>
          </a:p>
        </p:txBody>
      </p:sp>
      <p:sp>
        <p:nvSpPr>
          <p:cNvPr id="12" name="text-49">
            <a:extLst xmlns:a="http://schemas.openxmlformats.org/drawingml/2006/main">
              <a:ext uri="{FF2B5EF4-FFF2-40B4-BE49-F238E27FC236}">
                <a16:creationId xmlns:a16="http://schemas.microsoft.com/office/drawing/2014/main" id="{8EC478EA-1538-4DDF-93CE-84C1238E8D36}"/>
              </a:ext>
            </a:extLst>
          </p:cNvPr>
          <p:cNvSpPr>
            <a:spLocks xmlns:a="http://schemas.openxmlformats.org/drawingml/2006/main" noGrp="1"/>
          </p:cNvSpPr>
          <p:nvPr/>
        </p:nvSpPr>
        <p:spPr>
          <a:xfrm xmlns:a="http://schemas.openxmlformats.org/drawingml/2006/main">
            <a:off x="7429500" y="27813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0284C7"/>
                </a:solidFill>
                <a:latin typeface="Arial"/>
                <a:ea typeface="Arial"/>
                <a:cs typeface="Arial"/>
              </a:defRPr>
            </a:defPPr>
            <a:lvl1pPr algn="ctr">
              <a:defRPr sz="1950" b="1">
                <a:solidFill>
                  <a:srgbClr val="0284C7"/>
                </a:solidFill>
                <a:latin typeface="Arial"/>
                <a:ea typeface="Arial"/>
                <a:cs typeface="Arial"/>
              </a:defRPr>
            </a:lvl1pPr>
            <a:lvl2pPr algn="ctr">
              <a:defRPr sz="1950" b="1">
                <a:solidFill>
                  <a:srgbClr val="0284C7"/>
                </a:solidFill>
                <a:latin typeface="Arial"/>
                <a:ea typeface="Arial"/>
                <a:cs typeface="Arial"/>
              </a:defRPr>
            </a:lvl2pPr>
            <a:lvl3pPr algn="ctr">
              <a:defRPr sz="1950" b="1">
                <a:solidFill>
                  <a:srgbClr val="0284C7"/>
                </a:solidFill>
                <a:latin typeface="Arial"/>
                <a:ea typeface="Arial"/>
                <a:cs typeface="Arial"/>
              </a:defRPr>
            </a:lvl3pPr>
            <a:lvl4pPr algn="ctr">
              <a:defRPr sz="1950" b="1">
                <a:solidFill>
                  <a:srgbClr val="0284C7"/>
                </a:solidFill>
                <a:latin typeface="Arial"/>
                <a:ea typeface="Arial"/>
                <a:cs typeface="Arial"/>
              </a:defRPr>
            </a:lvl4pPr>
            <a:lvl5pPr algn="ctr">
              <a:defRPr sz="1950" b="1">
                <a:solidFill>
                  <a:srgbClr val="0284C7"/>
                </a:solidFill>
                <a:latin typeface="Arial"/>
                <a:ea typeface="Arial"/>
                <a:cs typeface="Arial"/>
              </a:defRPr>
            </a:lvl5pPr>
            <a:lvl6pPr algn="ctr">
              <a:defRPr sz="1950" b="1">
                <a:solidFill>
                  <a:srgbClr val="0284C7"/>
                </a:solidFill>
                <a:latin typeface="Arial"/>
                <a:ea typeface="Arial"/>
                <a:cs typeface="Arial"/>
              </a:defRPr>
            </a:lvl6pPr>
            <a:lvl7pPr algn="ctr">
              <a:defRPr sz="1950" b="1">
                <a:solidFill>
                  <a:srgbClr val="0284C7"/>
                </a:solidFill>
                <a:latin typeface="Arial"/>
                <a:ea typeface="Arial"/>
                <a:cs typeface="Arial"/>
              </a:defRPr>
            </a:lvl7pPr>
            <a:lvl8pPr algn="ctr">
              <a:defRPr sz="1950" b="1">
                <a:solidFill>
                  <a:srgbClr val="0284C7"/>
                </a:solidFill>
                <a:latin typeface="Arial"/>
                <a:ea typeface="Arial"/>
                <a:cs typeface="Arial"/>
              </a:defRPr>
            </a:lvl8pPr>
            <a:lvl9pPr algn="ctr">
              <a:defRPr sz="1950" b="1">
                <a:solidFill>
                  <a:srgbClr val="0284C7"/>
                </a:solidFill>
                <a:latin typeface="Arial"/>
                <a:ea typeface="Arial"/>
                <a:cs typeface="Arial"/>
              </a:defRPr>
            </a:lvl9pPr>
          </a:lstStyle>
          <a:p xmlns:a="http://schemas.openxmlformats.org/drawingml/2006/main">
            <a:pPr algn="ctr">
              <a:defRPr sz="1950" b="1">
                <a:solidFill>
                  <a:srgbClr val="0284C7"/>
                </a:solidFill>
                <a:latin typeface="Arial"/>
                <a:ea typeface="Arial"/>
                <a:cs typeface="Arial"/>
              </a:defRPr>
            </a:pPr>
            <a:r>
              <a:rPr sz="1950" b="1">
                <a:solidFill>
                  <a:srgbClr val="0284C7"/>
                </a:solidFill>
                <a:latin typeface="Arial"/>
                <a:ea typeface="Arial"/>
                <a:cs typeface="Arial"/>
              </a:rPr>
              <a:t>Percakapan sudah ada</a:t>
            </a:r>
          </a:p>
        </p:txBody>
      </p:sp>
      <p:sp>
        <p:nvSpPr>
          <p:cNvPr id="13" name="text-50">
            <a:extLst xmlns:a="http://schemas.openxmlformats.org/drawingml/2006/main">
              <a:ext uri="{FF2B5EF4-FFF2-40B4-BE49-F238E27FC236}">
                <a16:creationId xmlns:a16="http://schemas.microsoft.com/office/drawing/2014/main" id="{421522D5-F793-43BF-A1FA-5C96A1B2E7BB}"/>
              </a:ext>
            </a:extLst>
          </p:cNvPr>
          <p:cNvSpPr>
            <a:spLocks xmlns:a="http://schemas.openxmlformats.org/drawingml/2006/main" noGrp="1"/>
          </p:cNvSpPr>
          <p:nvPr/>
        </p:nvSpPr>
        <p:spPr>
          <a:xfrm xmlns:a="http://schemas.openxmlformats.org/drawingml/2006/main">
            <a:off x="914400" y="7277100"/>
            <a:ext cx="1276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Pengguna baru dapat mendaftar dari halaman masuk.</a:t>
            </a:r>
          </a:p>
        </p:txBody>
      </p:sp>
    </p:spTree>
    <p:extLst>
      <p:ext uri="{BB962C8B-B14F-4D97-AF65-F5344CB8AC3E}">
        <p14:creationId xmlns:p14="http://schemas.microsoft.com/office/powerpoint/2010/main" val="298455593"/>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51">
            <a:extLst xmlns:a="http://schemas.openxmlformats.org/drawingml/2006/main">
              <a:ext uri="{FF2B5EF4-FFF2-40B4-BE49-F238E27FC236}">
                <a16:creationId xmlns:a16="http://schemas.microsoft.com/office/drawing/2014/main" id="{7AA00396-DF78-4008-85C7-991158C0F7D0}"/>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Registrasi akun</a:t>
            </a:r>
          </a:p>
        </p:txBody>
      </p:sp>
      <p:sp>
        <p:nvSpPr>
          <p:cNvPr id="2" name="text-52">
            <a:extLst xmlns:a="http://schemas.openxmlformats.org/drawingml/2006/main">
              <a:ext uri="{FF2B5EF4-FFF2-40B4-BE49-F238E27FC236}">
                <a16:creationId xmlns:a16="http://schemas.microsoft.com/office/drawing/2014/main" id="{4081BAEE-7BB2-4E31-B4B3-C88DB3032B25}"/>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8</a:t>
            </a:r>
          </a:p>
        </p:txBody>
      </p:sp>
      <p:sp>
        <p:nvSpPr>
          <p:cNvPr id="3" name="text-53">
            <a:extLst xmlns:a="http://schemas.openxmlformats.org/drawingml/2006/main">
              <a:ext uri="{FF2B5EF4-FFF2-40B4-BE49-F238E27FC236}">
                <a16:creationId xmlns:a16="http://schemas.microsoft.com/office/drawing/2014/main" id="{90E956F2-7615-4110-9951-75A7C5AC62F0}"/>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Identitas pengguna menjadi dasar kepemilikan percakapan dan pesan.</a:t>
            </a:r>
          </a:p>
        </p:txBody>
      </p:sp>
      <p:sp>
        <p:nvSpPr>
          <p:cNvPr id="4" name="text-54">
            <a:extLst xmlns:a="http://schemas.openxmlformats.org/drawingml/2006/main">
              <a:ext uri="{FF2B5EF4-FFF2-40B4-BE49-F238E27FC236}">
                <a16:creationId xmlns:a16="http://schemas.microsoft.com/office/drawing/2014/main" id="{5FE8CDFF-8970-4AD4-B2A7-9C9FCF93EAEF}"/>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55">
            <a:extLst xmlns:a="http://schemas.openxmlformats.org/drawingml/2006/main">
              <a:ext uri="{FF2B5EF4-FFF2-40B4-BE49-F238E27FC236}">
                <a16:creationId xmlns:a16="http://schemas.microsoft.com/office/drawing/2014/main" id="{5915C737-C13D-4A81-8B49-7063BEEF3475}"/>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Data awal</a:t>
            </a:r>
          </a:p>
        </p:txBody>
      </p:sp>
      <p:sp>
        <p:nvSpPr>
          <p:cNvPr id="6" name="text-56">
            <a:extLst xmlns:a="http://schemas.openxmlformats.org/drawingml/2006/main">
              <a:ext uri="{FF2B5EF4-FFF2-40B4-BE49-F238E27FC236}">
                <a16:creationId xmlns:a16="http://schemas.microsoft.com/office/drawing/2014/main" id="{9C17DA62-EF42-4119-AA69-548F046B0AF2}"/>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mengisi nama, email, dan password.</a:t>
            </a:r>
          </a:p>
        </p:txBody>
      </p:sp>
      <p:sp>
        <p:nvSpPr>
          <p:cNvPr id="7" name="text-57">
            <a:extLst xmlns:a="http://schemas.openxmlformats.org/drawingml/2006/main">
              <a:ext uri="{FF2B5EF4-FFF2-40B4-BE49-F238E27FC236}">
                <a16:creationId xmlns:a16="http://schemas.microsoft.com/office/drawing/2014/main" id="{D6CC43C4-800D-46AD-9A54-FDE34F74F8F3}"/>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58">
            <a:extLst xmlns:a="http://schemas.openxmlformats.org/drawingml/2006/main">
              <a:ext uri="{FF2B5EF4-FFF2-40B4-BE49-F238E27FC236}">
                <a16:creationId xmlns:a16="http://schemas.microsoft.com/office/drawing/2014/main" id="{ADA0C34B-E926-41EA-9365-6430030D55E8}"/>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Pemeriksaan server</a:t>
            </a:r>
          </a:p>
        </p:txBody>
      </p:sp>
      <p:sp>
        <p:nvSpPr>
          <p:cNvPr id="9" name="text-59">
            <a:extLst xmlns:a="http://schemas.openxmlformats.org/drawingml/2006/main">
              <a:ext uri="{FF2B5EF4-FFF2-40B4-BE49-F238E27FC236}">
                <a16:creationId xmlns:a16="http://schemas.microsoft.com/office/drawing/2014/main" id="{420241DB-35AC-412B-BEE6-5F04EFBB76BC}"/>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Go memvalidasi input dan memastikan email belum terdaftar.</a:t>
            </a:r>
          </a:p>
        </p:txBody>
      </p:sp>
      <p:sp>
        <p:nvSpPr>
          <p:cNvPr id="10" name="text-60">
            <a:extLst xmlns:a="http://schemas.openxmlformats.org/drawingml/2006/main">
              <a:ext uri="{FF2B5EF4-FFF2-40B4-BE49-F238E27FC236}">
                <a16:creationId xmlns:a16="http://schemas.microsoft.com/office/drawing/2014/main" id="{A14DE5B8-B5B2-4F1B-8A22-BED586DC079A}"/>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61">
            <a:extLst xmlns:a="http://schemas.openxmlformats.org/drawingml/2006/main">
              <a:ext uri="{FF2B5EF4-FFF2-40B4-BE49-F238E27FC236}">
                <a16:creationId xmlns:a16="http://schemas.microsoft.com/office/drawing/2014/main" id="{1364D65B-C60E-4EE4-8F93-88941A0C1F78}"/>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Akun dan sesi</a:t>
            </a:r>
          </a:p>
        </p:txBody>
      </p:sp>
      <p:sp>
        <p:nvSpPr>
          <p:cNvPr id="12" name="text-62">
            <a:extLst xmlns:a="http://schemas.openxmlformats.org/drawingml/2006/main">
              <a:ext uri="{FF2B5EF4-FFF2-40B4-BE49-F238E27FC236}">
                <a16:creationId xmlns:a16="http://schemas.microsoft.com/office/drawing/2014/main" id="{4BEF34AF-6CFA-47E0-9480-BDD63CD9B392}"/>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menyimpan hash password lalu membuat sesi pengguna.</a:t>
            </a:r>
          </a:p>
        </p:txBody>
      </p:sp>
      <p:pic>
        <p:nvPicPr>
          <p:cNvPr id="13" name="">
            <a:extLst xmlns:a="http://schemas.openxmlformats.org/drawingml/2006/main">
              <a:ext uri="{FF2B5EF4-FFF2-40B4-BE49-F238E27FC236}">
                <a16:creationId xmlns:a16="http://schemas.microsoft.com/office/drawing/2014/main" id="{90BDEF2C-DE77-4E15-8E41-64C7AAFA94E4}"/>
              </a:ext>
            </a:extLst>
          </p:cNvPr>
          <p:cNvPicPr>
            <a:picLocks xmlns:a="http://schemas.openxmlformats.org/drawingml/2006/main" noChangeAspect="1"/>
          </p:cNvPicPr>
          <p:nvPr/>
        </p:nvPicPr>
        <p:blipFill>
          <a:blip xmlns:r="http://schemas.openxmlformats.org/officeDocument/2006/relationships" xmlns:a="http://schemas.openxmlformats.org/drawingml/2006/main" r:embed="R9f1dee99b1284ffb"/>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47485042"/>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64">
            <a:extLst xmlns:a="http://schemas.openxmlformats.org/drawingml/2006/main">
              <a:ext uri="{FF2B5EF4-FFF2-40B4-BE49-F238E27FC236}">
                <a16:creationId xmlns:a16="http://schemas.microsoft.com/office/drawing/2014/main" id="{46414E10-498D-4AC4-8B67-4B5C071EB69E}"/>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Login dan sesi pengguna</a:t>
            </a:r>
          </a:p>
        </p:txBody>
      </p:sp>
      <p:sp>
        <p:nvSpPr>
          <p:cNvPr id="2" name="text-65">
            <a:extLst xmlns:a="http://schemas.openxmlformats.org/drawingml/2006/main">
              <a:ext uri="{FF2B5EF4-FFF2-40B4-BE49-F238E27FC236}">
                <a16:creationId xmlns:a16="http://schemas.microsoft.com/office/drawing/2014/main" id="{EA308E88-157D-4FE3-B944-BEB9652303DB}"/>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9</a:t>
            </a:r>
          </a:p>
        </p:txBody>
      </p:sp>
      <p:sp>
        <p:nvSpPr>
          <p:cNvPr id="3" name="text-66">
            <a:extLst xmlns:a="http://schemas.openxmlformats.org/drawingml/2006/main">
              <a:ext uri="{FF2B5EF4-FFF2-40B4-BE49-F238E27FC236}">
                <a16:creationId xmlns:a16="http://schemas.microsoft.com/office/drawing/2014/main" id="{73755257-D76A-40CC-BB2D-8EA25E52174F}"/>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Token sesi menghubungkan permintaan aplikasi dengan identitas pengguna.</a:t>
            </a:r>
          </a:p>
        </p:txBody>
      </p:sp>
      <p:sp>
        <p:nvSpPr>
          <p:cNvPr id="4" name="text-67">
            <a:extLst xmlns:a="http://schemas.openxmlformats.org/drawingml/2006/main">
              <a:ext uri="{FF2B5EF4-FFF2-40B4-BE49-F238E27FC236}">
                <a16:creationId xmlns:a16="http://schemas.microsoft.com/office/drawing/2014/main" id="{A405A43B-A0FD-4B94-B41F-024D9E979DEC}"/>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68">
            <a:extLst xmlns:a="http://schemas.openxmlformats.org/drawingml/2006/main">
              <a:ext uri="{FF2B5EF4-FFF2-40B4-BE49-F238E27FC236}">
                <a16:creationId xmlns:a16="http://schemas.microsoft.com/office/drawing/2014/main" id="{F4C30787-B502-4221-A4F9-D7FCF01B5B5A}"/>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Masuk dengan akun</a:t>
            </a:r>
          </a:p>
        </p:txBody>
      </p:sp>
      <p:sp>
        <p:nvSpPr>
          <p:cNvPr id="6" name="text-69">
            <a:extLst xmlns:a="http://schemas.openxmlformats.org/drawingml/2006/main">
              <a:ext uri="{FF2B5EF4-FFF2-40B4-BE49-F238E27FC236}">
                <a16:creationId xmlns:a16="http://schemas.microsoft.com/office/drawing/2014/main" id="{59AEDF30-0177-4E2F-942D-FD7BFFDFDB81}"/>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memeriksa email dan password.</a:t>
            </a:r>
          </a:p>
        </p:txBody>
      </p:sp>
      <p:sp>
        <p:nvSpPr>
          <p:cNvPr id="7" name="text-70">
            <a:extLst xmlns:a="http://schemas.openxmlformats.org/drawingml/2006/main">
              <a:ext uri="{FF2B5EF4-FFF2-40B4-BE49-F238E27FC236}">
                <a16:creationId xmlns:a16="http://schemas.microsoft.com/office/drawing/2014/main" id="{3CFB6FD9-2F7E-4299-A6D0-F6951330C314}"/>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71">
            <a:extLst xmlns:a="http://schemas.openxmlformats.org/drawingml/2006/main">
              <a:ext uri="{FF2B5EF4-FFF2-40B4-BE49-F238E27FC236}">
                <a16:creationId xmlns:a16="http://schemas.microsoft.com/office/drawing/2014/main" id="{7A047856-8838-40AD-A1D9-07020A4E6F9A}"/>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Token sebagai bukti sesi</a:t>
            </a:r>
          </a:p>
        </p:txBody>
      </p:sp>
      <p:sp>
        <p:nvSpPr>
          <p:cNvPr id="9" name="text-72">
            <a:extLst xmlns:a="http://schemas.openxmlformats.org/drawingml/2006/main">
              <a:ext uri="{FF2B5EF4-FFF2-40B4-BE49-F238E27FC236}">
                <a16:creationId xmlns:a16="http://schemas.microsoft.com/office/drawing/2014/main" id="{938D9FC9-A61A-47E3-A734-3DAD54222C0D}"/>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Aplikasi menyimpan token di secure storage dan memakainya saat mengakses API.</a:t>
            </a:r>
          </a:p>
        </p:txBody>
      </p:sp>
      <p:sp>
        <p:nvSpPr>
          <p:cNvPr id="10" name="text-73">
            <a:extLst xmlns:a="http://schemas.openxmlformats.org/drawingml/2006/main">
              <a:ext uri="{FF2B5EF4-FFF2-40B4-BE49-F238E27FC236}">
                <a16:creationId xmlns:a16="http://schemas.microsoft.com/office/drawing/2014/main" id="{9EF3C9F1-39E9-43A8-9FBF-6F484A5BFAEB}"/>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74">
            <a:extLst xmlns:a="http://schemas.openxmlformats.org/drawingml/2006/main">
              <a:ext uri="{FF2B5EF4-FFF2-40B4-BE49-F238E27FC236}">
                <a16:creationId xmlns:a16="http://schemas.microsoft.com/office/drawing/2014/main" id="{106DFE29-D89D-4A09-89AD-E3344E6D7C1E}"/>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Sesi dapat dicabut</a:t>
            </a:r>
          </a:p>
        </p:txBody>
      </p:sp>
      <p:sp>
        <p:nvSpPr>
          <p:cNvPr id="12" name="text-75">
            <a:extLst xmlns:a="http://schemas.openxmlformats.org/drawingml/2006/main">
              <a:ext uri="{FF2B5EF4-FFF2-40B4-BE49-F238E27FC236}">
                <a16:creationId xmlns:a16="http://schemas.microsoft.com/office/drawing/2014/main" id="{993624C5-0528-4EF5-9059-0BC72746D3CC}"/>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Logout menghapus sesi yang aktif di server.</a:t>
            </a:r>
          </a:p>
        </p:txBody>
      </p:sp>
      <p:pic>
        <p:nvPicPr>
          <p:cNvPr id="13" name="">
            <a:extLst xmlns:a="http://schemas.openxmlformats.org/drawingml/2006/main">
              <a:ext uri="{FF2B5EF4-FFF2-40B4-BE49-F238E27FC236}">
                <a16:creationId xmlns:a16="http://schemas.microsoft.com/office/drawing/2014/main" id="{AA514553-D8D7-4E49-9668-78317EACF5A5}"/>
              </a:ext>
            </a:extLst>
          </p:cNvPr>
          <p:cNvPicPr>
            <a:picLocks xmlns:a="http://schemas.openxmlformats.org/drawingml/2006/main" noChangeAspect="1"/>
          </p:cNvPicPr>
          <p:nvPr/>
        </p:nvPicPr>
        <p:blipFill>
          <a:blip xmlns:r="http://schemas.openxmlformats.org/officeDocument/2006/relationships" xmlns:a="http://schemas.openxmlformats.org/drawingml/2006/main" r:embed="Rc6b3bb54843e4192"/>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408345346"/>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77">
            <a:extLst xmlns:a="http://schemas.openxmlformats.org/drawingml/2006/main">
              <a:ext uri="{FF2B5EF4-FFF2-40B4-BE49-F238E27FC236}">
                <a16:creationId xmlns:a16="http://schemas.microsoft.com/office/drawing/2014/main" id="{A7BDA392-0AA7-4ADD-B1A5-968EB91C84B7}"/>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Memilih kontak dan memulai chat</a:t>
            </a:r>
          </a:p>
        </p:txBody>
      </p:sp>
      <p:sp>
        <p:nvSpPr>
          <p:cNvPr id="2" name="text-78">
            <a:extLst xmlns:a="http://schemas.openxmlformats.org/drawingml/2006/main">
              <a:ext uri="{FF2B5EF4-FFF2-40B4-BE49-F238E27FC236}">
                <a16:creationId xmlns:a16="http://schemas.microsoft.com/office/drawing/2014/main" id="{F936A919-8699-406D-B70A-4B966CF40C33}"/>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10</a:t>
            </a:r>
          </a:p>
        </p:txBody>
      </p:sp>
      <p:sp>
        <p:nvSpPr>
          <p:cNvPr id="3" name="text-79">
            <a:extLst xmlns:a="http://schemas.openxmlformats.org/drawingml/2006/main">
              <a:ext uri="{FF2B5EF4-FFF2-40B4-BE49-F238E27FC236}">
                <a16:creationId xmlns:a16="http://schemas.microsoft.com/office/drawing/2014/main" id="{A247619D-1677-46E5-8AEE-E00E633D7F42}"/>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Kontak berasal dari pengguna yang telah bergabung di Ruang.</a:t>
            </a:r>
          </a:p>
        </p:txBody>
      </p:sp>
      <p:sp>
        <p:nvSpPr>
          <p:cNvPr id="4" name="text-80">
            <a:extLst xmlns:a="http://schemas.openxmlformats.org/drawingml/2006/main">
              <a:ext uri="{FF2B5EF4-FFF2-40B4-BE49-F238E27FC236}">
                <a16:creationId xmlns:a16="http://schemas.microsoft.com/office/drawing/2014/main" id="{35DF17B2-1F0C-4562-BA1C-C524C8511AFF}"/>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81">
            <a:extLst xmlns:a="http://schemas.openxmlformats.org/drawingml/2006/main">
              <a:ext uri="{FF2B5EF4-FFF2-40B4-BE49-F238E27FC236}">
                <a16:creationId xmlns:a16="http://schemas.microsoft.com/office/drawing/2014/main" id="{0B525C97-A42E-4A9F-A0AD-A7D67F3F28A4}"/>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Cari berdasarkan nama</a:t>
            </a:r>
          </a:p>
        </p:txBody>
      </p:sp>
      <p:sp>
        <p:nvSpPr>
          <p:cNvPr id="6" name="text-82">
            <a:extLst xmlns:a="http://schemas.openxmlformats.org/drawingml/2006/main">
              <a:ext uri="{FF2B5EF4-FFF2-40B4-BE49-F238E27FC236}">
                <a16:creationId xmlns:a16="http://schemas.microsoft.com/office/drawing/2014/main" id="{19F3114A-9130-4DC6-B83E-378E2F3D2D06}"/>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mengetik nama teman yang ingin dihubungi.</a:t>
            </a:r>
          </a:p>
        </p:txBody>
      </p:sp>
      <p:sp>
        <p:nvSpPr>
          <p:cNvPr id="7" name="text-83">
            <a:extLst xmlns:a="http://schemas.openxmlformats.org/drawingml/2006/main">
              <a:ext uri="{FF2B5EF4-FFF2-40B4-BE49-F238E27FC236}">
                <a16:creationId xmlns:a16="http://schemas.microsoft.com/office/drawing/2014/main" id="{10F1FD9F-7BDB-4E46-AABB-3BCA786510C6}"/>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84">
            <a:extLst xmlns:a="http://schemas.openxmlformats.org/drawingml/2006/main">
              <a:ext uri="{FF2B5EF4-FFF2-40B4-BE49-F238E27FC236}">
                <a16:creationId xmlns:a16="http://schemas.microsoft.com/office/drawing/2014/main" id="{CF10F1D2-798C-43F6-9295-0E0720A7B709}"/>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Pilih lawan bicara</a:t>
            </a:r>
          </a:p>
        </p:txBody>
      </p:sp>
      <p:sp>
        <p:nvSpPr>
          <p:cNvPr id="9" name="text-85">
            <a:extLst xmlns:a="http://schemas.openxmlformats.org/drawingml/2006/main">
              <a:ext uri="{FF2B5EF4-FFF2-40B4-BE49-F238E27FC236}">
                <a16:creationId xmlns:a16="http://schemas.microsoft.com/office/drawing/2014/main" id="{8B468482-FEA6-44FA-8C6F-24D14017D7AA}"/>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membuat atau menemukan percakapan pribadi yang sesuai.</a:t>
            </a:r>
          </a:p>
        </p:txBody>
      </p:sp>
      <p:sp>
        <p:nvSpPr>
          <p:cNvPr id="10" name="text-86">
            <a:extLst xmlns:a="http://schemas.openxmlformats.org/drawingml/2006/main">
              <a:ext uri="{FF2B5EF4-FFF2-40B4-BE49-F238E27FC236}">
                <a16:creationId xmlns:a16="http://schemas.microsoft.com/office/drawing/2014/main" id="{494C2D46-EB9A-40A4-84F9-7C3893011C30}"/>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87">
            <a:extLst xmlns:a="http://schemas.openxmlformats.org/drawingml/2006/main">
              <a:ext uri="{FF2B5EF4-FFF2-40B4-BE49-F238E27FC236}">
                <a16:creationId xmlns:a16="http://schemas.microsoft.com/office/drawing/2014/main" id="{D394F417-4446-4200-B251-A6196C249EAB}"/>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Satu percakapan untuk dua akun</a:t>
            </a:r>
          </a:p>
        </p:txBody>
      </p:sp>
      <p:sp>
        <p:nvSpPr>
          <p:cNvPr id="12" name="text-88">
            <a:extLst xmlns:a="http://schemas.openxmlformats.org/drawingml/2006/main">
              <a:ext uri="{FF2B5EF4-FFF2-40B4-BE49-F238E27FC236}">
                <a16:creationId xmlns:a16="http://schemas.microsoft.com/office/drawing/2014/main" id="{54D6137E-5771-4C2F-8F49-1B2504720572}"/>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Memilih teman yang sama kembali membuka percakapan yang sama.</a:t>
            </a:r>
          </a:p>
        </p:txBody>
      </p:sp>
      <p:pic>
        <p:nvPicPr>
          <p:cNvPr id="13" name="">
            <a:extLst xmlns:a="http://schemas.openxmlformats.org/drawingml/2006/main">
              <a:ext uri="{FF2B5EF4-FFF2-40B4-BE49-F238E27FC236}">
                <a16:creationId xmlns:a16="http://schemas.microsoft.com/office/drawing/2014/main" id="{2F546D9D-86BF-4077-A04B-13DAC14766DC}"/>
              </a:ext>
            </a:extLst>
          </p:cNvPr>
          <p:cNvPicPr>
            <a:picLocks xmlns:a="http://schemas.openxmlformats.org/drawingml/2006/main" noChangeAspect="1"/>
          </p:cNvPicPr>
          <p:nvPr/>
        </p:nvPicPr>
        <p:blipFill>
          <a:blip xmlns:r="http://schemas.openxmlformats.org/officeDocument/2006/relationships" xmlns:a="http://schemas.openxmlformats.org/drawingml/2006/main" r:embed="Rf5639a1af9f14fd4"/>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2060547283"/>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90">
            <a:extLst xmlns:a="http://schemas.openxmlformats.org/drawingml/2006/main">
              <a:ext uri="{FF2B5EF4-FFF2-40B4-BE49-F238E27FC236}">
                <a16:creationId xmlns:a16="http://schemas.microsoft.com/office/drawing/2014/main" id="{A599AFD2-BE33-454C-991A-D8F3F2998C61}"/>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Daftar percakapan</a:t>
            </a:r>
          </a:p>
        </p:txBody>
      </p:sp>
      <p:sp>
        <p:nvSpPr>
          <p:cNvPr id="2" name="text-91">
            <a:extLst xmlns:a="http://schemas.openxmlformats.org/drawingml/2006/main">
              <a:ext uri="{FF2B5EF4-FFF2-40B4-BE49-F238E27FC236}">
                <a16:creationId xmlns:a16="http://schemas.microsoft.com/office/drawing/2014/main" id="{24C2170E-B27F-4DD4-9958-6151D29E56AF}"/>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11</a:t>
            </a:r>
          </a:p>
        </p:txBody>
      </p:sp>
      <p:sp>
        <p:nvSpPr>
          <p:cNvPr id="3" name="text-92">
            <a:extLst xmlns:a="http://schemas.openxmlformats.org/drawingml/2006/main">
              <a:ext uri="{FF2B5EF4-FFF2-40B4-BE49-F238E27FC236}">
                <a16:creationId xmlns:a16="http://schemas.microsoft.com/office/drawing/2014/main" id="{2C811D2E-7E89-4739-9FAF-9AC7E5CC5995}"/>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Ringkasan membantu pengguna menentukan chat yang perlu dibuka.</a:t>
            </a:r>
          </a:p>
        </p:txBody>
      </p:sp>
      <p:sp>
        <p:nvSpPr>
          <p:cNvPr id="4" name="text-93">
            <a:extLst xmlns:a="http://schemas.openxmlformats.org/drawingml/2006/main">
              <a:ext uri="{FF2B5EF4-FFF2-40B4-BE49-F238E27FC236}">
                <a16:creationId xmlns:a16="http://schemas.microsoft.com/office/drawing/2014/main" id="{FF62F9B4-983E-409A-8379-69E3411842DF}"/>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94">
            <a:extLst xmlns:a="http://schemas.openxmlformats.org/drawingml/2006/main">
              <a:ext uri="{FF2B5EF4-FFF2-40B4-BE49-F238E27FC236}">
                <a16:creationId xmlns:a16="http://schemas.microsoft.com/office/drawing/2014/main" id="{56CE2DC2-A156-4FEF-8971-81C1ABB4D00B}"/>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Ringkasan yang relevan</a:t>
            </a:r>
          </a:p>
        </p:txBody>
      </p:sp>
      <p:sp>
        <p:nvSpPr>
          <p:cNvPr id="6" name="text-95">
            <a:extLst xmlns:a="http://schemas.openxmlformats.org/drawingml/2006/main">
              <a:ext uri="{FF2B5EF4-FFF2-40B4-BE49-F238E27FC236}">
                <a16:creationId xmlns:a16="http://schemas.microsoft.com/office/drawing/2014/main" id="{B25EFFB0-7491-4068-9907-41ECF02469C7}"/>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Setiap baris menampilkan kontak, pesan terakhir, waktu, dan jumlah belum dibaca.</a:t>
            </a:r>
          </a:p>
        </p:txBody>
      </p:sp>
      <p:sp>
        <p:nvSpPr>
          <p:cNvPr id="7" name="text-96">
            <a:extLst xmlns:a="http://schemas.openxmlformats.org/drawingml/2006/main">
              <a:ext uri="{FF2B5EF4-FFF2-40B4-BE49-F238E27FC236}">
                <a16:creationId xmlns:a16="http://schemas.microsoft.com/office/drawing/2014/main" id="{AA573AE3-AC77-46E9-A1F4-A57CA1878F0F}"/>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97">
            <a:extLst xmlns:a="http://schemas.openxmlformats.org/drawingml/2006/main">
              <a:ext uri="{FF2B5EF4-FFF2-40B4-BE49-F238E27FC236}">
                <a16:creationId xmlns:a16="http://schemas.microsoft.com/office/drawing/2014/main" id="{2627B16C-65DC-4B93-B992-59E85B429AA0}"/>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Pencarian dan filter</a:t>
            </a:r>
          </a:p>
        </p:txBody>
      </p:sp>
      <p:sp>
        <p:nvSpPr>
          <p:cNvPr id="9" name="text-98">
            <a:extLst xmlns:a="http://schemas.openxmlformats.org/drawingml/2006/main">
              <a:ext uri="{FF2B5EF4-FFF2-40B4-BE49-F238E27FC236}">
                <a16:creationId xmlns:a16="http://schemas.microsoft.com/office/drawing/2014/main" id="{33E0FF9B-5FDE-4C73-B97D-2C40B4714791}"/>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Daftar dapat disaring dengan kata kunci atau status belum dibaca.</a:t>
            </a:r>
          </a:p>
        </p:txBody>
      </p:sp>
      <p:sp>
        <p:nvSpPr>
          <p:cNvPr id="10" name="text-99">
            <a:extLst xmlns:a="http://schemas.openxmlformats.org/drawingml/2006/main">
              <a:ext uri="{FF2B5EF4-FFF2-40B4-BE49-F238E27FC236}">
                <a16:creationId xmlns:a16="http://schemas.microsoft.com/office/drawing/2014/main" id="{B06ABBAE-BAD2-4142-83F8-0F9323FF0E38}"/>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00">
            <a:extLst xmlns:a="http://schemas.openxmlformats.org/drawingml/2006/main">
              <a:ext uri="{FF2B5EF4-FFF2-40B4-BE49-F238E27FC236}">
                <a16:creationId xmlns:a16="http://schemas.microsoft.com/office/drawing/2014/main" id="{11A64B37-C4C6-4E16-9DAF-95BF02EF5F40}"/>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Pembaruan otomatis</a:t>
            </a:r>
          </a:p>
        </p:txBody>
      </p:sp>
      <p:sp>
        <p:nvSpPr>
          <p:cNvPr id="12" name="text-101">
            <a:extLst xmlns:a="http://schemas.openxmlformats.org/drawingml/2006/main">
              <a:ext uri="{FF2B5EF4-FFF2-40B4-BE49-F238E27FC236}">
                <a16:creationId xmlns:a16="http://schemas.microsoft.com/office/drawing/2014/main" id="{A71EE526-67E0-4190-B5CA-EBB824F02288}"/>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Event perubahan memicu pengambilan ulang ringkasan percakapan.</a:t>
            </a:r>
          </a:p>
        </p:txBody>
      </p:sp>
      <p:pic>
        <p:nvPicPr>
          <p:cNvPr id="13" name="">
            <a:extLst xmlns:a="http://schemas.openxmlformats.org/drawingml/2006/main">
              <a:ext uri="{FF2B5EF4-FFF2-40B4-BE49-F238E27FC236}">
                <a16:creationId xmlns:a16="http://schemas.microsoft.com/office/drawing/2014/main" id="{18FD1730-6922-419C-B41A-F2C917B587DB}"/>
              </a:ext>
            </a:extLst>
          </p:cNvPr>
          <p:cNvPicPr>
            <a:picLocks xmlns:a="http://schemas.openxmlformats.org/drawingml/2006/main" noChangeAspect="1"/>
          </p:cNvPicPr>
          <p:nvPr/>
        </p:nvPicPr>
        <p:blipFill>
          <a:blip xmlns:r="http://schemas.openxmlformats.org/officeDocument/2006/relationships" xmlns:a="http://schemas.openxmlformats.org/drawingml/2006/main" r:embed="R455e8f8e30b14b76"/>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431591670"/>
      </p:ext>
    </p:extLst>
  </p:cSld>
</p:sld>
</file>

<file path=ppt/slides/slide1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2" name="text-103">
            <a:extLst xmlns:a="http://schemas.openxmlformats.org/drawingml/2006/main">
              <a:ext uri="{FF2B5EF4-FFF2-40B4-BE49-F238E27FC236}">
                <a16:creationId xmlns:a16="http://schemas.microsoft.com/office/drawing/2014/main" id="{9967A17F-4368-42C5-B82C-C0B19D867115}"/>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Perjalanan satu pesan</a:t>
            </a:r>
          </a:p>
        </p:txBody>
      </p:sp>
      <p:sp>
        <p:nvSpPr>
          <p:cNvPr id="2" name="text-104">
            <a:extLst xmlns:a="http://schemas.openxmlformats.org/drawingml/2006/main">
              <a:ext uri="{FF2B5EF4-FFF2-40B4-BE49-F238E27FC236}">
                <a16:creationId xmlns:a16="http://schemas.microsoft.com/office/drawing/2014/main" id="{AD016C0E-3111-415C-A67F-E30AB1A2CDCF}"/>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Go menyimpan pesan sebelum menyebarkan event perubahan.</a:t>
            </a:r>
          </a:p>
        </p:txBody>
      </p:sp>
      <p:sp>
        <p:nvSpPr>
          <p:cNvPr id="3" name="text-105">
            <a:extLst xmlns:a="http://schemas.openxmlformats.org/drawingml/2006/main">
              <a:ext uri="{FF2B5EF4-FFF2-40B4-BE49-F238E27FC236}">
                <a16:creationId xmlns:a16="http://schemas.microsoft.com/office/drawing/2014/main" id="{8DA2181C-86D5-4608-8696-EF99E27DDC05}"/>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12</a:t>
            </a:r>
          </a:p>
        </p:txBody>
      </p:sp>
      <p:sp>
        <p:nvSpPr>
          <p:cNvPr id="4" name="text-106">
            <a:extLst xmlns:a="http://schemas.openxmlformats.org/drawingml/2006/main">
              <a:ext uri="{FF2B5EF4-FFF2-40B4-BE49-F238E27FC236}">
                <a16:creationId xmlns:a16="http://schemas.microsoft.com/office/drawing/2014/main" id="{F9197E19-882B-43DA-86CA-B6376DC83877}"/>
              </a:ext>
            </a:extLst>
          </p:cNvPr>
          <p:cNvSpPr>
            <a:spLocks xmlns:a="http://schemas.openxmlformats.org/drawingml/2006/main" noGrp="1"/>
          </p:cNvSpPr>
          <p:nvPr/>
        </p:nvSpPr>
        <p:spPr>
          <a:xfrm xmlns:a="http://schemas.openxmlformats.org/drawingml/2006/main">
            <a:off x="952500" y="232410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FFFF"/>
                </a:solidFill>
                <a:latin typeface="Arial"/>
                <a:ea typeface="Arial"/>
                <a:cs typeface="Arial"/>
              </a:defRPr>
            </a:defPPr>
            <a:lvl1pPr algn="ctr">
              <a:defRPr sz="2250" b="1">
                <a:solidFill>
                  <a:srgbClr val="FFFFFF"/>
                </a:solidFill>
                <a:latin typeface="Arial"/>
                <a:ea typeface="Arial"/>
                <a:cs typeface="Arial"/>
              </a:defRPr>
            </a:lvl1pPr>
            <a:lvl2pPr algn="ctr">
              <a:defRPr sz="2250" b="1">
                <a:solidFill>
                  <a:srgbClr val="FFFFFF"/>
                </a:solidFill>
                <a:latin typeface="Arial"/>
                <a:ea typeface="Arial"/>
                <a:cs typeface="Arial"/>
              </a:defRPr>
            </a:lvl2pPr>
            <a:lvl3pPr algn="ctr">
              <a:defRPr sz="2250" b="1">
                <a:solidFill>
                  <a:srgbClr val="FFFFFF"/>
                </a:solidFill>
                <a:latin typeface="Arial"/>
                <a:ea typeface="Arial"/>
                <a:cs typeface="Arial"/>
              </a:defRPr>
            </a:lvl3pPr>
            <a:lvl4pPr algn="ctr">
              <a:defRPr sz="2250" b="1">
                <a:solidFill>
                  <a:srgbClr val="FFFFFF"/>
                </a:solidFill>
                <a:latin typeface="Arial"/>
                <a:ea typeface="Arial"/>
                <a:cs typeface="Arial"/>
              </a:defRPr>
            </a:lvl4pPr>
            <a:lvl5pPr algn="ctr">
              <a:defRPr sz="2250" b="1">
                <a:solidFill>
                  <a:srgbClr val="FFFFFF"/>
                </a:solidFill>
                <a:latin typeface="Arial"/>
                <a:ea typeface="Arial"/>
                <a:cs typeface="Arial"/>
              </a:defRPr>
            </a:lvl5pPr>
            <a:lvl6pPr algn="ctr">
              <a:defRPr sz="2250" b="1">
                <a:solidFill>
                  <a:srgbClr val="FFFFFF"/>
                </a:solidFill>
                <a:latin typeface="Arial"/>
                <a:ea typeface="Arial"/>
                <a:cs typeface="Arial"/>
              </a:defRPr>
            </a:lvl6pPr>
            <a:lvl7pPr algn="ctr">
              <a:defRPr sz="2250" b="1">
                <a:solidFill>
                  <a:srgbClr val="FFFFFF"/>
                </a:solidFill>
                <a:latin typeface="Arial"/>
                <a:ea typeface="Arial"/>
                <a:cs typeface="Arial"/>
              </a:defRPr>
            </a:lvl7pPr>
            <a:lvl8pPr algn="ctr">
              <a:defRPr sz="2250" b="1">
                <a:solidFill>
                  <a:srgbClr val="FFFFFF"/>
                </a:solidFill>
                <a:latin typeface="Arial"/>
                <a:ea typeface="Arial"/>
                <a:cs typeface="Arial"/>
              </a:defRPr>
            </a:lvl8pPr>
            <a:lvl9pPr algn="ctr">
              <a:defRPr sz="2250" b="1">
                <a:solidFill>
                  <a:srgbClr val="FFFFFF"/>
                </a:solidFill>
                <a:latin typeface="Arial"/>
                <a:ea typeface="Arial"/>
                <a:cs typeface="Arial"/>
              </a:defRPr>
            </a:lvl9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Flutter Rina</a:t>
            </a:r>
          </a:p>
        </p:txBody>
      </p:sp>
      <p:cxnSp>
        <p:nvCxnSpPr>
          <p:cNvPr id="5" name="line-107">
            <a:extLst xmlns:a="http://schemas.openxmlformats.org/drawingml/2006/main">
              <a:ext uri="{FF2B5EF4-FFF2-40B4-BE49-F238E27FC236}">
                <a16:creationId xmlns:a16="http://schemas.microsoft.com/office/drawing/2014/main" id="{AA9396A9-4011-4304-A20C-7E08B4DA86F7}"/>
              </a:ext>
            </a:extLst>
          </p:cNvPr>
          <p:cNvCxnSpPr/>
          <p:nvPr/>
        </p:nvCxnSpPr>
        <p:spPr>
          <a:xfrm xmlns:a="http://schemas.openxmlformats.org/drawingml/2006/main">
            <a:off x="2286000" y="2857500"/>
            <a:ext cx="0" cy="4476750"/>
          </a:xfrm>
          <a:prstGeom xmlns:a="http://schemas.openxmlformats.org/drawingml/2006/main" prst="straightConnector1">
            <a:avLst/>
          </a:prstGeom>
          <a:ln xmlns:a="http://schemas.openxmlformats.org/drawingml/2006/main" w="19050">
            <a:solidFill>
              <a:srgbClr val="334155"/>
            </a:solidFill>
            <a:prstDash val="dash"/>
          </a:ln>
        </p:spPr>
      </p:cxnSp>
      <p:sp>
        <p:nvSpPr>
          <p:cNvPr id="6" name="text-108">
            <a:extLst xmlns:a="http://schemas.openxmlformats.org/drawingml/2006/main">
              <a:ext uri="{FF2B5EF4-FFF2-40B4-BE49-F238E27FC236}">
                <a16:creationId xmlns:a16="http://schemas.microsoft.com/office/drawing/2014/main" id="{55EA1734-4AE5-41A5-90EF-D6ACEA843B89}"/>
              </a:ext>
            </a:extLst>
          </p:cNvPr>
          <p:cNvSpPr>
            <a:spLocks xmlns:a="http://schemas.openxmlformats.org/drawingml/2006/main" noGrp="1"/>
          </p:cNvSpPr>
          <p:nvPr/>
        </p:nvSpPr>
        <p:spPr>
          <a:xfrm xmlns:a="http://schemas.openxmlformats.org/drawingml/2006/main">
            <a:off x="4476750" y="232410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FFFF"/>
                </a:solidFill>
                <a:latin typeface="Arial"/>
                <a:ea typeface="Arial"/>
                <a:cs typeface="Arial"/>
              </a:defRPr>
            </a:defPPr>
            <a:lvl1pPr algn="ctr">
              <a:defRPr sz="2250" b="1">
                <a:solidFill>
                  <a:srgbClr val="FFFFFF"/>
                </a:solidFill>
                <a:latin typeface="Arial"/>
                <a:ea typeface="Arial"/>
                <a:cs typeface="Arial"/>
              </a:defRPr>
            </a:lvl1pPr>
            <a:lvl2pPr algn="ctr">
              <a:defRPr sz="2250" b="1">
                <a:solidFill>
                  <a:srgbClr val="FFFFFF"/>
                </a:solidFill>
                <a:latin typeface="Arial"/>
                <a:ea typeface="Arial"/>
                <a:cs typeface="Arial"/>
              </a:defRPr>
            </a:lvl2pPr>
            <a:lvl3pPr algn="ctr">
              <a:defRPr sz="2250" b="1">
                <a:solidFill>
                  <a:srgbClr val="FFFFFF"/>
                </a:solidFill>
                <a:latin typeface="Arial"/>
                <a:ea typeface="Arial"/>
                <a:cs typeface="Arial"/>
              </a:defRPr>
            </a:lvl3pPr>
            <a:lvl4pPr algn="ctr">
              <a:defRPr sz="2250" b="1">
                <a:solidFill>
                  <a:srgbClr val="FFFFFF"/>
                </a:solidFill>
                <a:latin typeface="Arial"/>
                <a:ea typeface="Arial"/>
                <a:cs typeface="Arial"/>
              </a:defRPr>
            </a:lvl4pPr>
            <a:lvl5pPr algn="ctr">
              <a:defRPr sz="2250" b="1">
                <a:solidFill>
                  <a:srgbClr val="FFFFFF"/>
                </a:solidFill>
                <a:latin typeface="Arial"/>
                <a:ea typeface="Arial"/>
                <a:cs typeface="Arial"/>
              </a:defRPr>
            </a:lvl5pPr>
            <a:lvl6pPr algn="ctr">
              <a:defRPr sz="2250" b="1">
                <a:solidFill>
                  <a:srgbClr val="FFFFFF"/>
                </a:solidFill>
                <a:latin typeface="Arial"/>
                <a:ea typeface="Arial"/>
                <a:cs typeface="Arial"/>
              </a:defRPr>
            </a:lvl6pPr>
            <a:lvl7pPr algn="ctr">
              <a:defRPr sz="2250" b="1">
                <a:solidFill>
                  <a:srgbClr val="FFFFFF"/>
                </a:solidFill>
                <a:latin typeface="Arial"/>
                <a:ea typeface="Arial"/>
                <a:cs typeface="Arial"/>
              </a:defRPr>
            </a:lvl7pPr>
            <a:lvl8pPr algn="ctr">
              <a:defRPr sz="2250" b="1">
                <a:solidFill>
                  <a:srgbClr val="FFFFFF"/>
                </a:solidFill>
                <a:latin typeface="Arial"/>
                <a:ea typeface="Arial"/>
                <a:cs typeface="Arial"/>
              </a:defRPr>
            </a:lvl8pPr>
            <a:lvl9pPr algn="ctr">
              <a:defRPr sz="2250" b="1">
                <a:solidFill>
                  <a:srgbClr val="FFFFFF"/>
                </a:solidFill>
                <a:latin typeface="Arial"/>
                <a:ea typeface="Arial"/>
                <a:cs typeface="Arial"/>
              </a:defRPr>
            </a:lvl9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Layanan Go</a:t>
            </a:r>
          </a:p>
        </p:txBody>
      </p:sp>
      <p:cxnSp>
        <p:nvCxnSpPr>
          <p:cNvPr id="7" name="line-109">
            <a:extLst xmlns:a="http://schemas.openxmlformats.org/drawingml/2006/main">
              <a:ext uri="{FF2B5EF4-FFF2-40B4-BE49-F238E27FC236}">
                <a16:creationId xmlns:a16="http://schemas.microsoft.com/office/drawing/2014/main" id="{957D7023-4307-4FD4-925D-FAEB7BC63532}"/>
              </a:ext>
            </a:extLst>
          </p:cNvPr>
          <p:cNvCxnSpPr/>
          <p:nvPr/>
        </p:nvCxnSpPr>
        <p:spPr>
          <a:xfrm xmlns:a="http://schemas.openxmlformats.org/drawingml/2006/main">
            <a:off x="5810250" y="2857500"/>
            <a:ext cx="0" cy="4476750"/>
          </a:xfrm>
          <a:prstGeom xmlns:a="http://schemas.openxmlformats.org/drawingml/2006/main" prst="straightConnector1">
            <a:avLst/>
          </a:prstGeom>
          <a:ln xmlns:a="http://schemas.openxmlformats.org/drawingml/2006/main" w="19050">
            <a:solidFill>
              <a:srgbClr val="334155"/>
            </a:solidFill>
            <a:prstDash val="dash"/>
          </a:ln>
        </p:spPr>
      </p:cxnSp>
      <p:sp>
        <p:nvSpPr>
          <p:cNvPr id="8" name="text-110">
            <a:extLst xmlns:a="http://schemas.openxmlformats.org/drawingml/2006/main">
              <a:ext uri="{FF2B5EF4-FFF2-40B4-BE49-F238E27FC236}">
                <a16:creationId xmlns:a16="http://schemas.microsoft.com/office/drawing/2014/main" id="{52454683-37CC-4616-A1C8-627C22F1CAF1}"/>
              </a:ext>
            </a:extLst>
          </p:cNvPr>
          <p:cNvSpPr>
            <a:spLocks xmlns:a="http://schemas.openxmlformats.org/drawingml/2006/main" noGrp="1"/>
          </p:cNvSpPr>
          <p:nvPr/>
        </p:nvSpPr>
        <p:spPr>
          <a:xfrm xmlns:a="http://schemas.openxmlformats.org/drawingml/2006/main">
            <a:off x="8001000" y="232410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FFFF"/>
                </a:solidFill>
                <a:latin typeface="Arial"/>
                <a:ea typeface="Arial"/>
                <a:cs typeface="Arial"/>
              </a:defRPr>
            </a:defPPr>
            <a:lvl1pPr algn="ctr">
              <a:defRPr sz="2250" b="1">
                <a:solidFill>
                  <a:srgbClr val="FFFFFF"/>
                </a:solidFill>
                <a:latin typeface="Arial"/>
                <a:ea typeface="Arial"/>
                <a:cs typeface="Arial"/>
              </a:defRPr>
            </a:lvl1pPr>
            <a:lvl2pPr algn="ctr">
              <a:defRPr sz="2250" b="1">
                <a:solidFill>
                  <a:srgbClr val="FFFFFF"/>
                </a:solidFill>
                <a:latin typeface="Arial"/>
                <a:ea typeface="Arial"/>
                <a:cs typeface="Arial"/>
              </a:defRPr>
            </a:lvl2pPr>
            <a:lvl3pPr algn="ctr">
              <a:defRPr sz="2250" b="1">
                <a:solidFill>
                  <a:srgbClr val="FFFFFF"/>
                </a:solidFill>
                <a:latin typeface="Arial"/>
                <a:ea typeface="Arial"/>
                <a:cs typeface="Arial"/>
              </a:defRPr>
            </a:lvl3pPr>
            <a:lvl4pPr algn="ctr">
              <a:defRPr sz="2250" b="1">
                <a:solidFill>
                  <a:srgbClr val="FFFFFF"/>
                </a:solidFill>
                <a:latin typeface="Arial"/>
                <a:ea typeface="Arial"/>
                <a:cs typeface="Arial"/>
              </a:defRPr>
            </a:lvl4pPr>
            <a:lvl5pPr algn="ctr">
              <a:defRPr sz="2250" b="1">
                <a:solidFill>
                  <a:srgbClr val="FFFFFF"/>
                </a:solidFill>
                <a:latin typeface="Arial"/>
                <a:ea typeface="Arial"/>
                <a:cs typeface="Arial"/>
              </a:defRPr>
            </a:lvl5pPr>
            <a:lvl6pPr algn="ctr">
              <a:defRPr sz="2250" b="1">
                <a:solidFill>
                  <a:srgbClr val="FFFFFF"/>
                </a:solidFill>
                <a:latin typeface="Arial"/>
                <a:ea typeface="Arial"/>
                <a:cs typeface="Arial"/>
              </a:defRPr>
            </a:lvl6pPr>
            <a:lvl7pPr algn="ctr">
              <a:defRPr sz="2250" b="1">
                <a:solidFill>
                  <a:srgbClr val="FFFFFF"/>
                </a:solidFill>
                <a:latin typeface="Arial"/>
                <a:ea typeface="Arial"/>
                <a:cs typeface="Arial"/>
              </a:defRPr>
            </a:lvl7pPr>
            <a:lvl8pPr algn="ctr">
              <a:defRPr sz="2250" b="1">
                <a:solidFill>
                  <a:srgbClr val="FFFFFF"/>
                </a:solidFill>
                <a:latin typeface="Arial"/>
                <a:ea typeface="Arial"/>
                <a:cs typeface="Arial"/>
              </a:defRPr>
            </a:lvl8pPr>
            <a:lvl9pPr algn="ctr">
              <a:defRPr sz="2250" b="1">
                <a:solidFill>
                  <a:srgbClr val="FFFFFF"/>
                </a:solidFill>
                <a:latin typeface="Arial"/>
                <a:ea typeface="Arial"/>
                <a:cs typeface="Arial"/>
              </a:defRPr>
            </a:lvl9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PostgreSQL</a:t>
            </a:r>
          </a:p>
        </p:txBody>
      </p:sp>
      <p:cxnSp>
        <p:nvCxnSpPr>
          <p:cNvPr id="9" name="line-111">
            <a:extLst xmlns:a="http://schemas.openxmlformats.org/drawingml/2006/main">
              <a:ext uri="{FF2B5EF4-FFF2-40B4-BE49-F238E27FC236}">
                <a16:creationId xmlns:a16="http://schemas.microsoft.com/office/drawing/2014/main" id="{BC8E07DD-8DAB-4271-A823-07C5A4AAA347}"/>
              </a:ext>
            </a:extLst>
          </p:cNvPr>
          <p:cNvCxnSpPr/>
          <p:nvPr/>
        </p:nvCxnSpPr>
        <p:spPr>
          <a:xfrm xmlns:a="http://schemas.openxmlformats.org/drawingml/2006/main">
            <a:off x="9334500" y="2857500"/>
            <a:ext cx="0" cy="4476750"/>
          </a:xfrm>
          <a:prstGeom xmlns:a="http://schemas.openxmlformats.org/drawingml/2006/main" prst="straightConnector1">
            <a:avLst/>
          </a:prstGeom>
          <a:ln xmlns:a="http://schemas.openxmlformats.org/drawingml/2006/main" w="19050">
            <a:solidFill>
              <a:srgbClr val="334155"/>
            </a:solidFill>
            <a:prstDash val="dash"/>
          </a:ln>
        </p:spPr>
      </p:cxnSp>
      <p:sp>
        <p:nvSpPr>
          <p:cNvPr id="10" name="text-112">
            <a:extLst xmlns:a="http://schemas.openxmlformats.org/drawingml/2006/main">
              <a:ext uri="{FF2B5EF4-FFF2-40B4-BE49-F238E27FC236}">
                <a16:creationId xmlns:a16="http://schemas.microsoft.com/office/drawing/2014/main" id="{8E5E9593-9CEB-4D83-847F-40FCA181A855}"/>
              </a:ext>
            </a:extLst>
          </p:cNvPr>
          <p:cNvSpPr>
            <a:spLocks xmlns:a="http://schemas.openxmlformats.org/drawingml/2006/main" noGrp="1"/>
          </p:cNvSpPr>
          <p:nvPr/>
        </p:nvSpPr>
        <p:spPr>
          <a:xfrm xmlns:a="http://schemas.openxmlformats.org/drawingml/2006/main">
            <a:off x="11525250" y="232410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FFFFFF"/>
                </a:solidFill>
                <a:latin typeface="Arial"/>
                <a:ea typeface="Arial"/>
                <a:cs typeface="Arial"/>
              </a:defRPr>
            </a:defPPr>
            <a:lvl1pPr algn="ctr">
              <a:defRPr sz="2250" b="1">
                <a:solidFill>
                  <a:srgbClr val="FFFFFF"/>
                </a:solidFill>
                <a:latin typeface="Arial"/>
                <a:ea typeface="Arial"/>
                <a:cs typeface="Arial"/>
              </a:defRPr>
            </a:lvl1pPr>
            <a:lvl2pPr algn="ctr">
              <a:defRPr sz="2250" b="1">
                <a:solidFill>
                  <a:srgbClr val="FFFFFF"/>
                </a:solidFill>
                <a:latin typeface="Arial"/>
                <a:ea typeface="Arial"/>
                <a:cs typeface="Arial"/>
              </a:defRPr>
            </a:lvl2pPr>
            <a:lvl3pPr algn="ctr">
              <a:defRPr sz="2250" b="1">
                <a:solidFill>
                  <a:srgbClr val="FFFFFF"/>
                </a:solidFill>
                <a:latin typeface="Arial"/>
                <a:ea typeface="Arial"/>
                <a:cs typeface="Arial"/>
              </a:defRPr>
            </a:lvl3pPr>
            <a:lvl4pPr algn="ctr">
              <a:defRPr sz="2250" b="1">
                <a:solidFill>
                  <a:srgbClr val="FFFFFF"/>
                </a:solidFill>
                <a:latin typeface="Arial"/>
                <a:ea typeface="Arial"/>
                <a:cs typeface="Arial"/>
              </a:defRPr>
            </a:lvl4pPr>
            <a:lvl5pPr algn="ctr">
              <a:defRPr sz="2250" b="1">
                <a:solidFill>
                  <a:srgbClr val="FFFFFF"/>
                </a:solidFill>
                <a:latin typeface="Arial"/>
                <a:ea typeface="Arial"/>
                <a:cs typeface="Arial"/>
              </a:defRPr>
            </a:lvl5pPr>
            <a:lvl6pPr algn="ctr">
              <a:defRPr sz="2250" b="1">
                <a:solidFill>
                  <a:srgbClr val="FFFFFF"/>
                </a:solidFill>
                <a:latin typeface="Arial"/>
                <a:ea typeface="Arial"/>
                <a:cs typeface="Arial"/>
              </a:defRPr>
            </a:lvl6pPr>
            <a:lvl7pPr algn="ctr">
              <a:defRPr sz="2250" b="1">
                <a:solidFill>
                  <a:srgbClr val="FFFFFF"/>
                </a:solidFill>
                <a:latin typeface="Arial"/>
                <a:ea typeface="Arial"/>
                <a:cs typeface="Arial"/>
              </a:defRPr>
            </a:lvl7pPr>
            <a:lvl8pPr algn="ctr">
              <a:defRPr sz="2250" b="1">
                <a:solidFill>
                  <a:srgbClr val="FFFFFF"/>
                </a:solidFill>
                <a:latin typeface="Arial"/>
                <a:ea typeface="Arial"/>
                <a:cs typeface="Arial"/>
              </a:defRPr>
            </a:lvl8pPr>
            <a:lvl9pPr algn="ctr">
              <a:defRPr sz="2250" b="1">
                <a:solidFill>
                  <a:srgbClr val="FFFFFF"/>
                </a:solidFill>
                <a:latin typeface="Arial"/>
                <a:ea typeface="Arial"/>
                <a:cs typeface="Arial"/>
              </a:defRPr>
            </a:lvl9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Flutter Andi</a:t>
            </a:r>
          </a:p>
        </p:txBody>
      </p:sp>
      <p:cxnSp>
        <p:nvCxnSpPr>
          <p:cNvPr id="11" name="line-113">
            <a:extLst xmlns:a="http://schemas.openxmlformats.org/drawingml/2006/main">
              <a:ext uri="{FF2B5EF4-FFF2-40B4-BE49-F238E27FC236}">
                <a16:creationId xmlns:a16="http://schemas.microsoft.com/office/drawing/2014/main" id="{7757F413-5F54-4212-8EF6-5E0870927752}"/>
              </a:ext>
            </a:extLst>
          </p:cNvPr>
          <p:cNvCxnSpPr/>
          <p:nvPr/>
        </p:nvCxnSpPr>
        <p:spPr>
          <a:xfrm xmlns:a="http://schemas.openxmlformats.org/drawingml/2006/main">
            <a:off x="12858750" y="2857500"/>
            <a:ext cx="0" cy="4476750"/>
          </a:xfrm>
          <a:prstGeom xmlns:a="http://schemas.openxmlformats.org/drawingml/2006/main" prst="straightConnector1">
            <a:avLst/>
          </a:prstGeom>
          <a:ln xmlns:a="http://schemas.openxmlformats.org/drawingml/2006/main" w="19050">
            <a:solidFill>
              <a:srgbClr val="334155"/>
            </a:solidFill>
            <a:prstDash val="dash"/>
          </a:ln>
        </p:spPr>
      </p:cxnSp>
      <p:cxnSp>
        <p:nvCxnSpPr>
          <p:cNvPr id="12" name="line-114">
            <a:extLst xmlns:a="http://schemas.openxmlformats.org/drawingml/2006/main">
              <a:ext uri="{FF2B5EF4-FFF2-40B4-BE49-F238E27FC236}">
                <a16:creationId xmlns:a16="http://schemas.microsoft.com/office/drawing/2014/main" id="{5E06ED50-6C2A-4A42-93D4-687D08709093}"/>
              </a:ext>
            </a:extLst>
          </p:cNvPr>
          <p:cNvCxnSpPr/>
          <p:nvPr/>
        </p:nvCxnSpPr>
        <p:spPr>
          <a:xfrm xmlns:a="http://schemas.openxmlformats.org/drawingml/2006/main">
            <a:off x="2286000" y="3333750"/>
            <a:ext cx="3524250" cy="0"/>
          </a:xfrm>
          <a:prstGeom xmlns:a="http://schemas.openxmlformats.org/drawingml/2006/main" prst="straightConnector1">
            <a:avLst/>
          </a:prstGeom>
          <a:ln xmlns:a="http://schemas.openxmlformats.org/drawingml/2006/main" w="28575">
            <a:solidFill>
              <a:srgbClr val="38BDF8"/>
            </a:solidFill>
            <a:prstDash val="solid"/>
            <a:tailEnd type="triangle" w="med" len="med"/>
          </a:ln>
        </p:spPr>
      </p:cxnSp>
      <p:sp>
        <p:nvSpPr>
          <p:cNvPr id="13" name="text-115">
            <a:extLst xmlns:a="http://schemas.openxmlformats.org/drawingml/2006/main">
              <a:ext uri="{FF2B5EF4-FFF2-40B4-BE49-F238E27FC236}">
                <a16:creationId xmlns:a16="http://schemas.microsoft.com/office/drawing/2014/main" id="{206D5E36-7812-418D-9AA8-F86E32140A3F}"/>
              </a:ext>
            </a:extLst>
          </p:cNvPr>
          <p:cNvSpPr>
            <a:spLocks xmlns:a="http://schemas.openxmlformats.org/drawingml/2006/main" noGrp="1"/>
          </p:cNvSpPr>
          <p:nvPr/>
        </p:nvSpPr>
        <p:spPr>
          <a:xfrm xmlns:a="http://schemas.openxmlformats.org/drawingml/2006/main">
            <a:off x="2457450" y="2847975"/>
            <a:ext cx="318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CBD5E1"/>
                </a:solidFill>
                <a:latin typeface="Arial"/>
                <a:ea typeface="Arial"/>
                <a:cs typeface="Arial"/>
              </a:defRPr>
            </a:defPPr>
            <a:lvl1pPr algn="ctr">
              <a:defRPr sz="1875" b="1">
                <a:solidFill>
                  <a:srgbClr val="CBD5E1"/>
                </a:solidFill>
                <a:latin typeface="Arial"/>
                <a:ea typeface="Arial"/>
                <a:cs typeface="Arial"/>
              </a:defRPr>
            </a:lvl1pPr>
            <a:lvl2pPr algn="ctr">
              <a:defRPr sz="1875" b="1">
                <a:solidFill>
                  <a:srgbClr val="CBD5E1"/>
                </a:solidFill>
                <a:latin typeface="Arial"/>
                <a:ea typeface="Arial"/>
                <a:cs typeface="Arial"/>
              </a:defRPr>
            </a:lvl2pPr>
            <a:lvl3pPr algn="ctr">
              <a:defRPr sz="1875" b="1">
                <a:solidFill>
                  <a:srgbClr val="CBD5E1"/>
                </a:solidFill>
                <a:latin typeface="Arial"/>
                <a:ea typeface="Arial"/>
                <a:cs typeface="Arial"/>
              </a:defRPr>
            </a:lvl3pPr>
            <a:lvl4pPr algn="ctr">
              <a:defRPr sz="1875" b="1">
                <a:solidFill>
                  <a:srgbClr val="CBD5E1"/>
                </a:solidFill>
                <a:latin typeface="Arial"/>
                <a:ea typeface="Arial"/>
                <a:cs typeface="Arial"/>
              </a:defRPr>
            </a:lvl4pPr>
            <a:lvl5pPr algn="ctr">
              <a:defRPr sz="1875" b="1">
                <a:solidFill>
                  <a:srgbClr val="CBD5E1"/>
                </a:solidFill>
                <a:latin typeface="Arial"/>
                <a:ea typeface="Arial"/>
                <a:cs typeface="Arial"/>
              </a:defRPr>
            </a:lvl5pPr>
            <a:lvl6pPr algn="ctr">
              <a:defRPr sz="1875" b="1">
                <a:solidFill>
                  <a:srgbClr val="CBD5E1"/>
                </a:solidFill>
                <a:latin typeface="Arial"/>
                <a:ea typeface="Arial"/>
                <a:cs typeface="Arial"/>
              </a:defRPr>
            </a:lvl6pPr>
            <a:lvl7pPr algn="ctr">
              <a:defRPr sz="1875" b="1">
                <a:solidFill>
                  <a:srgbClr val="CBD5E1"/>
                </a:solidFill>
                <a:latin typeface="Arial"/>
                <a:ea typeface="Arial"/>
                <a:cs typeface="Arial"/>
              </a:defRPr>
            </a:lvl7pPr>
            <a:lvl8pPr algn="ctr">
              <a:defRPr sz="1875" b="1">
                <a:solidFill>
                  <a:srgbClr val="CBD5E1"/>
                </a:solidFill>
                <a:latin typeface="Arial"/>
                <a:ea typeface="Arial"/>
                <a:cs typeface="Arial"/>
              </a:defRPr>
            </a:lvl8pPr>
            <a:lvl9pPr algn="ctr">
              <a:defRPr sz="1875" b="1">
                <a:solidFill>
                  <a:srgbClr val="CBD5E1"/>
                </a:solidFill>
                <a:latin typeface="Arial"/>
                <a:ea typeface="Arial"/>
                <a:cs typeface="Arial"/>
              </a:defRPr>
            </a:lvl9pPr>
          </a:lstStyle>
          <a:p xmlns:a="http://schemas.openxmlformats.org/drawingml/2006/main">
            <a:pPr algn="ctr">
              <a:defRPr sz="1875" b="1">
                <a:solidFill>
                  <a:srgbClr val="CBD5E1"/>
                </a:solidFill>
                <a:latin typeface="Arial"/>
                <a:ea typeface="Arial"/>
                <a:cs typeface="Arial"/>
              </a:defRPr>
            </a:pPr>
            <a:r>
              <a:rPr sz="1875" b="1">
                <a:solidFill>
                  <a:srgbClr val="CBD5E1"/>
                </a:solidFill>
                <a:latin typeface="Arial"/>
                <a:ea typeface="Arial"/>
                <a:cs typeface="Arial"/>
              </a:rPr>
              <a:t>1. Kirim pesan (REST)</a:t>
            </a:r>
          </a:p>
        </p:txBody>
      </p:sp>
      <p:cxnSp>
        <p:nvCxnSpPr>
          <p:cNvPr id="14" name="line-116">
            <a:extLst xmlns:a="http://schemas.openxmlformats.org/drawingml/2006/main">
              <a:ext uri="{FF2B5EF4-FFF2-40B4-BE49-F238E27FC236}">
                <a16:creationId xmlns:a16="http://schemas.microsoft.com/office/drawing/2014/main" id="{AF969E38-0C70-4482-B306-9A5929CF2314}"/>
              </a:ext>
            </a:extLst>
          </p:cNvPr>
          <p:cNvCxnSpPr/>
          <p:nvPr/>
        </p:nvCxnSpPr>
        <p:spPr>
          <a:xfrm xmlns:a="http://schemas.openxmlformats.org/drawingml/2006/main">
            <a:off x="5810250" y="4191000"/>
            <a:ext cx="3524250" cy="0"/>
          </a:xfrm>
          <a:prstGeom xmlns:a="http://schemas.openxmlformats.org/drawingml/2006/main" prst="straightConnector1">
            <a:avLst/>
          </a:prstGeom>
          <a:ln xmlns:a="http://schemas.openxmlformats.org/drawingml/2006/main" w="28575">
            <a:solidFill>
              <a:srgbClr val="38BDF8"/>
            </a:solidFill>
            <a:prstDash val="solid"/>
            <a:tailEnd type="triangle" w="med" len="med"/>
          </a:ln>
        </p:spPr>
      </p:cxnSp>
      <p:sp>
        <p:nvSpPr>
          <p:cNvPr id="15" name="text-117">
            <a:extLst xmlns:a="http://schemas.openxmlformats.org/drawingml/2006/main">
              <a:ext uri="{FF2B5EF4-FFF2-40B4-BE49-F238E27FC236}">
                <a16:creationId xmlns:a16="http://schemas.microsoft.com/office/drawing/2014/main" id="{6563AFFA-F6FD-4AB0-BE22-99E744380864}"/>
              </a:ext>
            </a:extLst>
          </p:cNvPr>
          <p:cNvSpPr>
            <a:spLocks xmlns:a="http://schemas.openxmlformats.org/drawingml/2006/main" noGrp="1"/>
          </p:cNvSpPr>
          <p:nvPr/>
        </p:nvSpPr>
        <p:spPr>
          <a:xfrm xmlns:a="http://schemas.openxmlformats.org/drawingml/2006/main">
            <a:off x="5981700" y="3705225"/>
            <a:ext cx="318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CBD5E1"/>
                </a:solidFill>
                <a:latin typeface="Arial"/>
                <a:ea typeface="Arial"/>
                <a:cs typeface="Arial"/>
              </a:defRPr>
            </a:defPPr>
            <a:lvl1pPr algn="ctr">
              <a:defRPr sz="1875" b="1">
                <a:solidFill>
                  <a:srgbClr val="CBD5E1"/>
                </a:solidFill>
                <a:latin typeface="Arial"/>
                <a:ea typeface="Arial"/>
                <a:cs typeface="Arial"/>
              </a:defRPr>
            </a:lvl1pPr>
            <a:lvl2pPr algn="ctr">
              <a:defRPr sz="1875" b="1">
                <a:solidFill>
                  <a:srgbClr val="CBD5E1"/>
                </a:solidFill>
                <a:latin typeface="Arial"/>
                <a:ea typeface="Arial"/>
                <a:cs typeface="Arial"/>
              </a:defRPr>
            </a:lvl2pPr>
            <a:lvl3pPr algn="ctr">
              <a:defRPr sz="1875" b="1">
                <a:solidFill>
                  <a:srgbClr val="CBD5E1"/>
                </a:solidFill>
                <a:latin typeface="Arial"/>
                <a:ea typeface="Arial"/>
                <a:cs typeface="Arial"/>
              </a:defRPr>
            </a:lvl3pPr>
            <a:lvl4pPr algn="ctr">
              <a:defRPr sz="1875" b="1">
                <a:solidFill>
                  <a:srgbClr val="CBD5E1"/>
                </a:solidFill>
                <a:latin typeface="Arial"/>
                <a:ea typeface="Arial"/>
                <a:cs typeface="Arial"/>
              </a:defRPr>
            </a:lvl4pPr>
            <a:lvl5pPr algn="ctr">
              <a:defRPr sz="1875" b="1">
                <a:solidFill>
                  <a:srgbClr val="CBD5E1"/>
                </a:solidFill>
                <a:latin typeface="Arial"/>
                <a:ea typeface="Arial"/>
                <a:cs typeface="Arial"/>
              </a:defRPr>
            </a:lvl5pPr>
            <a:lvl6pPr algn="ctr">
              <a:defRPr sz="1875" b="1">
                <a:solidFill>
                  <a:srgbClr val="CBD5E1"/>
                </a:solidFill>
                <a:latin typeface="Arial"/>
                <a:ea typeface="Arial"/>
                <a:cs typeface="Arial"/>
              </a:defRPr>
            </a:lvl6pPr>
            <a:lvl7pPr algn="ctr">
              <a:defRPr sz="1875" b="1">
                <a:solidFill>
                  <a:srgbClr val="CBD5E1"/>
                </a:solidFill>
                <a:latin typeface="Arial"/>
                <a:ea typeface="Arial"/>
                <a:cs typeface="Arial"/>
              </a:defRPr>
            </a:lvl7pPr>
            <a:lvl8pPr algn="ctr">
              <a:defRPr sz="1875" b="1">
                <a:solidFill>
                  <a:srgbClr val="CBD5E1"/>
                </a:solidFill>
                <a:latin typeface="Arial"/>
                <a:ea typeface="Arial"/>
                <a:cs typeface="Arial"/>
              </a:defRPr>
            </a:lvl8pPr>
            <a:lvl9pPr algn="ctr">
              <a:defRPr sz="1875" b="1">
                <a:solidFill>
                  <a:srgbClr val="CBD5E1"/>
                </a:solidFill>
                <a:latin typeface="Arial"/>
                <a:ea typeface="Arial"/>
                <a:cs typeface="Arial"/>
              </a:defRPr>
            </a:lvl9pPr>
          </a:lstStyle>
          <a:p xmlns:a="http://schemas.openxmlformats.org/drawingml/2006/main">
            <a:pPr algn="ctr">
              <a:defRPr sz="1875" b="1">
                <a:solidFill>
                  <a:srgbClr val="CBD5E1"/>
                </a:solidFill>
                <a:latin typeface="Arial"/>
                <a:ea typeface="Arial"/>
                <a:cs typeface="Arial"/>
              </a:defRPr>
            </a:pPr>
            <a:r>
              <a:rPr sz="1875" b="1">
                <a:solidFill>
                  <a:srgbClr val="CBD5E1"/>
                </a:solidFill>
                <a:latin typeface="Arial"/>
                <a:ea typeface="Arial"/>
                <a:cs typeface="Arial"/>
              </a:rPr>
              <a:t>2. Simpan pesan yang valid</a:t>
            </a:r>
          </a:p>
        </p:txBody>
      </p:sp>
      <p:cxnSp>
        <p:nvCxnSpPr>
          <p:cNvPr id="16" name="line-118">
            <a:extLst xmlns:a="http://schemas.openxmlformats.org/drawingml/2006/main">
              <a:ext uri="{FF2B5EF4-FFF2-40B4-BE49-F238E27FC236}">
                <a16:creationId xmlns:a16="http://schemas.microsoft.com/office/drawing/2014/main" id="{1F48E796-4379-4A00-B9B8-43ABEC16F2E4}"/>
              </a:ext>
            </a:extLst>
          </p:cNvPr>
          <p:cNvCxnSpPr/>
          <p:nvPr/>
        </p:nvCxnSpPr>
        <p:spPr>
          <a:xfrm xmlns:a="http://schemas.openxmlformats.org/drawingml/2006/main">
            <a:off x="5810250" y="5048250"/>
            <a:ext cx="3524250" cy="0"/>
          </a:xfrm>
          <a:prstGeom xmlns:a="http://schemas.openxmlformats.org/drawingml/2006/main" prst="straightConnector1">
            <a:avLst/>
          </a:prstGeom>
          <a:ln xmlns:a="http://schemas.openxmlformats.org/drawingml/2006/main" w="28575">
            <a:solidFill>
              <a:srgbClr val="38BDF8"/>
            </a:solidFill>
            <a:prstDash val="solid"/>
            <a:headEnd type="triangle" w="med" len="med"/>
          </a:ln>
        </p:spPr>
      </p:cxnSp>
      <p:sp>
        <p:nvSpPr>
          <p:cNvPr id="17" name="text-119">
            <a:extLst xmlns:a="http://schemas.openxmlformats.org/drawingml/2006/main">
              <a:ext uri="{FF2B5EF4-FFF2-40B4-BE49-F238E27FC236}">
                <a16:creationId xmlns:a16="http://schemas.microsoft.com/office/drawing/2014/main" id="{2D1B4A8F-8945-4E0F-928B-DBF2EC304C81}"/>
              </a:ext>
            </a:extLst>
          </p:cNvPr>
          <p:cNvSpPr>
            <a:spLocks xmlns:a="http://schemas.openxmlformats.org/drawingml/2006/main" noGrp="1"/>
          </p:cNvSpPr>
          <p:nvPr/>
        </p:nvSpPr>
        <p:spPr>
          <a:xfrm xmlns:a="http://schemas.openxmlformats.org/drawingml/2006/main">
            <a:off x="5981700" y="4562475"/>
            <a:ext cx="318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CBD5E1"/>
                </a:solidFill>
                <a:latin typeface="Arial"/>
                <a:ea typeface="Arial"/>
                <a:cs typeface="Arial"/>
              </a:defRPr>
            </a:defPPr>
            <a:lvl1pPr algn="ctr">
              <a:defRPr sz="1875" b="1">
                <a:solidFill>
                  <a:srgbClr val="CBD5E1"/>
                </a:solidFill>
                <a:latin typeface="Arial"/>
                <a:ea typeface="Arial"/>
                <a:cs typeface="Arial"/>
              </a:defRPr>
            </a:lvl1pPr>
            <a:lvl2pPr algn="ctr">
              <a:defRPr sz="1875" b="1">
                <a:solidFill>
                  <a:srgbClr val="CBD5E1"/>
                </a:solidFill>
                <a:latin typeface="Arial"/>
                <a:ea typeface="Arial"/>
                <a:cs typeface="Arial"/>
              </a:defRPr>
            </a:lvl2pPr>
            <a:lvl3pPr algn="ctr">
              <a:defRPr sz="1875" b="1">
                <a:solidFill>
                  <a:srgbClr val="CBD5E1"/>
                </a:solidFill>
                <a:latin typeface="Arial"/>
                <a:ea typeface="Arial"/>
                <a:cs typeface="Arial"/>
              </a:defRPr>
            </a:lvl3pPr>
            <a:lvl4pPr algn="ctr">
              <a:defRPr sz="1875" b="1">
                <a:solidFill>
                  <a:srgbClr val="CBD5E1"/>
                </a:solidFill>
                <a:latin typeface="Arial"/>
                <a:ea typeface="Arial"/>
                <a:cs typeface="Arial"/>
              </a:defRPr>
            </a:lvl4pPr>
            <a:lvl5pPr algn="ctr">
              <a:defRPr sz="1875" b="1">
                <a:solidFill>
                  <a:srgbClr val="CBD5E1"/>
                </a:solidFill>
                <a:latin typeface="Arial"/>
                <a:ea typeface="Arial"/>
                <a:cs typeface="Arial"/>
              </a:defRPr>
            </a:lvl5pPr>
            <a:lvl6pPr algn="ctr">
              <a:defRPr sz="1875" b="1">
                <a:solidFill>
                  <a:srgbClr val="CBD5E1"/>
                </a:solidFill>
                <a:latin typeface="Arial"/>
                <a:ea typeface="Arial"/>
                <a:cs typeface="Arial"/>
              </a:defRPr>
            </a:lvl6pPr>
            <a:lvl7pPr algn="ctr">
              <a:defRPr sz="1875" b="1">
                <a:solidFill>
                  <a:srgbClr val="CBD5E1"/>
                </a:solidFill>
                <a:latin typeface="Arial"/>
                <a:ea typeface="Arial"/>
                <a:cs typeface="Arial"/>
              </a:defRPr>
            </a:lvl7pPr>
            <a:lvl8pPr algn="ctr">
              <a:defRPr sz="1875" b="1">
                <a:solidFill>
                  <a:srgbClr val="CBD5E1"/>
                </a:solidFill>
                <a:latin typeface="Arial"/>
                <a:ea typeface="Arial"/>
                <a:cs typeface="Arial"/>
              </a:defRPr>
            </a:lvl8pPr>
            <a:lvl9pPr algn="ctr">
              <a:defRPr sz="1875" b="1">
                <a:solidFill>
                  <a:srgbClr val="CBD5E1"/>
                </a:solidFill>
                <a:latin typeface="Arial"/>
                <a:ea typeface="Arial"/>
                <a:cs typeface="Arial"/>
              </a:defRPr>
            </a:lvl9pPr>
          </a:lstStyle>
          <a:p xmlns:a="http://schemas.openxmlformats.org/drawingml/2006/main">
            <a:pPr algn="ctr">
              <a:defRPr sz="1875" b="1">
                <a:solidFill>
                  <a:srgbClr val="CBD5E1"/>
                </a:solidFill>
                <a:latin typeface="Arial"/>
                <a:ea typeface="Arial"/>
                <a:cs typeface="Arial"/>
              </a:defRPr>
            </a:pPr>
            <a:r>
              <a:rPr sz="1875" b="1">
                <a:solidFill>
                  <a:srgbClr val="CBD5E1"/>
                </a:solidFill>
                <a:latin typeface="Arial"/>
                <a:ea typeface="Arial"/>
                <a:cs typeface="Arial"/>
              </a:rPr>
              <a:t>3. Hasil penyimpanan</a:t>
            </a:r>
          </a:p>
        </p:txBody>
      </p:sp>
      <p:cxnSp>
        <p:nvCxnSpPr>
          <p:cNvPr id="18" name="line-120">
            <a:extLst xmlns:a="http://schemas.openxmlformats.org/drawingml/2006/main">
              <a:ext uri="{FF2B5EF4-FFF2-40B4-BE49-F238E27FC236}">
                <a16:creationId xmlns:a16="http://schemas.microsoft.com/office/drawing/2014/main" id="{87CEB196-7EEB-4E5C-B030-537F13285028}"/>
              </a:ext>
            </a:extLst>
          </p:cNvPr>
          <p:cNvCxnSpPr/>
          <p:nvPr/>
        </p:nvCxnSpPr>
        <p:spPr>
          <a:xfrm xmlns:a="http://schemas.openxmlformats.org/drawingml/2006/main">
            <a:off x="5810250" y="5905500"/>
            <a:ext cx="7048500" cy="0"/>
          </a:xfrm>
          <a:prstGeom xmlns:a="http://schemas.openxmlformats.org/drawingml/2006/main" prst="straightConnector1">
            <a:avLst/>
          </a:prstGeom>
          <a:ln xmlns:a="http://schemas.openxmlformats.org/drawingml/2006/main" w="28575">
            <a:solidFill>
              <a:srgbClr val="38BDF8"/>
            </a:solidFill>
            <a:prstDash val="solid"/>
            <a:tailEnd type="triangle" w="med" len="med"/>
          </a:ln>
        </p:spPr>
      </p:cxnSp>
      <p:sp>
        <p:nvSpPr>
          <p:cNvPr id="19" name="text-121">
            <a:extLst xmlns:a="http://schemas.openxmlformats.org/drawingml/2006/main">
              <a:ext uri="{FF2B5EF4-FFF2-40B4-BE49-F238E27FC236}">
                <a16:creationId xmlns:a16="http://schemas.microsoft.com/office/drawing/2014/main" id="{A4BC75E6-B2AB-4E7C-B142-A5FC26E0D519}"/>
              </a:ext>
            </a:extLst>
          </p:cNvPr>
          <p:cNvSpPr>
            <a:spLocks xmlns:a="http://schemas.openxmlformats.org/drawingml/2006/main" noGrp="1"/>
          </p:cNvSpPr>
          <p:nvPr/>
        </p:nvSpPr>
        <p:spPr>
          <a:xfrm xmlns:a="http://schemas.openxmlformats.org/drawingml/2006/main">
            <a:off x="5981700" y="5419725"/>
            <a:ext cx="670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CBD5E1"/>
                </a:solidFill>
                <a:latin typeface="Arial"/>
                <a:ea typeface="Arial"/>
                <a:cs typeface="Arial"/>
              </a:defRPr>
            </a:defPPr>
            <a:lvl1pPr algn="ctr">
              <a:defRPr sz="1875" b="1">
                <a:solidFill>
                  <a:srgbClr val="CBD5E1"/>
                </a:solidFill>
                <a:latin typeface="Arial"/>
                <a:ea typeface="Arial"/>
                <a:cs typeface="Arial"/>
              </a:defRPr>
            </a:lvl1pPr>
            <a:lvl2pPr algn="ctr">
              <a:defRPr sz="1875" b="1">
                <a:solidFill>
                  <a:srgbClr val="CBD5E1"/>
                </a:solidFill>
                <a:latin typeface="Arial"/>
                <a:ea typeface="Arial"/>
                <a:cs typeface="Arial"/>
              </a:defRPr>
            </a:lvl2pPr>
            <a:lvl3pPr algn="ctr">
              <a:defRPr sz="1875" b="1">
                <a:solidFill>
                  <a:srgbClr val="CBD5E1"/>
                </a:solidFill>
                <a:latin typeface="Arial"/>
                <a:ea typeface="Arial"/>
                <a:cs typeface="Arial"/>
              </a:defRPr>
            </a:lvl3pPr>
            <a:lvl4pPr algn="ctr">
              <a:defRPr sz="1875" b="1">
                <a:solidFill>
                  <a:srgbClr val="CBD5E1"/>
                </a:solidFill>
                <a:latin typeface="Arial"/>
                <a:ea typeface="Arial"/>
                <a:cs typeface="Arial"/>
              </a:defRPr>
            </a:lvl4pPr>
            <a:lvl5pPr algn="ctr">
              <a:defRPr sz="1875" b="1">
                <a:solidFill>
                  <a:srgbClr val="CBD5E1"/>
                </a:solidFill>
                <a:latin typeface="Arial"/>
                <a:ea typeface="Arial"/>
                <a:cs typeface="Arial"/>
              </a:defRPr>
            </a:lvl5pPr>
            <a:lvl6pPr algn="ctr">
              <a:defRPr sz="1875" b="1">
                <a:solidFill>
                  <a:srgbClr val="CBD5E1"/>
                </a:solidFill>
                <a:latin typeface="Arial"/>
                <a:ea typeface="Arial"/>
                <a:cs typeface="Arial"/>
              </a:defRPr>
            </a:lvl6pPr>
            <a:lvl7pPr algn="ctr">
              <a:defRPr sz="1875" b="1">
                <a:solidFill>
                  <a:srgbClr val="CBD5E1"/>
                </a:solidFill>
                <a:latin typeface="Arial"/>
                <a:ea typeface="Arial"/>
                <a:cs typeface="Arial"/>
              </a:defRPr>
            </a:lvl7pPr>
            <a:lvl8pPr algn="ctr">
              <a:defRPr sz="1875" b="1">
                <a:solidFill>
                  <a:srgbClr val="CBD5E1"/>
                </a:solidFill>
                <a:latin typeface="Arial"/>
                <a:ea typeface="Arial"/>
                <a:cs typeface="Arial"/>
              </a:defRPr>
            </a:lvl8pPr>
            <a:lvl9pPr algn="ctr">
              <a:defRPr sz="1875" b="1">
                <a:solidFill>
                  <a:srgbClr val="CBD5E1"/>
                </a:solidFill>
                <a:latin typeface="Arial"/>
                <a:ea typeface="Arial"/>
                <a:cs typeface="Arial"/>
              </a:defRPr>
            </a:lvl9pPr>
          </a:lstStyle>
          <a:p xmlns:a="http://schemas.openxmlformats.org/drawingml/2006/main">
            <a:pPr algn="ctr">
              <a:defRPr sz="1875" b="1">
                <a:solidFill>
                  <a:srgbClr val="CBD5E1"/>
                </a:solidFill>
                <a:latin typeface="Arial"/>
                <a:ea typeface="Arial"/>
                <a:cs typeface="Arial"/>
              </a:defRPr>
            </a:pPr>
            <a:r>
              <a:rPr sz="1875" b="1">
                <a:solidFill>
                  <a:srgbClr val="CBD5E1"/>
                </a:solidFill>
                <a:latin typeface="Arial"/>
                <a:ea typeface="Arial"/>
                <a:cs typeface="Arial"/>
              </a:rPr>
              <a:t>4. Event pesan melalui WebSocket</a:t>
            </a:r>
          </a:p>
        </p:txBody>
      </p:sp>
      <p:cxnSp>
        <p:nvCxnSpPr>
          <p:cNvPr id="20" name="line-122">
            <a:extLst xmlns:a="http://schemas.openxmlformats.org/drawingml/2006/main">
              <a:ext uri="{FF2B5EF4-FFF2-40B4-BE49-F238E27FC236}">
                <a16:creationId xmlns:a16="http://schemas.microsoft.com/office/drawing/2014/main" id="{3F8F2E36-704A-418E-99EA-A799ADA85262}"/>
              </a:ext>
            </a:extLst>
          </p:cNvPr>
          <p:cNvCxnSpPr/>
          <p:nvPr/>
        </p:nvCxnSpPr>
        <p:spPr>
          <a:xfrm xmlns:a="http://schemas.openxmlformats.org/drawingml/2006/main">
            <a:off x="2286000" y="6762750"/>
            <a:ext cx="3524250" cy="0"/>
          </a:xfrm>
          <a:prstGeom xmlns:a="http://schemas.openxmlformats.org/drawingml/2006/main" prst="straightConnector1">
            <a:avLst/>
          </a:prstGeom>
          <a:ln xmlns:a="http://schemas.openxmlformats.org/drawingml/2006/main" w="28575">
            <a:solidFill>
              <a:srgbClr val="38BDF8"/>
            </a:solidFill>
            <a:prstDash val="solid"/>
            <a:headEnd type="triangle" w="med" len="med"/>
          </a:ln>
        </p:spPr>
      </p:cxnSp>
      <p:sp>
        <p:nvSpPr>
          <p:cNvPr id="21" name="text-123">
            <a:extLst xmlns:a="http://schemas.openxmlformats.org/drawingml/2006/main">
              <a:ext uri="{FF2B5EF4-FFF2-40B4-BE49-F238E27FC236}">
                <a16:creationId xmlns:a16="http://schemas.microsoft.com/office/drawing/2014/main" id="{3B050211-B2A1-4A0D-8A46-778A3D58C8E9}"/>
              </a:ext>
            </a:extLst>
          </p:cNvPr>
          <p:cNvSpPr>
            <a:spLocks xmlns:a="http://schemas.openxmlformats.org/drawingml/2006/main" noGrp="1"/>
          </p:cNvSpPr>
          <p:nvPr/>
        </p:nvSpPr>
        <p:spPr>
          <a:xfrm xmlns:a="http://schemas.openxmlformats.org/drawingml/2006/main">
            <a:off x="2457450" y="6276975"/>
            <a:ext cx="318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CBD5E1"/>
                </a:solidFill>
                <a:latin typeface="Arial"/>
                <a:ea typeface="Arial"/>
                <a:cs typeface="Arial"/>
              </a:defRPr>
            </a:defPPr>
            <a:lvl1pPr algn="ctr">
              <a:defRPr sz="1875" b="1">
                <a:solidFill>
                  <a:srgbClr val="CBD5E1"/>
                </a:solidFill>
                <a:latin typeface="Arial"/>
                <a:ea typeface="Arial"/>
                <a:cs typeface="Arial"/>
              </a:defRPr>
            </a:lvl1pPr>
            <a:lvl2pPr algn="ctr">
              <a:defRPr sz="1875" b="1">
                <a:solidFill>
                  <a:srgbClr val="CBD5E1"/>
                </a:solidFill>
                <a:latin typeface="Arial"/>
                <a:ea typeface="Arial"/>
                <a:cs typeface="Arial"/>
              </a:defRPr>
            </a:lvl2pPr>
            <a:lvl3pPr algn="ctr">
              <a:defRPr sz="1875" b="1">
                <a:solidFill>
                  <a:srgbClr val="CBD5E1"/>
                </a:solidFill>
                <a:latin typeface="Arial"/>
                <a:ea typeface="Arial"/>
                <a:cs typeface="Arial"/>
              </a:defRPr>
            </a:lvl3pPr>
            <a:lvl4pPr algn="ctr">
              <a:defRPr sz="1875" b="1">
                <a:solidFill>
                  <a:srgbClr val="CBD5E1"/>
                </a:solidFill>
                <a:latin typeface="Arial"/>
                <a:ea typeface="Arial"/>
                <a:cs typeface="Arial"/>
              </a:defRPr>
            </a:lvl4pPr>
            <a:lvl5pPr algn="ctr">
              <a:defRPr sz="1875" b="1">
                <a:solidFill>
                  <a:srgbClr val="CBD5E1"/>
                </a:solidFill>
                <a:latin typeface="Arial"/>
                <a:ea typeface="Arial"/>
                <a:cs typeface="Arial"/>
              </a:defRPr>
            </a:lvl5pPr>
            <a:lvl6pPr algn="ctr">
              <a:defRPr sz="1875" b="1">
                <a:solidFill>
                  <a:srgbClr val="CBD5E1"/>
                </a:solidFill>
                <a:latin typeface="Arial"/>
                <a:ea typeface="Arial"/>
                <a:cs typeface="Arial"/>
              </a:defRPr>
            </a:lvl6pPr>
            <a:lvl7pPr algn="ctr">
              <a:defRPr sz="1875" b="1">
                <a:solidFill>
                  <a:srgbClr val="CBD5E1"/>
                </a:solidFill>
                <a:latin typeface="Arial"/>
                <a:ea typeface="Arial"/>
                <a:cs typeface="Arial"/>
              </a:defRPr>
            </a:lvl7pPr>
            <a:lvl8pPr algn="ctr">
              <a:defRPr sz="1875" b="1">
                <a:solidFill>
                  <a:srgbClr val="CBD5E1"/>
                </a:solidFill>
                <a:latin typeface="Arial"/>
                <a:ea typeface="Arial"/>
                <a:cs typeface="Arial"/>
              </a:defRPr>
            </a:lvl8pPr>
            <a:lvl9pPr algn="ctr">
              <a:defRPr sz="1875" b="1">
                <a:solidFill>
                  <a:srgbClr val="CBD5E1"/>
                </a:solidFill>
                <a:latin typeface="Arial"/>
                <a:ea typeface="Arial"/>
                <a:cs typeface="Arial"/>
              </a:defRPr>
            </a:lvl9pPr>
          </a:lstStyle>
          <a:p xmlns:a="http://schemas.openxmlformats.org/drawingml/2006/main">
            <a:pPr algn="ctr">
              <a:defRPr sz="1875" b="1">
                <a:solidFill>
                  <a:srgbClr val="CBD5E1"/>
                </a:solidFill>
                <a:latin typeface="Arial"/>
                <a:ea typeface="Arial"/>
                <a:cs typeface="Arial"/>
              </a:defRPr>
            </a:pPr>
            <a:r>
              <a:rPr sz="1875" b="1">
                <a:solidFill>
                  <a:srgbClr val="CBD5E1"/>
                </a:solidFill>
                <a:latin typeface="Arial"/>
                <a:ea typeface="Arial"/>
                <a:cs typeface="Arial"/>
              </a:rPr>
              <a:t>5. Respons ke pengirim</a:t>
            </a:r>
          </a:p>
        </p:txBody>
      </p:sp>
    </p:spTree>
    <p:extLst>
      <p:ext uri="{BB962C8B-B14F-4D97-AF65-F5344CB8AC3E}">
        <p14:creationId xmlns:p14="http://schemas.microsoft.com/office/powerpoint/2010/main" val="1888066342"/>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24">
            <a:extLst xmlns:a="http://schemas.openxmlformats.org/drawingml/2006/main">
              <a:ext uri="{FF2B5EF4-FFF2-40B4-BE49-F238E27FC236}">
                <a16:creationId xmlns:a16="http://schemas.microsoft.com/office/drawing/2014/main" id="{E5C87D50-4912-46EE-B4DE-8E241C7EB379}"/>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Ruang chat</a:t>
            </a:r>
          </a:p>
        </p:txBody>
      </p:sp>
      <p:sp>
        <p:nvSpPr>
          <p:cNvPr id="2" name="text-125">
            <a:extLst xmlns:a="http://schemas.openxmlformats.org/drawingml/2006/main">
              <a:ext uri="{FF2B5EF4-FFF2-40B4-BE49-F238E27FC236}">
                <a16:creationId xmlns:a16="http://schemas.microsoft.com/office/drawing/2014/main" id="{403004C0-BE36-448C-9DF0-471E744729FD}"/>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13</a:t>
            </a:r>
          </a:p>
        </p:txBody>
      </p:sp>
      <p:sp>
        <p:nvSpPr>
          <p:cNvPr id="3" name="text-126">
            <a:extLst xmlns:a="http://schemas.openxmlformats.org/drawingml/2006/main">
              <a:ext uri="{FF2B5EF4-FFF2-40B4-BE49-F238E27FC236}">
                <a16:creationId xmlns:a16="http://schemas.microsoft.com/office/drawing/2014/main" id="{8A44439F-A0D6-4E50-8244-6A676106A20E}"/>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Satu layar menyatukan riwayat pesan dan aksi pengguna.</a:t>
            </a:r>
          </a:p>
        </p:txBody>
      </p:sp>
      <p:sp>
        <p:nvSpPr>
          <p:cNvPr id="4" name="text-127">
            <a:extLst xmlns:a="http://schemas.openxmlformats.org/drawingml/2006/main">
              <a:ext uri="{FF2B5EF4-FFF2-40B4-BE49-F238E27FC236}">
                <a16:creationId xmlns:a16="http://schemas.microsoft.com/office/drawing/2014/main" id="{D29BBB8E-5F3D-4BB4-8067-249537CFA563}"/>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28">
            <a:extLst xmlns:a="http://schemas.openxmlformats.org/drawingml/2006/main">
              <a:ext uri="{FF2B5EF4-FFF2-40B4-BE49-F238E27FC236}">
                <a16:creationId xmlns:a16="http://schemas.microsoft.com/office/drawing/2014/main" id="{E3324684-C872-450D-A49F-7A6264339E3E}"/>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Bagian atas</a:t>
            </a:r>
          </a:p>
        </p:txBody>
      </p:sp>
      <p:sp>
        <p:nvSpPr>
          <p:cNvPr id="6" name="text-129">
            <a:extLst xmlns:a="http://schemas.openxmlformats.org/drawingml/2006/main">
              <a:ext uri="{FF2B5EF4-FFF2-40B4-BE49-F238E27FC236}">
                <a16:creationId xmlns:a16="http://schemas.microsoft.com/office/drawing/2014/main" id="{2293E522-3F3E-497E-9841-1115271D8B7C}"/>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Identitas dan status lawan bicara membantu pengguna memahami konteks.</a:t>
            </a:r>
          </a:p>
        </p:txBody>
      </p:sp>
      <p:sp>
        <p:nvSpPr>
          <p:cNvPr id="7" name="text-130">
            <a:extLst xmlns:a="http://schemas.openxmlformats.org/drawingml/2006/main">
              <a:ext uri="{FF2B5EF4-FFF2-40B4-BE49-F238E27FC236}">
                <a16:creationId xmlns:a16="http://schemas.microsoft.com/office/drawing/2014/main" id="{DB18D701-A94D-4C62-9D34-008E21E38576}"/>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31">
            <a:extLst xmlns:a="http://schemas.openxmlformats.org/drawingml/2006/main">
              <a:ext uri="{FF2B5EF4-FFF2-40B4-BE49-F238E27FC236}">
                <a16:creationId xmlns:a16="http://schemas.microsoft.com/office/drawing/2014/main" id="{41CB8842-0BCD-4538-B92A-CD32C28DF599}"/>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Area percakapan</a:t>
            </a:r>
          </a:p>
        </p:txBody>
      </p:sp>
      <p:sp>
        <p:nvSpPr>
          <p:cNvPr id="9" name="text-132">
            <a:extLst xmlns:a="http://schemas.openxmlformats.org/drawingml/2006/main">
              <a:ext uri="{FF2B5EF4-FFF2-40B4-BE49-F238E27FC236}">
                <a16:creationId xmlns:a16="http://schemas.microsoft.com/office/drawing/2014/main" id="{2BD75E9D-DC8D-4BB5-89E6-6A15F06075C3}"/>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Balon membedakan pengirim dan penerima, dengan waktu serta isi pesan.</a:t>
            </a:r>
          </a:p>
        </p:txBody>
      </p:sp>
      <p:sp>
        <p:nvSpPr>
          <p:cNvPr id="10" name="text-133">
            <a:extLst xmlns:a="http://schemas.openxmlformats.org/drawingml/2006/main">
              <a:ext uri="{FF2B5EF4-FFF2-40B4-BE49-F238E27FC236}">
                <a16:creationId xmlns:a16="http://schemas.microsoft.com/office/drawing/2014/main" id="{05EFE6AD-9447-491D-BA0C-A5029E940EA3}"/>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34">
            <a:extLst xmlns:a="http://schemas.openxmlformats.org/drawingml/2006/main">
              <a:ext uri="{FF2B5EF4-FFF2-40B4-BE49-F238E27FC236}">
                <a16:creationId xmlns:a16="http://schemas.microsoft.com/office/drawing/2014/main" id="{770F2021-05F3-48EF-8BB2-21245DD94389}"/>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Bagian bawah</a:t>
            </a:r>
          </a:p>
        </p:txBody>
      </p:sp>
      <p:sp>
        <p:nvSpPr>
          <p:cNvPr id="12" name="text-135">
            <a:extLst xmlns:a="http://schemas.openxmlformats.org/drawingml/2006/main">
              <a:ext uri="{FF2B5EF4-FFF2-40B4-BE49-F238E27FC236}">
                <a16:creationId xmlns:a16="http://schemas.microsoft.com/office/drawing/2014/main" id="{7F6461E7-F8EB-4E77-A906-62B728FBFBB7}"/>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Input teks dan lampiran menyiapkan konten sebelum dikirim ke server.</a:t>
            </a:r>
          </a:p>
        </p:txBody>
      </p:sp>
      <p:pic>
        <p:nvPicPr>
          <p:cNvPr id="13" name="">
            <a:extLst xmlns:a="http://schemas.openxmlformats.org/drawingml/2006/main">
              <a:ext uri="{FF2B5EF4-FFF2-40B4-BE49-F238E27FC236}">
                <a16:creationId xmlns:a16="http://schemas.microsoft.com/office/drawing/2014/main" id="{B8961908-20FE-4EBB-ACAF-BECF20A3E0EC}"/>
              </a:ext>
            </a:extLst>
          </p:cNvPr>
          <p:cNvPicPr>
            <a:picLocks xmlns:a="http://schemas.openxmlformats.org/drawingml/2006/main" noChangeAspect="1"/>
          </p:cNvPicPr>
          <p:nvPr/>
        </p:nvPicPr>
        <p:blipFill>
          <a:blip xmlns:r="http://schemas.openxmlformats.org/officeDocument/2006/relationships" xmlns:a="http://schemas.openxmlformats.org/drawingml/2006/main" r:embed="R68f9f63a0f4c4b24"/>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619461019"/>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text-137">
            <a:extLst xmlns:a="http://schemas.openxmlformats.org/drawingml/2006/main">
              <a:ext uri="{FF2B5EF4-FFF2-40B4-BE49-F238E27FC236}">
                <a16:creationId xmlns:a16="http://schemas.microsoft.com/office/drawing/2014/main" id="{3EB2B974-D16A-4E8E-B6B5-2BE86E4FC523}"/>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Status online, mengetik, dan baca</a:t>
            </a:r>
          </a:p>
        </p:txBody>
      </p:sp>
      <p:sp>
        <p:nvSpPr>
          <p:cNvPr id="2" name="text-138">
            <a:extLst xmlns:a="http://schemas.openxmlformats.org/drawingml/2006/main">
              <a:ext uri="{FF2B5EF4-FFF2-40B4-BE49-F238E27FC236}">
                <a16:creationId xmlns:a16="http://schemas.microsoft.com/office/drawing/2014/main" id="{F25E1735-E394-4DD7-A5AA-F091A2CB0026}"/>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Setiap indikator memberi makna yang berbeda kepada pengguna.</a:t>
            </a:r>
          </a:p>
        </p:txBody>
      </p:sp>
      <p:sp>
        <p:nvSpPr>
          <p:cNvPr id="3" name="text-139">
            <a:extLst xmlns:a="http://schemas.openxmlformats.org/drawingml/2006/main">
              <a:ext uri="{FF2B5EF4-FFF2-40B4-BE49-F238E27FC236}">
                <a16:creationId xmlns:a16="http://schemas.microsoft.com/office/drawing/2014/main" id="{02EA0673-A354-4998-BC1C-B818600A5512}"/>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71CC636F-2907-41B2-9BEA-8C65AFE3CF22}"/>
              </a:ext>
            </a:extLst>
          </p:cNvPr>
          <p:cNvGraphicFramePr/>
          <p:nvPr/>
        </p:nvGraphicFramePr>
        <p:xfrm>
          <a:off xmlns:a="http://schemas.openxmlformats.org/drawingml/2006/main" x="914400" y="2524125"/>
          <a:ext xmlns:a="http://schemas.openxmlformats.org/drawingml/2006/main" cx="13411200" cy="3962400"/>
        </p:xfrm>
        <a:graphic xmlns:a="http://schemas.openxmlformats.org/drawingml/2006/main">
          <a:graphicData uri="http://schemas.openxmlformats.org/drawingml/2006/table">
            <a:tbl>
              <a:tblPr firstRow="0" bandRow="0"/>
              <a:tblGrid>
                <a:gridCol w="3143250"/>
                <a:gridCol w="7048500"/>
                <a:gridCol w="3219450"/>
              </a:tblGrid>
              <a:tr h="990600">
                <a:tc>
                  <a:txBody>
                    <a:bodyPr wrap="square" lIns="152400" tIns="152400" rIns="152400" bIns="152400">
                      <a:noAutofit/>
                    </a:bodyPr>
                    <a:lstStyle/>
                    <a:p>
                      <a:pPr algn="l"/>
                      <a:r>
                        <a:rPr sz="2025" b="1">
                          <a:solidFill>
                            <a:srgbClr val="FFFFFF"/>
                          </a:solidFill>
                          <a:latin typeface="Arial"/>
                          <a:ea typeface="Arial"/>
                          <a:cs typeface="Arial"/>
                        </a:rPr>
                        <a:t>Indikator</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Makna pada proyek</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Sifat data</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990600">
                <a:tc>
                  <a:txBody>
                    <a:bodyPr wrap="square" lIns="152400" tIns="152400" rIns="152400" bIns="152400">
                      <a:noAutofit/>
                    </a:bodyPr>
                    <a:lstStyle/>
                    <a:p>
                      <a:pPr algn="l"/>
                      <a:r>
                        <a:rPr sz="2025" b="1">
                          <a:solidFill>
                            <a:srgbClr val="0F172A"/>
                          </a:solidFill>
                          <a:latin typeface="Arial"/>
                          <a:ea typeface="Arial"/>
                          <a:cs typeface="Arial"/>
                        </a:rPr>
                        <a:t>Online</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Akun mempunyai koneksi WebSocket yang aktif.</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Sementara, mengikuti koneksi.</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990600">
                <a:tc>
                  <a:txBody>
                    <a:bodyPr wrap="square" lIns="152400" tIns="152400" rIns="152400" bIns="152400">
                      <a:noAutofit/>
                    </a:bodyPr>
                    <a:lstStyle/>
                    <a:p>
                      <a:pPr algn="l"/>
                      <a:r>
                        <a:rPr sz="2025" b="1">
                          <a:solidFill>
                            <a:srgbClr val="0F172A"/>
                          </a:solidFill>
                          <a:latin typeface="Arial"/>
                          <a:ea typeface="Arial"/>
                          <a:cs typeface="Arial"/>
                        </a:rPr>
                        <a:t>Sedang mengetik</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Lawan bicara sedang memberikan input teks.</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Sementara, dengan batas waktu.</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990600">
                <a:tc>
                  <a:txBody>
                    <a:bodyPr wrap="square" lIns="152400" tIns="152400" rIns="152400" bIns="152400">
                      <a:noAutofit/>
                    </a:bodyPr>
                    <a:lstStyle/>
                    <a:p>
                      <a:pPr algn="l"/>
                      <a:r>
                        <a:rPr sz="2025" b="1">
                          <a:solidFill>
                            <a:srgbClr val="0F172A"/>
                          </a:solidFill>
                          <a:latin typeface="Arial"/>
                          <a:ea typeface="Arial"/>
                          <a:cs typeface="Arial"/>
                        </a:rPr>
                        <a:t>Dibaca / belum dibaca</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Posisi baca anggota menentukan pesan yang sudah dilihat.</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Posisi baca tersimpan di database.</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
        <p:nvSpPr>
          <p:cNvPr id="5" name="text-140">
            <a:extLst xmlns:a="http://schemas.openxmlformats.org/drawingml/2006/main">
              <a:ext uri="{FF2B5EF4-FFF2-40B4-BE49-F238E27FC236}">
                <a16:creationId xmlns:a16="http://schemas.microsoft.com/office/drawing/2014/main" id="{626B6F3B-D830-4F02-81DF-F903904E255A}"/>
              </a:ext>
            </a:extLst>
          </p:cNvPr>
          <p:cNvSpPr>
            <a:spLocks xmlns:a="http://schemas.openxmlformats.org/drawingml/2006/main" noGrp="1"/>
          </p:cNvSpPr>
          <p:nvPr/>
        </p:nvSpPr>
        <p:spPr>
          <a:xfrm xmlns:a="http://schemas.openxmlformats.org/drawingml/2006/main">
            <a:off x="914400" y="6934200"/>
            <a:ext cx="1323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Tanda baca diperbarui saat ruang chat aktif dan daftar berada dekat pesan terbaru.</a:t>
            </a:r>
          </a:p>
        </p:txBody>
      </p:sp>
    </p:spTree>
    <p:extLst>
      <p:ext uri="{BB962C8B-B14F-4D97-AF65-F5344CB8AC3E}">
        <p14:creationId xmlns:p14="http://schemas.microsoft.com/office/powerpoint/2010/main" val="1110058540"/>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41">
            <a:extLst xmlns:a="http://schemas.openxmlformats.org/drawingml/2006/main">
              <a:ext uri="{FF2B5EF4-FFF2-40B4-BE49-F238E27FC236}">
                <a16:creationId xmlns:a16="http://schemas.microsoft.com/office/drawing/2014/main" id="{6FB1437C-500D-45AB-85AA-2314E8E768F6}"/>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Membalas pesan</a:t>
            </a:r>
          </a:p>
        </p:txBody>
      </p:sp>
      <p:sp>
        <p:nvSpPr>
          <p:cNvPr id="2" name="text-142">
            <a:extLst xmlns:a="http://schemas.openxmlformats.org/drawingml/2006/main">
              <a:ext uri="{FF2B5EF4-FFF2-40B4-BE49-F238E27FC236}">
                <a16:creationId xmlns:a16="http://schemas.microsoft.com/office/drawing/2014/main" id="{AFF26F84-7498-4C5F-BFF5-2ADC2F304240}"/>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15</a:t>
            </a:r>
          </a:p>
        </p:txBody>
      </p:sp>
      <p:sp>
        <p:nvSpPr>
          <p:cNvPr id="3" name="text-143">
            <a:extLst xmlns:a="http://schemas.openxmlformats.org/drawingml/2006/main">
              <a:ext uri="{FF2B5EF4-FFF2-40B4-BE49-F238E27FC236}">
                <a16:creationId xmlns:a16="http://schemas.microsoft.com/office/drawing/2014/main" id="{F2AA0501-2587-428C-B6F5-B92CA2C15B17}"/>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Balasan mempertahankan konteks pesan yang sedang dibicarakan.</a:t>
            </a:r>
          </a:p>
        </p:txBody>
      </p:sp>
      <p:sp>
        <p:nvSpPr>
          <p:cNvPr id="4" name="text-144">
            <a:extLst xmlns:a="http://schemas.openxmlformats.org/drawingml/2006/main">
              <a:ext uri="{FF2B5EF4-FFF2-40B4-BE49-F238E27FC236}">
                <a16:creationId xmlns:a16="http://schemas.microsoft.com/office/drawing/2014/main" id="{5345B6E0-7C2B-45F9-BAA2-3957308E2A74}"/>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45">
            <a:extLst xmlns:a="http://schemas.openxmlformats.org/drawingml/2006/main">
              <a:ext uri="{FF2B5EF4-FFF2-40B4-BE49-F238E27FC236}">
                <a16:creationId xmlns:a16="http://schemas.microsoft.com/office/drawing/2014/main" id="{8583A687-62D6-4857-9939-363E9454CBD5}"/>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Pilih pesan asal</a:t>
            </a:r>
          </a:p>
        </p:txBody>
      </p:sp>
      <p:sp>
        <p:nvSpPr>
          <p:cNvPr id="6" name="text-146">
            <a:extLst xmlns:a="http://schemas.openxmlformats.org/drawingml/2006/main">
              <a:ext uri="{FF2B5EF4-FFF2-40B4-BE49-F238E27FC236}">
                <a16:creationId xmlns:a16="http://schemas.microsoft.com/office/drawing/2014/main" id="{EC5C04DA-1813-4EFB-8203-F54170674DB0}"/>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menggeser pesan atau memilih Balas pesan dari menu.</a:t>
            </a:r>
          </a:p>
        </p:txBody>
      </p:sp>
      <p:sp>
        <p:nvSpPr>
          <p:cNvPr id="7" name="text-147">
            <a:extLst xmlns:a="http://schemas.openxmlformats.org/drawingml/2006/main">
              <a:ext uri="{FF2B5EF4-FFF2-40B4-BE49-F238E27FC236}">
                <a16:creationId xmlns:a16="http://schemas.microsoft.com/office/drawing/2014/main" id="{1F234DEF-B04B-48A4-A3A4-ADFCE8F03438}"/>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48">
            <a:extLst xmlns:a="http://schemas.openxmlformats.org/drawingml/2006/main">
              <a:ext uri="{FF2B5EF4-FFF2-40B4-BE49-F238E27FC236}">
                <a16:creationId xmlns:a16="http://schemas.microsoft.com/office/drawing/2014/main" id="{5353FD44-4D7F-4C10-A0F3-BD7FB192C03C}"/>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Periksa kutipan</a:t>
            </a:r>
          </a:p>
        </p:txBody>
      </p:sp>
      <p:sp>
        <p:nvSpPr>
          <p:cNvPr id="9" name="text-149">
            <a:extLst xmlns:a="http://schemas.openxmlformats.org/drawingml/2006/main">
              <a:ext uri="{FF2B5EF4-FFF2-40B4-BE49-F238E27FC236}">
                <a16:creationId xmlns:a16="http://schemas.microsoft.com/office/drawing/2014/main" id="{7FE865EF-C65F-483D-8ED0-2CFC9904AAE8}"/>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Pratinjau muncul di atas kolom ketik dan dapat dibatalkan.</a:t>
            </a:r>
          </a:p>
        </p:txBody>
      </p:sp>
      <p:sp>
        <p:nvSpPr>
          <p:cNvPr id="10" name="text-150">
            <a:extLst xmlns:a="http://schemas.openxmlformats.org/drawingml/2006/main">
              <a:ext uri="{FF2B5EF4-FFF2-40B4-BE49-F238E27FC236}">
                <a16:creationId xmlns:a16="http://schemas.microsoft.com/office/drawing/2014/main" id="{91B7989A-23D8-4150-9124-0A664AA65F62}"/>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51">
            <a:extLst xmlns:a="http://schemas.openxmlformats.org/drawingml/2006/main">
              <a:ext uri="{FF2B5EF4-FFF2-40B4-BE49-F238E27FC236}">
                <a16:creationId xmlns:a16="http://schemas.microsoft.com/office/drawing/2014/main" id="{96AFADA9-47B5-4FC3-B306-B1D206BA1020}"/>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Simpan hubungan balasan</a:t>
            </a:r>
          </a:p>
        </p:txBody>
      </p:sp>
      <p:sp>
        <p:nvSpPr>
          <p:cNvPr id="12" name="text-152">
            <a:extLst xmlns:a="http://schemas.openxmlformats.org/drawingml/2006/main">
              <a:ext uri="{FF2B5EF4-FFF2-40B4-BE49-F238E27FC236}">
                <a16:creationId xmlns:a16="http://schemas.microsoft.com/office/drawing/2014/main" id="{D0159512-8BEF-41C5-AAAF-0075BCB0E03E}"/>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Go memeriksa bahwa pesan asal berada pada percakapan yang sama.</a:t>
            </a:r>
          </a:p>
        </p:txBody>
      </p:sp>
      <p:pic>
        <p:nvPicPr>
          <p:cNvPr id="13" name="">
            <a:extLst xmlns:a="http://schemas.openxmlformats.org/drawingml/2006/main">
              <a:ext uri="{FF2B5EF4-FFF2-40B4-BE49-F238E27FC236}">
                <a16:creationId xmlns:a16="http://schemas.microsoft.com/office/drawing/2014/main" id="{43068A38-B3C6-4118-9FAE-D22ABE385789}"/>
              </a:ext>
            </a:extLst>
          </p:cNvPr>
          <p:cNvPicPr>
            <a:picLocks xmlns:a="http://schemas.openxmlformats.org/drawingml/2006/main" noChangeAspect="1"/>
          </p:cNvPicPr>
          <p:nvPr/>
        </p:nvPicPr>
        <p:blipFill>
          <a:blip xmlns:r="http://schemas.openxmlformats.org/officeDocument/2006/relationships" xmlns:a="http://schemas.openxmlformats.org/drawingml/2006/main" r:embed="Rdd263ea26c8f4d14"/>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135972682"/>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54">
            <a:extLst xmlns:a="http://schemas.openxmlformats.org/drawingml/2006/main">
              <a:ext uri="{FF2B5EF4-FFF2-40B4-BE49-F238E27FC236}">
                <a16:creationId xmlns:a16="http://schemas.microsoft.com/office/drawing/2014/main" id="{7EBDFB08-47EE-4B67-A290-FD1B72F5716F}"/>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Reaksi emoji</a:t>
            </a:r>
          </a:p>
        </p:txBody>
      </p:sp>
      <p:sp>
        <p:nvSpPr>
          <p:cNvPr id="2" name="text-155">
            <a:extLst xmlns:a="http://schemas.openxmlformats.org/drawingml/2006/main">
              <a:ext uri="{FF2B5EF4-FFF2-40B4-BE49-F238E27FC236}">
                <a16:creationId xmlns:a16="http://schemas.microsoft.com/office/drawing/2014/main" id="{C890ACA9-A69E-40A6-B25C-0AFC15C1AF08}"/>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16</a:t>
            </a:r>
          </a:p>
        </p:txBody>
      </p:sp>
      <p:sp>
        <p:nvSpPr>
          <p:cNvPr id="3" name="text-156">
            <a:extLst xmlns:a="http://schemas.openxmlformats.org/drawingml/2006/main">
              <a:ext uri="{FF2B5EF4-FFF2-40B4-BE49-F238E27FC236}">
                <a16:creationId xmlns:a16="http://schemas.microsoft.com/office/drawing/2014/main" id="{35F8662C-E6A5-42A2-B6CF-C38C7216BCA9}"/>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Reaksi adalah perubahan data kecil yang terlihat pada kedua pengguna.</a:t>
            </a:r>
          </a:p>
        </p:txBody>
      </p:sp>
      <p:sp>
        <p:nvSpPr>
          <p:cNvPr id="4" name="text-157">
            <a:extLst xmlns:a="http://schemas.openxmlformats.org/drawingml/2006/main">
              <a:ext uri="{FF2B5EF4-FFF2-40B4-BE49-F238E27FC236}">
                <a16:creationId xmlns:a16="http://schemas.microsoft.com/office/drawing/2014/main" id="{F97EA8A5-A19B-4A68-90FD-984C911515E0}"/>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58">
            <a:extLst xmlns:a="http://schemas.openxmlformats.org/drawingml/2006/main">
              <a:ext uri="{FF2B5EF4-FFF2-40B4-BE49-F238E27FC236}">
                <a16:creationId xmlns:a16="http://schemas.microsoft.com/office/drawing/2014/main" id="{34235341-3F30-45D6-AA71-8EB96EDCA564}"/>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Tekan lama pesan</a:t>
            </a:r>
          </a:p>
        </p:txBody>
      </p:sp>
      <p:sp>
        <p:nvSpPr>
          <p:cNvPr id="6" name="text-159">
            <a:extLst xmlns:a="http://schemas.openxmlformats.org/drawingml/2006/main">
              <a:ext uri="{FF2B5EF4-FFF2-40B4-BE49-F238E27FC236}">
                <a16:creationId xmlns:a16="http://schemas.microsoft.com/office/drawing/2014/main" id="{C67406DA-3100-4A43-9264-6428279EB105}"/>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Menu menyediakan pilihan emoji dan aksi membalas.</a:t>
            </a:r>
          </a:p>
        </p:txBody>
      </p:sp>
      <p:sp>
        <p:nvSpPr>
          <p:cNvPr id="7" name="text-160">
            <a:extLst xmlns:a="http://schemas.openxmlformats.org/drawingml/2006/main">
              <a:ext uri="{FF2B5EF4-FFF2-40B4-BE49-F238E27FC236}">
                <a16:creationId xmlns:a16="http://schemas.microsoft.com/office/drawing/2014/main" id="{3B80D2BE-08BC-47C9-A653-8B86D7DF3EAE}"/>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61">
            <a:extLst xmlns:a="http://schemas.openxmlformats.org/drawingml/2006/main">
              <a:ext uri="{FF2B5EF4-FFF2-40B4-BE49-F238E27FC236}">
                <a16:creationId xmlns:a16="http://schemas.microsoft.com/office/drawing/2014/main" id="{13E9DE55-72F0-46F3-BD2A-9D3649B44EC0}"/>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Satu reaksi per pengguna</a:t>
            </a:r>
          </a:p>
        </p:txBody>
      </p:sp>
      <p:sp>
        <p:nvSpPr>
          <p:cNvPr id="9" name="text-162">
            <a:extLst xmlns:a="http://schemas.openxmlformats.org/drawingml/2006/main">
              <a:ext uri="{FF2B5EF4-FFF2-40B4-BE49-F238E27FC236}">
                <a16:creationId xmlns:a16="http://schemas.microsoft.com/office/drawing/2014/main" id="{32BFD459-BD3C-458C-B54B-8962FA38501F}"/>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dapat mengganti atau menghapus reaksinya sendiri.</a:t>
            </a:r>
          </a:p>
        </p:txBody>
      </p:sp>
      <p:sp>
        <p:nvSpPr>
          <p:cNvPr id="10" name="text-163">
            <a:extLst xmlns:a="http://schemas.openxmlformats.org/drawingml/2006/main">
              <a:ext uri="{FF2B5EF4-FFF2-40B4-BE49-F238E27FC236}">
                <a16:creationId xmlns:a16="http://schemas.microsoft.com/office/drawing/2014/main" id="{0AD11F65-B733-43C9-A848-760DFB370F3F}"/>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64">
            <a:extLst xmlns:a="http://schemas.openxmlformats.org/drawingml/2006/main">
              <a:ext uri="{FF2B5EF4-FFF2-40B4-BE49-F238E27FC236}">
                <a16:creationId xmlns:a16="http://schemas.microsoft.com/office/drawing/2014/main" id="{0AF9AC42-96FA-4698-AFB3-0F6F6D4737B8}"/>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Tersimpan dan tersebar</a:t>
            </a:r>
          </a:p>
        </p:txBody>
      </p:sp>
      <p:sp>
        <p:nvSpPr>
          <p:cNvPr id="12" name="text-165">
            <a:extLst xmlns:a="http://schemas.openxmlformats.org/drawingml/2006/main">
              <a:ext uri="{FF2B5EF4-FFF2-40B4-BE49-F238E27FC236}">
                <a16:creationId xmlns:a16="http://schemas.microsoft.com/office/drawing/2014/main" id="{1480C9CC-D1DD-4210-854B-FEE1E79F7D41}"/>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menyimpan reaksi lalu mengirim event kepada anggota percakapan.</a:t>
            </a:r>
          </a:p>
        </p:txBody>
      </p:sp>
      <p:pic>
        <p:nvPicPr>
          <p:cNvPr id="13" name="">
            <a:extLst xmlns:a="http://schemas.openxmlformats.org/drawingml/2006/main">
              <a:ext uri="{FF2B5EF4-FFF2-40B4-BE49-F238E27FC236}">
                <a16:creationId xmlns:a16="http://schemas.microsoft.com/office/drawing/2014/main" id="{E44D5B6D-E4C3-4E5D-8B21-31071A17396E}"/>
              </a:ext>
            </a:extLst>
          </p:cNvPr>
          <p:cNvPicPr>
            <a:picLocks xmlns:a="http://schemas.openxmlformats.org/drawingml/2006/main" noChangeAspect="1"/>
          </p:cNvPicPr>
          <p:nvPr/>
        </p:nvPicPr>
        <p:blipFill>
          <a:blip xmlns:r="http://schemas.openxmlformats.org/officeDocument/2006/relationships" xmlns:a="http://schemas.openxmlformats.org/drawingml/2006/main" r:embed="Rcf7d261b7924430a"/>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927706854"/>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67">
            <a:extLst xmlns:a="http://schemas.openxmlformats.org/drawingml/2006/main">
              <a:ext uri="{FF2B5EF4-FFF2-40B4-BE49-F238E27FC236}">
                <a16:creationId xmlns:a16="http://schemas.microsoft.com/office/drawing/2014/main" id="{BBB4F4F3-0200-420B-8A0A-8560939D86B8}"/>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Foto dan dokumen</a:t>
            </a:r>
          </a:p>
        </p:txBody>
      </p:sp>
      <p:sp>
        <p:nvSpPr>
          <p:cNvPr id="2" name="text-168">
            <a:extLst xmlns:a="http://schemas.openxmlformats.org/drawingml/2006/main">
              <a:ext uri="{FF2B5EF4-FFF2-40B4-BE49-F238E27FC236}">
                <a16:creationId xmlns:a16="http://schemas.microsoft.com/office/drawing/2014/main" id="{DBBDC850-F070-4267-A53A-25A896F8BF03}"/>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17</a:t>
            </a:r>
          </a:p>
        </p:txBody>
      </p:sp>
      <p:sp>
        <p:nvSpPr>
          <p:cNvPr id="3" name="text-169">
            <a:extLst xmlns:a="http://schemas.openxmlformats.org/drawingml/2006/main">
              <a:ext uri="{FF2B5EF4-FFF2-40B4-BE49-F238E27FC236}">
                <a16:creationId xmlns:a16="http://schemas.microsoft.com/office/drawing/2014/main" id="{810A52A9-87EC-4313-91BC-DA5C94D96299}"/>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Panel lampiran menjadi pintu masuk konten selain teks.</a:t>
            </a:r>
          </a:p>
        </p:txBody>
      </p:sp>
      <p:sp>
        <p:nvSpPr>
          <p:cNvPr id="4" name="text-170">
            <a:extLst xmlns:a="http://schemas.openxmlformats.org/drawingml/2006/main">
              <a:ext uri="{FF2B5EF4-FFF2-40B4-BE49-F238E27FC236}">
                <a16:creationId xmlns:a16="http://schemas.microsoft.com/office/drawing/2014/main" id="{94448763-2DB6-42B2-A3CA-ADBA5526BE58}"/>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71">
            <a:extLst xmlns:a="http://schemas.openxmlformats.org/drawingml/2006/main">
              <a:ext uri="{FF2B5EF4-FFF2-40B4-BE49-F238E27FC236}">
                <a16:creationId xmlns:a16="http://schemas.microsoft.com/office/drawing/2014/main" id="{82EDF456-1F3E-4990-8D0D-CE3D2EC541F2}"/>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Pilih sumber</a:t>
            </a:r>
          </a:p>
        </p:txBody>
      </p:sp>
      <p:sp>
        <p:nvSpPr>
          <p:cNvPr id="6" name="text-172">
            <a:extLst xmlns:a="http://schemas.openxmlformats.org/drawingml/2006/main">
              <a:ext uri="{FF2B5EF4-FFF2-40B4-BE49-F238E27FC236}">
                <a16:creationId xmlns:a16="http://schemas.microsoft.com/office/drawing/2014/main" id="{9F684602-FDA3-4D73-A20A-00538B69642D}"/>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dapat memakai galeri, kamera, atau pemilih dokumen.</a:t>
            </a:r>
          </a:p>
        </p:txBody>
      </p:sp>
      <p:sp>
        <p:nvSpPr>
          <p:cNvPr id="7" name="text-173">
            <a:extLst xmlns:a="http://schemas.openxmlformats.org/drawingml/2006/main">
              <a:ext uri="{FF2B5EF4-FFF2-40B4-BE49-F238E27FC236}">
                <a16:creationId xmlns:a16="http://schemas.microsoft.com/office/drawing/2014/main" id="{6668EB48-AD24-4956-8C0B-808E1567FC03}"/>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74">
            <a:extLst xmlns:a="http://schemas.openxmlformats.org/drawingml/2006/main">
              <a:ext uri="{FF2B5EF4-FFF2-40B4-BE49-F238E27FC236}">
                <a16:creationId xmlns:a16="http://schemas.microsoft.com/office/drawing/2014/main" id="{6D79BFD9-2CC5-4B01-99DB-EC9643D6C4E6}"/>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Unggah terlebih dahulu</a:t>
            </a:r>
          </a:p>
        </p:txBody>
      </p:sp>
      <p:sp>
        <p:nvSpPr>
          <p:cNvPr id="9" name="text-175">
            <a:extLst xmlns:a="http://schemas.openxmlformats.org/drawingml/2006/main">
              <a:ext uri="{FF2B5EF4-FFF2-40B4-BE49-F238E27FC236}">
                <a16:creationId xmlns:a16="http://schemas.microsoft.com/office/drawing/2014/main" id="{14837643-578C-41E2-8A49-800B674E90AF}"/>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API mengembalikan identitas lampiran yang siap dipakai pada pesan.</a:t>
            </a:r>
          </a:p>
        </p:txBody>
      </p:sp>
      <p:sp>
        <p:nvSpPr>
          <p:cNvPr id="10" name="text-176">
            <a:extLst xmlns:a="http://schemas.openxmlformats.org/drawingml/2006/main">
              <a:ext uri="{FF2B5EF4-FFF2-40B4-BE49-F238E27FC236}">
                <a16:creationId xmlns:a16="http://schemas.microsoft.com/office/drawing/2014/main" id="{592FC9A6-FD00-4A3B-ADC9-8BCB8F27FD29}"/>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77">
            <a:extLst xmlns:a="http://schemas.openxmlformats.org/drawingml/2006/main">
              <a:ext uri="{FF2B5EF4-FFF2-40B4-BE49-F238E27FC236}">
                <a16:creationId xmlns:a16="http://schemas.microsoft.com/office/drawing/2014/main" id="{EF43E96F-81F7-4095-B2CC-1124A016FA6E}"/>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Periksa sebelum kirim</a:t>
            </a:r>
          </a:p>
        </p:txBody>
      </p:sp>
      <p:sp>
        <p:nvSpPr>
          <p:cNvPr id="12" name="text-178">
            <a:extLst xmlns:a="http://schemas.openxmlformats.org/drawingml/2006/main">
              <a:ext uri="{FF2B5EF4-FFF2-40B4-BE49-F238E27FC236}">
                <a16:creationId xmlns:a16="http://schemas.microsoft.com/office/drawing/2014/main" id="{5E15ACB7-ED98-4371-94F7-FA322456BBF8}"/>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Composer menampilkan nama atau pratinjau lampiran yang dipilih.</a:t>
            </a:r>
          </a:p>
        </p:txBody>
      </p:sp>
      <p:pic>
        <p:nvPicPr>
          <p:cNvPr id="13" name="">
            <a:extLst xmlns:a="http://schemas.openxmlformats.org/drawingml/2006/main">
              <a:ext uri="{FF2B5EF4-FFF2-40B4-BE49-F238E27FC236}">
                <a16:creationId xmlns:a16="http://schemas.microsoft.com/office/drawing/2014/main" id="{5F86543F-306B-49EE-A1EB-9C2686F5884F}"/>
              </a:ext>
            </a:extLst>
          </p:cNvPr>
          <p:cNvPicPr>
            <a:picLocks xmlns:a="http://schemas.openxmlformats.org/drawingml/2006/main" noChangeAspect="1"/>
          </p:cNvPicPr>
          <p:nvPr/>
        </p:nvPicPr>
        <p:blipFill>
          <a:blip xmlns:r="http://schemas.openxmlformats.org/officeDocument/2006/relationships" xmlns:a="http://schemas.openxmlformats.org/drawingml/2006/main" r:embed="R837a05077e544a20"/>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909992064"/>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80">
            <a:extLst xmlns:a="http://schemas.openxmlformats.org/drawingml/2006/main">
              <a:ext uri="{FF2B5EF4-FFF2-40B4-BE49-F238E27FC236}">
                <a16:creationId xmlns:a16="http://schemas.microsoft.com/office/drawing/2014/main" id="{5B06E89E-21B9-4BAE-9BA7-CBB37B78E621}"/>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Penyimpanan dan akses lampiran</a:t>
            </a:r>
          </a:p>
        </p:txBody>
      </p:sp>
      <p:sp>
        <p:nvSpPr>
          <p:cNvPr id="2" name="text-181">
            <a:extLst xmlns:a="http://schemas.openxmlformats.org/drawingml/2006/main">
              <a:ext uri="{FF2B5EF4-FFF2-40B4-BE49-F238E27FC236}">
                <a16:creationId xmlns:a16="http://schemas.microsoft.com/office/drawing/2014/main" id="{6545F339-3F14-4F89-B0A6-FE4623C8BB80}"/>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18</a:t>
            </a:r>
          </a:p>
        </p:txBody>
      </p:sp>
      <p:sp>
        <p:nvSpPr>
          <p:cNvPr id="3" name="text-182">
            <a:extLst xmlns:a="http://schemas.openxmlformats.org/drawingml/2006/main">
              <a:ext uri="{FF2B5EF4-FFF2-40B4-BE49-F238E27FC236}">
                <a16:creationId xmlns:a16="http://schemas.microsoft.com/office/drawing/2014/main" id="{F4FDA7D1-F105-4B01-B791-9CE9006029A4}"/>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Gambar dibuka dari lampiran yang benar-benar disimpan oleh server.</a:t>
            </a:r>
          </a:p>
        </p:txBody>
      </p:sp>
      <p:sp>
        <p:nvSpPr>
          <p:cNvPr id="4" name="text-183">
            <a:extLst xmlns:a="http://schemas.openxmlformats.org/drawingml/2006/main">
              <a:ext uri="{FF2B5EF4-FFF2-40B4-BE49-F238E27FC236}">
                <a16:creationId xmlns:a16="http://schemas.microsoft.com/office/drawing/2014/main" id="{1A656A67-6531-4696-9D3F-3076DD60C7FD}"/>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84">
            <a:extLst xmlns:a="http://schemas.openxmlformats.org/drawingml/2006/main">
              <a:ext uri="{FF2B5EF4-FFF2-40B4-BE49-F238E27FC236}">
                <a16:creationId xmlns:a16="http://schemas.microsoft.com/office/drawing/2014/main" id="{C2348096-72DF-4E6F-81E3-A69B90620FCD}"/>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Bytes dan metadata</a:t>
            </a:r>
          </a:p>
        </p:txBody>
      </p:sp>
      <p:sp>
        <p:nvSpPr>
          <p:cNvPr id="6" name="text-185">
            <a:extLst xmlns:a="http://schemas.openxmlformats.org/drawingml/2006/main">
              <a:ext uri="{FF2B5EF4-FFF2-40B4-BE49-F238E27FC236}">
                <a16:creationId xmlns:a16="http://schemas.microsoft.com/office/drawing/2014/main" id="{A41981E5-028F-4741-9183-D753EB99157A}"/>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Database menyimpan isi file, nama, tipe, ukuran, pemilik, dan percakapannya.</a:t>
            </a:r>
          </a:p>
        </p:txBody>
      </p:sp>
      <p:sp>
        <p:nvSpPr>
          <p:cNvPr id="7" name="text-186">
            <a:extLst xmlns:a="http://schemas.openxmlformats.org/drawingml/2006/main">
              <a:ext uri="{FF2B5EF4-FFF2-40B4-BE49-F238E27FC236}">
                <a16:creationId xmlns:a16="http://schemas.microsoft.com/office/drawing/2014/main" id="{E4A4CD84-6774-46BD-8083-1D49778F5DF4}"/>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87">
            <a:extLst xmlns:a="http://schemas.openxmlformats.org/drawingml/2006/main">
              <a:ext uri="{FF2B5EF4-FFF2-40B4-BE49-F238E27FC236}">
                <a16:creationId xmlns:a16="http://schemas.microsoft.com/office/drawing/2014/main" id="{BCECFF11-6923-4A92-9167-9794914579E0}"/>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Akses diperiksa</a:t>
            </a:r>
          </a:p>
        </p:txBody>
      </p:sp>
      <p:sp>
        <p:nvSpPr>
          <p:cNvPr id="9" name="text-188">
            <a:extLst xmlns:a="http://schemas.openxmlformats.org/drawingml/2006/main">
              <a:ext uri="{FF2B5EF4-FFF2-40B4-BE49-F238E27FC236}">
                <a16:creationId xmlns:a16="http://schemas.microsoft.com/office/drawing/2014/main" id="{EB058A4A-DF6D-4D42-BACF-BB02026056D8}"/>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Unduhan memerlukan sesi yang sah dan akses ke percakapan terkait.</a:t>
            </a:r>
          </a:p>
        </p:txBody>
      </p:sp>
      <p:sp>
        <p:nvSpPr>
          <p:cNvPr id="10" name="text-189">
            <a:extLst xmlns:a="http://schemas.openxmlformats.org/drawingml/2006/main">
              <a:ext uri="{FF2B5EF4-FFF2-40B4-BE49-F238E27FC236}">
                <a16:creationId xmlns:a16="http://schemas.microsoft.com/office/drawing/2014/main" id="{5764A56C-DE10-40FC-A50D-424B662B6305}"/>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90">
            <a:extLst xmlns:a="http://schemas.openxmlformats.org/drawingml/2006/main">
              <a:ext uri="{FF2B5EF4-FFF2-40B4-BE49-F238E27FC236}">
                <a16:creationId xmlns:a16="http://schemas.microsoft.com/office/drawing/2014/main" id="{D53358EE-6123-45A0-A314-3EBFCF4BFAE2}"/>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Pengalaman pada perangkat</a:t>
            </a:r>
          </a:p>
        </p:txBody>
      </p:sp>
      <p:sp>
        <p:nvSpPr>
          <p:cNvPr id="12" name="text-191">
            <a:extLst xmlns:a="http://schemas.openxmlformats.org/drawingml/2006/main">
              <a:ext uri="{FF2B5EF4-FFF2-40B4-BE49-F238E27FC236}">
                <a16:creationId xmlns:a16="http://schemas.microsoft.com/office/drawing/2014/main" id="{227F3559-A377-447E-8E93-3331C381C0F3}"/>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Gambar dapat diperbesar, sedangkan dokumen dapat disimpan ke perangkat.</a:t>
            </a:r>
          </a:p>
        </p:txBody>
      </p:sp>
      <p:pic>
        <p:nvPicPr>
          <p:cNvPr id="13" name="">
            <a:extLst xmlns:a="http://schemas.openxmlformats.org/drawingml/2006/main">
              <a:ext uri="{FF2B5EF4-FFF2-40B4-BE49-F238E27FC236}">
                <a16:creationId xmlns:a16="http://schemas.microsoft.com/office/drawing/2014/main" id="{6ED0CF6C-0E05-4C4D-A26F-3FF6FAAA88C1}"/>
              </a:ext>
            </a:extLst>
          </p:cNvPr>
          <p:cNvPicPr>
            <a:picLocks xmlns:a="http://schemas.openxmlformats.org/drawingml/2006/main" noChangeAspect="1"/>
          </p:cNvPicPr>
          <p:nvPr/>
        </p:nvPicPr>
        <p:blipFill>
          <a:blip xmlns:r="http://schemas.openxmlformats.org/officeDocument/2006/relationships" xmlns:a="http://schemas.openxmlformats.org/drawingml/2006/main" r:embed="Ra4e8b2cae93d47c5"/>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771185501"/>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93">
            <a:extLst xmlns:a="http://schemas.openxmlformats.org/drawingml/2006/main">
              <a:ext uri="{FF2B5EF4-FFF2-40B4-BE49-F238E27FC236}">
                <a16:creationId xmlns:a16="http://schemas.microsoft.com/office/drawing/2014/main" id="{C055E3F9-D364-47CB-BB9C-2037CCE658D1}"/>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Pencarian pesan</a:t>
            </a:r>
          </a:p>
        </p:txBody>
      </p:sp>
      <p:sp>
        <p:nvSpPr>
          <p:cNvPr id="2" name="text-194">
            <a:extLst xmlns:a="http://schemas.openxmlformats.org/drawingml/2006/main">
              <a:ext uri="{FF2B5EF4-FFF2-40B4-BE49-F238E27FC236}">
                <a16:creationId xmlns:a16="http://schemas.microsoft.com/office/drawing/2014/main" id="{DD9232B9-33FB-48B2-B813-9035F0497E9E}"/>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19</a:t>
            </a:r>
          </a:p>
        </p:txBody>
      </p:sp>
      <p:sp>
        <p:nvSpPr>
          <p:cNvPr id="3" name="text-195">
            <a:extLst xmlns:a="http://schemas.openxmlformats.org/drawingml/2006/main">
              <a:ext uri="{FF2B5EF4-FFF2-40B4-BE49-F238E27FC236}">
                <a16:creationId xmlns:a16="http://schemas.microsoft.com/office/drawing/2014/main" id="{DBA24211-6AF0-4BDF-87CD-CFBD3A122387}"/>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Kata kunci membantu pengguna menemukan konteks dalam percakapan.</a:t>
            </a:r>
          </a:p>
        </p:txBody>
      </p:sp>
      <p:sp>
        <p:nvSpPr>
          <p:cNvPr id="4" name="text-196">
            <a:extLst xmlns:a="http://schemas.openxmlformats.org/drawingml/2006/main">
              <a:ext uri="{FF2B5EF4-FFF2-40B4-BE49-F238E27FC236}">
                <a16:creationId xmlns:a16="http://schemas.microsoft.com/office/drawing/2014/main" id="{3483A91B-061A-4F73-B0C0-08BFBE71753D}"/>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97">
            <a:extLst xmlns:a="http://schemas.openxmlformats.org/drawingml/2006/main">
              <a:ext uri="{FF2B5EF4-FFF2-40B4-BE49-F238E27FC236}">
                <a16:creationId xmlns:a16="http://schemas.microsoft.com/office/drawing/2014/main" id="{4D2121EC-D326-416B-8116-B1854FCED762}"/>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Pencarian dalam ruang chat</a:t>
            </a:r>
          </a:p>
        </p:txBody>
      </p:sp>
      <p:sp>
        <p:nvSpPr>
          <p:cNvPr id="6" name="text-198">
            <a:extLst xmlns:a="http://schemas.openxmlformats.org/drawingml/2006/main">
              <a:ext uri="{FF2B5EF4-FFF2-40B4-BE49-F238E27FC236}">
                <a16:creationId xmlns:a16="http://schemas.microsoft.com/office/drawing/2014/main" id="{27F4FE29-F856-4887-BE73-97D1EECE268C}"/>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memasukkan kata kunci pada layar percakapan.</a:t>
            </a:r>
          </a:p>
        </p:txBody>
      </p:sp>
      <p:sp>
        <p:nvSpPr>
          <p:cNvPr id="7" name="text-199">
            <a:extLst xmlns:a="http://schemas.openxmlformats.org/drawingml/2006/main">
              <a:ext uri="{FF2B5EF4-FFF2-40B4-BE49-F238E27FC236}">
                <a16:creationId xmlns:a16="http://schemas.microsoft.com/office/drawing/2014/main" id="{6D587347-4592-42D3-B68C-C61529E40EFA}"/>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00">
            <a:extLst xmlns:a="http://schemas.openxmlformats.org/drawingml/2006/main">
              <a:ext uri="{FF2B5EF4-FFF2-40B4-BE49-F238E27FC236}">
                <a16:creationId xmlns:a16="http://schemas.microsoft.com/office/drawing/2014/main" id="{612FDBF5-8366-45BA-BF90-3BCAC7CA90C8}"/>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Hasil dari riwayat yang dimuat</a:t>
            </a:r>
          </a:p>
        </p:txBody>
      </p:sp>
      <p:sp>
        <p:nvSpPr>
          <p:cNvPr id="9" name="text-201">
            <a:extLst xmlns:a="http://schemas.openxmlformats.org/drawingml/2006/main">
              <a:ext uri="{FF2B5EF4-FFF2-40B4-BE49-F238E27FC236}">
                <a16:creationId xmlns:a16="http://schemas.microsoft.com/office/drawing/2014/main" id="{EBD63E98-B2E5-443F-840F-0D2AECAC8EE2}"/>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Aplikasi menyaring isi pesan tanpa mengubah data aslinya.</a:t>
            </a:r>
          </a:p>
        </p:txBody>
      </p:sp>
      <p:sp>
        <p:nvSpPr>
          <p:cNvPr id="10" name="text-202">
            <a:extLst xmlns:a="http://schemas.openxmlformats.org/drawingml/2006/main">
              <a:ext uri="{FF2B5EF4-FFF2-40B4-BE49-F238E27FC236}">
                <a16:creationId xmlns:a16="http://schemas.microsoft.com/office/drawing/2014/main" id="{0A506430-D0B5-4AF8-8BB8-63EFCC054887}"/>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03">
            <a:extLst xmlns:a="http://schemas.openxmlformats.org/drawingml/2006/main">
              <a:ext uri="{FF2B5EF4-FFF2-40B4-BE49-F238E27FC236}">
                <a16:creationId xmlns:a16="http://schemas.microsoft.com/office/drawing/2014/main" id="{FD4A9AA6-23C2-4A3D-8B47-95D93DF700CD}"/>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Riwayat lama dapat diperluas</a:t>
            </a:r>
          </a:p>
        </p:txBody>
      </p:sp>
      <p:sp>
        <p:nvSpPr>
          <p:cNvPr id="12" name="text-204">
            <a:extLst xmlns:a="http://schemas.openxmlformats.org/drawingml/2006/main">
              <a:ext uri="{FF2B5EF4-FFF2-40B4-BE49-F238E27FC236}">
                <a16:creationId xmlns:a16="http://schemas.microsoft.com/office/drawing/2014/main" id="{56C74665-9C3C-455A-A9F4-1EA96EC1D72B}"/>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Pengguna memuat pesan sebelumnya untuk memperluas jangkauan pencarian.</a:t>
            </a:r>
          </a:p>
        </p:txBody>
      </p:sp>
      <p:pic>
        <p:nvPicPr>
          <p:cNvPr id="13" name="">
            <a:extLst xmlns:a="http://schemas.openxmlformats.org/drawingml/2006/main">
              <a:ext uri="{FF2B5EF4-FFF2-40B4-BE49-F238E27FC236}">
                <a16:creationId xmlns:a16="http://schemas.microsoft.com/office/drawing/2014/main" id="{AE14FA7D-EC83-45E2-ACE0-A146E1153140}"/>
              </a:ext>
            </a:extLst>
          </p:cNvPr>
          <p:cNvPicPr>
            <a:picLocks xmlns:a="http://schemas.openxmlformats.org/drawingml/2006/main" noChangeAspect="1"/>
          </p:cNvPicPr>
          <p:nvPr/>
        </p:nvPicPr>
        <p:blipFill>
          <a:blip xmlns:r="http://schemas.openxmlformats.org/officeDocument/2006/relationships" xmlns:a="http://schemas.openxmlformats.org/drawingml/2006/main" r:embed="R0b49815f576f4e5b"/>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328890271"/>
      </p:ext>
    </p:extLst>
  </p:cSld>
</p:sld>
</file>

<file path=ppt/slides/slide2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206">
            <a:extLst xmlns:a="http://schemas.openxmlformats.org/drawingml/2006/main">
              <a:ext uri="{FF2B5EF4-FFF2-40B4-BE49-F238E27FC236}">
                <a16:creationId xmlns:a16="http://schemas.microsoft.com/office/drawing/2014/main" id="{AB6466EC-2B29-42F2-BB13-4A0CD3418294}"/>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Profil sendiri dan info kontak</a:t>
            </a:r>
          </a:p>
        </p:txBody>
      </p:sp>
      <p:sp>
        <p:nvSpPr>
          <p:cNvPr id="2" name="text-207">
            <a:extLst xmlns:a="http://schemas.openxmlformats.org/drawingml/2006/main">
              <a:ext uri="{FF2B5EF4-FFF2-40B4-BE49-F238E27FC236}">
                <a16:creationId xmlns:a16="http://schemas.microsoft.com/office/drawing/2014/main" id="{4DBFC938-E0CD-4FA3-81DB-8C3712A4C56D}"/>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Dua layar profil melayani kebutuhan yang berbeda.</a:t>
            </a:r>
          </a:p>
        </p:txBody>
      </p:sp>
      <p:sp>
        <p:nvSpPr>
          <p:cNvPr id="3" name="text-208">
            <a:extLst xmlns:a="http://schemas.openxmlformats.org/drawingml/2006/main">
              <a:ext uri="{FF2B5EF4-FFF2-40B4-BE49-F238E27FC236}">
                <a16:creationId xmlns:a16="http://schemas.microsoft.com/office/drawing/2014/main" id="{5DBFDC99-AC88-4AB4-8A46-D08980468FDA}"/>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20</a:t>
            </a:r>
          </a:p>
        </p:txBody>
      </p:sp>
      <p:sp>
        <p:nvSpPr>
          <p:cNvPr id="4" name="text-209">
            <a:extLst xmlns:a="http://schemas.openxmlformats.org/drawingml/2006/main">
              <a:ext uri="{FF2B5EF4-FFF2-40B4-BE49-F238E27FC236}">
                <a16:creationId xmlns:a16="http://schemas.microsoft.com/office/drawing/2014/main" id="{319CFA5B-48E8-42AD-BAAC-1D1B90F6AC41}"/>
              </a:ext>
            </a:extLst>
          </p:cNvPr>
          <p:cNvSpPr>
            <a:spLocks xmlns:a="http://schemas.openxmlformats.org/drawingml/2006/main" noGrp="1"/>
          </p:cNvSpPr>
          <p:nvPr/>
        </p:nvSpPr>
        <p:spPr>
          <a:xfrm xmlns:a="http://schemas.openxmlformats.org/drawingml/2006/main">
            <a:off x="914400" y="31623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10">
            <a:extLst xmlns:a="http://schemas.openxmlformats.org/drawingml/2006/main">
              <a:ext uri="{FF2B5EF4-FFF2-40B4-BE49-F238E27FC236}">
                <a16:creationId xmlns:a16="http://schemas.microsoft.com/office/drawing/2014/main" id="{4DAA9ECF-27EE-4A95-9BB9-3F7C36DE8B15}"/>
              </a:ext>
            </a:extLst>
          </p:cNvPr>
          <p:cNvSpPr>
            <a:spLocks xmlns:a="http://schemas.openxmlformats.org/drawingml/2006/main" noGrp="1"/>
          </p:cNvSpPr>
          <p:nvPr/>
        </p:nvSpPr>
        <p:spPr>
          <a:xfrm xmlns:a="http://schemas.openxmlformats.org/drawingml/2006/main">
            <a:off x="1619250" y="3162300"/>
            <a:ext cx="481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Profil sendiri</a:t>
            </a:r>
          </a:p>
        </p:txBody>
      </p:sp>
      <p:sp>
        <p:nvSpPr>
          <p:cNvPr id="6" name="text-211">
            <a:extLst xmlns:a="http://schemas.openxmlformats.org/drawingml/2006/main">
              <a:ext uri="{FF2B5EF4-FFF2-40B4-BE49-F238E27FC236}">
                <a16:creationId xmlns:a16="http://schemas.microsoft.com/office/drawing/2014/main" id="{BD53696C-5702-4D17-8299-B737B350BDC8}"/>
              </a:ext>
            </a:extLst>
          </p:cNvPr>
          <p:cNvSpPr>
            <a:spLocks xmlns:a="http://schemas.openxmlformats.org/drawingml/2006/main" noGrp="1"/>
          </p:cNvSpPr>
          <p:nvPr/>
        </p:nvSpPr>
        <p:spPr>
          <a:xfrm xmlns:a="http://schemas.openxmlformats.org/drawingml/2006/main">
            <a:off x="1619250" y="3733800"/>
            <a:ext cx="474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Identitas akun, pilihan tema, dan tombol keluar dari sesi.</a:t>
            </a:r>
          </a:p>
        </p:txBody>
      </p:sp>
      <p:sp>
        <p:nvSpPr>
          <p:cNvPr id="7" name="text-212">
            <a:extLst xmlns:a="http://schemas.openxmlformats.org/drawingml/2006/main">
              <a:ext uri="{FF2B5EF4-FFF2-40B4-BE49-F238E27FC236}">
                <a16:creationId xmlns:a16="http://schemas.microsoft.com/office/drawing/2014/main" id="{EF1AFDCF-DE54-4070-A6B6-4513C6FFD6CC}"/>
              </a:ext>
            </a:extLst>
          </p:cNvPr>
          <p:cNvSpPr>
            <a:spLocks xmlns:a="http://schemas.openxmlformats.org/drawingml/2006/main" noGrp="1"/>
          </p:cNvSpPr>
          <p:nvPr/>
        </p:nvSpPr>
        <p:spPr>
          <a:xfrm xmlns:a="http://schemas.openxmlformats.org/drawingml/2006/main">
            <a:off x="914400" y="51435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13">
            <a:extLst xmlns:a="http://schemas.openxmlformats.org/drawingml/2006/main">
              <a:ext uri="{FF2B5EF4-FFF2-40B4-BE49-F238E27FC236}">
                <a16:creationId xmlns:a16="http://schemas.microsoft.com/office/drawing/2014/main" id="{7A2A3260-D4DF-4250-A8D7-6BA2D352B557}"/>
              </a:ext>
            </a:extLst>
          </p:cNvPr>
          <p:cNvSpPr>
            <a:spLocks xmlns:a="http://schemas.openxmlformats.org/drawingml/2006/main" noGrp="1"/>
          </p:cNvSpPr>
          <p:nvPr/>
        </p:nvSpPr>
        <p:spPr>
          <a:xfrm xmlns:a="http://schemas.openxmlformats.org/drawingml/2006/main">
            <a:off x="1619250" y="5143500"/>
            <a:ext cx="481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Info kontak</a:t>
            </a:r>
          </a:p>
        </p:txBody>
      </p:sp>
      <p:sp>
        <p:nvSpPr>
          <p:cNvPr id="9" name="text-214">
            <a:extLst xmlns:a="http://schemas.openxmlformats.org/drawingml/2006/main">
              <a:ext uri="{FF2B5EF4-FFF2-40B4-BE49-F238E27FC236}">
                <a16:creationId xmlns:a16="http://schemas.microsoft.com/office/drawing/2014/main" id="{4E8E5010-9F81-45C2-B94D-A7A2922DBAB8}"/>
              </a:ext>
            </a:extLst>
          </p:cNvPr>
          <p:cNvSpPr>
            <a:spLocks xmlns:a="http://schemas.openxmlformats.org/drawingml/2006/main" noGrp="1"/>
          </p:cNvSpPr>
          <p:nvPr/>
        </p:nvSpPr>
        <p:spPr>
          <a:xfrm xmlns:a="http://schemas.openxmlformats.org/drawingml/2006/main">
            <a:off x="1619250" y="5715000"/>
            <a:ext cx="474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Nama serta status teman, dengan petunjuk interaksi dalam chat.</a:t>
            </a:r>
          </a:p>
        </p:txBody>
      </p:sp>
      <p:pic>
        <p:nvPicPr>
          <p:cNvPr id="10" name="">
            <a:extLst xmlns:a="http://schemas.openxmlformats.org/drawingml/2006/main">
              <a:ext uri="{FF2B5EF4-FFF2-40B4-BE49-F238E27FC236}">
                <a16:creationId xmlns:a16="http://schemas.microsoft.com/office/drawing/2014/main" id="{5E39A9C7-F767-4613-A0B1-8D5D720EBF96}"/>
              </a:ext>
            </a:extLst>
          </p:cNvPr>
          <p:cNvPicPr>
            <a:picLocks xmlns:a="http://schemas.openxmlformats.org/drawingml/2006/main" noChangeAspect="1"/>
          </p:cNvPicPr>
          <p:nvPr/>
        </p:nvPicPr>
        <p:blipFill>
          <a:blip xmlns:r="http://schemas.openxmlformats.org/officeDocument/2006/relationships" xmlns:a="http://schemas.openxmlformats.org/drawingml/2006/main" r:embed="R5787a25822314985"/>
          <a:stretch xmlns:a="http://schemas.openxmlformats.org/drawingml/2006/main"/>
        </p:blipFill>
        <p:spPr>
          <a:xfrm xmlns:a="http://schemas.openxmlformats.org/drawingml/2006/main">
            <a:off x="7524750" y="2247900"/>
            <a:ext cx="2444671" cy="54864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61D243BB-A7D0-49B0-A1F5-DA002876B460}"/>
              </a:ext>
            </a:extLst>
          </p:cNvPr>
          <p:cNvPicPr>
            <a:picLocks xmlns:a="http://schemas.openxmlformats.org/drawingml/2006/main" noChangeAspect="1"/>
          </p:cNvPicPr>
          <p:nvPr/>
        </p:nvPicPr>
        <p:blipFill>
          <a:blip xmlns:r="http://schemas.openxmlformats.org/officeDocument/2006/relationships" xmlns:a="http://schemas.openxmlformats.org/drawingml/2006/main" r:embed="Rde54a13c2a9342a8"/>
          <a:stretch xmlns:a="http://schemas.openxmlformats.org/drawingml/2006/main"/>
        </p:blipFill>
        <p:spPr>
          <a:xfrm xmlns:a="http://schemas.openxmlformats.org/drawingml/2006/main">
            <a:off x="10877550" y="2247900"/>
            <a:ext cx="2444671" cy="5486400"/>
          </a:xfrm>
          <a:prstGeom xmlns:a="http://schemas.openxmlformats.org/drawingml/2006/main" prst="rect">
            <a:avLst/>
          </a:prstGeom>
        </p:spPr>
      </p:pic>
      <p:sp>
        <p:nvSpPr>
          <p:cNvPr id="12" name="text-217">
            <a:extLst xmlns:a="http://schemas.openxmlformats.org/drawingml/2006/main">
              <a:ext uri="{FF2B5EF4-FFF2-40B4-BE49-F238E27FC236}">
                <a16:creationId xmlns:a16="http://schemas.microsoft.com/office/drawing/2014/main" id="{5816493A-C815-44D6-B8CA-B080FFEC1872}"/>
              </a:ext>
            </a:extLst>
          </p:cNvPr>
          <p:cNvSpPr>
            <a:spLocks xmlns:a="http://schemas.openxmlformats.org/drawingml/2006/main" noGrp="1"/>
          </p:cNvSpPr>
          <p:nvPr/>
        </p:nvSpPr>
        <p:spPr>
          <a:xfrm xmlns:a="http://schemas.openxmlformats.org/drawingml/2006/main">
            <a:off x="7524750" y="16954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0284C7"/>
                </a:solidFill>
                <a:latin typeface="Arial"/>
                <a:ea typeface="Arial"/>
                <a:cs typeface="Arial"/>
              </a:defRPr>
            </a:defPPr>
            <a:lvl1pPr algn="ctr">
              <a:defRPr sz="1950" b="1">
                <a:solidFill>
                  <a:srgbClr val="0284C7"/>
                </a:solidFill>
                <a:latin typeface="Arial"/>
                <a:ea typeface="Arial"/>
                <a:cs typeface="Arial"/>
              </a:defRPr>
            </a:lvl1pPr>
            <a:lvl2pPr algn="ctr">
              <a:defRPr sz="1950" b="1">
                <a:solidFill>
                  <a:srgbClr val="0284C7"/>
                </a:solidFill>
                <a:latin typeface="Arial"/>
                <a:ea typeface="Arial"/>
                <a:cs typeface="Arial"/>
              </a:defRPr>
            </a:lvl2pPr>
            <a:lvl3pPr algn="ctr">
              <a:defRPr sz="1950" b="1">
                <a:solidFill>
                  <a:srgbClr val="0284C7"/>
                </a:solidFill>
                <a:latin typeface="Arial"/>
                <a:ea typeface="Arial"/>
                <a:cs typeface="Arial"/>
              </a:defRPr>
            </a:lvl3pPr>
            <a:lvl4pPr algn="ctr">
              <a:defRPr sz="1950" b="1">
                <a:solidFill>
                  <a:srgbClr val="0284C7"/>
                </a:solidFill>
                <a:latin typeface="Arial"/>
                <a:ea typeface="Arial"/>
                <a:cs typeface="Arial"/>
              </a:defRPr>
            </a:lvl4pPr>
            <a:lvl5pPr algn="ctr">
              <a:defRPr sz="1950" b="1">
                <a:solidFill>
                  <a:srgbClr val="0284C7"/>
                </a:solidFill>
                <a:latin typeface="Arial"/>
                <a:ea typeface="Arial"/>
                <a:cs typeface="Arial"/>
              </a:defRPr>
            </a:lvl5pPr>
            <a:lvl6pPr algn="ctr">
              <a:defRPr sz="1950" b="1">
                <a:solidFill>
                  <a:srgbClr val="0284C7"/>
                </a:solidFill>
                <a:latin typeface="Arial"/>
                <a:ea typeface="Arial"/>
                <a:cs typeface="Arial"/>
              </a:defRPr>
            </a:lvl6pPr>
            <a:lvl7pPr algn="ctr">
              <a:defRPr sz="1950" b="1">
                <a:solidFill>
                  <a:srgbClr val="0284C7"/>
                </a:solidFill>
                <a:latin typeface="Arial"/>
                <a:ea typeface="Arial"/>
                <a:cs typeface="Arial"/>
              </a:defRPr>
            </a:lvl7pPr>
            <a:lvl8pPr algn="ctr">
              <a:defRPr sz="1950" b="1">
                <a:solidFill>
                  <a:srgbClr val="0284C7"/>
                </a:solidFill>
                <a:latin typeface="Arial"/>
                <a:ea typeface="Arial"/>
                <a:cs typeface="Arial"/>
              </a:defRPr>
            </a:lvl8pPr>
            <a:lvl9pPr algn="ctr">
              <a:defRPr sz="1950" b="1">
                <a:solidFill>
                  <a:srgbClr val="0284C7"/>
                </a:solidFill>
                <a:latin typeface="Arial"/>
                <a:ea typeface="Arial"/>
                <a:cs typeface="Arial"/>
              </a:defRPr>
            </a:lvl9pPr>
          </a:lstStyle>
          <a:p xmlns:a="http://schemas.openxmlformats.org/drawingml/2006/main">
            <a:pPr algn="ctr">
              <a:defRPr sz="1950" b="1">
                <a:solidFill>
                  <a:srgbClr val="0284C7"/>
                </a:solidFill>
                <a:latin typeface="Arial"/>
                <a:ea typeface="Arial"/>
                <a:cs typeface="Arial"/>
              </a:defRPr>
            </a:pPr>
            <a:r>
              <a:rPr sz="1950" b="1">
                <a:solidFill>
                  <a:srgbClr val="0284C7"/>
                </a:solidFill>
                <a:latin typeface="Arial"/>
                <a:ea typeface="Arial"/>
                <a:cs typeface="Arial"/>
              </a:rPr>
              <a:t>Akun sendiri</a:t>
            </a:r>
          </a:p>
        </p:txBody>
      </p:sp>
      <p:sp>
        <p:nvSpPr>
          <p:cNvPr id="13" name="text-218">
            <a:extLst xmlns:a="http://schemas.openxmlformats.org/drawingml/2006/main">
              <a:ext uri="{FF2B5EF4-FFF2-40B4-BE49-F238E27FC236}">
                <a16:creationId xmlns:a16="http://schemas.microsoft.com/office/drawing/2014/main" id="{6554E7B3-F149-4BBA-9551-AA9ABF31DB5B}"/>
              </a:ext>
            </a:extLst>
          </p:cNvPr>
          <p:cNvSpPr>
            <a:spLocks xmlns:a="http://schemas.openxmlformats.org/drawingml/2006/main" noGrp="1"/>
          </p:cNvSpPr>
          <p:nvPr/>
        </p:nvSpPr>
        <p:spPr>
          <a:xfrm xmlns:a="http://schemas.openxmlformats.org/drawingml/2006/main">
            <a:off x="10877550" y="16954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0284C7"/>
                </a:solidFill>
                <a:latin typeface="Arial"/>
                <a:ea typeface="Arial"/>
                <a:cs typeface="Arial"/>
              </a:defRPr>
            </a:defPPr>
            <a:lvl1pPr algn="ctr">
              <a:defRPr sz="1950" b="1">
                <a:solidFill>
                  <a:srgbClr val="0284C7"/>
                </a:solidFill>
                <a:latin typeface="Arial"/>
                <a:ea typeface="Arial"/>
                <a:cs typeface="Arial"/>
              </a:defRPr>
            </a:lvl1pPr>
            <a:lvl2pPr algn="ctr">
              <a:defRPr sz="1950" b="1">
                <a:solidFill>
                  <a:srgbClr val="0284C7"/>
                </a:solidFill>
                <a:latin typeface="Arial"/>
                <a:ea typeface="Arial"/>
                <a:cs typeface="Arial"/>
              </a:defRPr>
            </a:lvl2pPr>
            <a:lvl3pPr algn="ctr">
              <a:defRPr sz="1950" b="1">
                <a:solidFill>
                  <a:srgbClr val="0284C7"/>
                </a:solidFill>
                <a:latin typeface="Arial"/>
                <a:ea typeface="Arial"/>
                <a:cs typeface="Arial"/>
              </a:defRPr>
            </a:lvl3pPr>
            <a:lvl4pPr algn="ctr">
              <a:defRPr sz="1950" b="1">
                <a:solidFill>
                  <a:srgbClr val="0284C7"/>
                </a:solidFill>
                <a:latin typeface="Arial"/>
                <a:ea typeface="Arial"/>
                <a:cs typeface="Arial"/>
              </a:defRPr>
            </a:lvl4pPr>
            <a:lvl5pPr algn="ctr">
              <a:defRPr sz="1950" b="1">
                <a:solidFill>
                  <a:srgbClr val="0284C7"/>
                </a:solidFill>
                <a:latin typeface="Arial"/>
                <a:ea typeface="Arial"/>
                <a:cs typeface="Arial"/>
              </a:defRPr>
            </a:lvl5pPr>
            <a:lvl6pPr algn="ctr">
              <a:defRPr sz="1950" b="1">
                <a:solidFill>
                  <a:srgbClr val="0284C7"/>
                </a:solidFill>
                <a:latin typeface="Arial"/>
                <a:ea typeface="Arial"/>
                <a:cs typeface="Arial"/>
              </a:defRPr>
            </a:lvl6pPr>
            <a:lvl7pPr algn="ctr">
              <a:defRPr sz="1950" b="1">
                <a:solidFill>
                  <a:srgbClr val="0284C7"/>
                </a:solidFill>
                <a:latin typeface="Arial"/>
                <a:ea typeface="Arial"/>
                <a:cs typeface="Arial"/>
              </a:defRPr>
            </a:lvl7pPr>
            <a:lvl8pPr algn="ctr">
              <a:defRPr sz="1950" b="1">
                <a:solidFill>
                  <a:srgbClr val="0284C7"/>
                </a:solidFill>
                <a:latin typeface="Arial"/>
                <a:ea typeface="Arial"/>
                <a:cs typeface="Arial"/>
              </a:defRPr>
            </a:lvl8pPr>
            <a:lvl9pPr algn="ctr">
              <a:defRPr sz="1950" b="1">
                <a:solidFill>
                  <a:srgbClr val="0284C7"/>
                </a:solidFill>
                <a:latin typeface="Arial"/>
                <a:ea typeface="Arial"/>
                <a:cs typeface="Arial"/>
              </a:defRPr>
            </a:lvl9pPr>
          </a:lstStyle>
          <a:p xmlns:a="http://schemas.openxmlformats.org/drawingml/2006/main">
            <a:pPr algn="ctr">
              <a:defRPr sz="1950" b="1">
                <a:solidFill>
                  <a:srgbClr val="0284C7"/>
                </a:solidFill>
                <a:latin typeface="Arial"/>
                <a:ea typeface="Arial"/>
                <a:cs typeface="Arial"/>
              </a:defRPr>
            </a:pPr>
            <a:r>
              <a:rPr sz="1950" b="1">
                <a:solidFill>
                  <a:srgbClr val="0284C7"/>
                </a:solidFill>
                <a:latin typeface="Arial"/>
                <a:ea typeface="Arial"/>
                <a:cs typeface="Arial"/>
              </a:rPr>
              <a:t>Lawan bicara</a:t>
            </a:r>
          </a:p>
        </p:txBody>
      </p:sp>
    </p:spTree>
    <p:extLst>
      <p:ext uri="{BB962C8B-B14F-4D97-AF65-F5344CB8AC3E}">
        <p14:creationId xmlns:p14="http://schemas.microsoft.com/office/powerpoint/2010/main" val="1547076035"/>
      </p:ext>
    </p:extLst>
  </p:cSld>
</p:sld>
</file>

<file path=ppt/slides/slide2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4" name="text-219">
            <a:extLst xmlns:a="http://schemas.openxmlformats.org/drawingml/2006/main">
              <a:ext uri="{FF2B5EF4-FFF2-40B4-BE49-F238E27FC236}">
                <a16:creationId xmlns:a16="http://schemas.microsoft.com/office/drawing/2014/main" id="{B2CF0617-C44F-4068-843E-FA7B54DE085B}"/>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Tema terang dan gelap</a:t>
            </a:r>
          </a:p>
        </p:txBody>
      </p:sp>
      <p:sp>
        <p:nvSpPr>
          <p:cNvPr id="2" name="text-220">
            <a:extLst xmlns:a="http://schemas.openxmlformats.org/drawingml/2006/main">
              <a:ext uri="{FF2B5EF4-FFF2-40B4-BE49-F238E27FC236}">
                <a16:creationId xmlns:a16="http://schemas.microsoft.com/office/drawing/2014/main" id="{BCB4E49F-D8CF-4278-A13E-AA6AC44C8922}"/>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21</a:t>
            </a:r>
          </a:p>
        </p:txBody>
      </p:sp>
      <p:sp>
        <p:nvSpPr>
          <p:cNvPr id="3" name="text-221">
            <a:extLst xmlns:a="http://schemas.openxmlformats.org/drawingml/2006/main">
              <a:ext uri="{FF2B5EF4-FFF2-40B4-BE49-F238E27FC236}">
                <a16:creationId xmlns:a16="http://schemas.microsoft.com/office/drawing/2014/main" id="{76FE97BE-F947-464E-8CB2-345D57F15675}"/>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Preferensi tampilan mengubah warna sambil mempertahankan isi percakapan.</a:t>
            </a:r>
          </a:p>
        </p:txBody>
      </p:sp>
      <p:sp>
        <p:nvSpPr>
          <p:cNvPr id="4" name="text-222">
            <a:extLst xmlns:a="http://schemas.openxmlformats.org/drawingml/2006/main">
              <a:ext uri="{FF2B5EF4-FFF2-40B4-BE49-F238E27FC236}">
                <a16:creationId xmlns:a16="http://schemas.microsoft.com/office/drawing/2014/main" id="{DA6B719F-6900-445C-B51F-71868CF12735}"/>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8BDF8"/>
                </a:solidFill>
                <a:latin typeface="Arial"/>
                <a:ea typeface="Arial"/>
                <a:cs typeface="Arial"/>
              </a:defRPr>
            </a:defPPr>
            <a:lvl1pPr algn="l">
              <a:defRPr sz="2325" b="1">
                <a:solidFill>
                  <a:srgbClr val="38BDF8"/>
                </a:solidFill>
                <a:latin typeface="Arial"/>
                <a:ea typeface="Arial"/>
                <a:cs typeface="Arial"/>
              </a:defRPr>
            </a:lvl1pPr>
            <a:lvl2pPr algn="l">
              <a:defRPr sz="2325" b="1">
                <a:solidFill>
                  <a:srgbClr val="38BDF8"/>
                </a:solidFill>
                <a:latin typeface="Arial"/>
                <a:ea typeface="Arial"/>
                <a:cs typeface="Arial"/>
              </a:defRPr>
            </a:lvl2pPr>
            <a:lvl3pPr algn="l">
              <a:defRPr sz="2325" b="1">
                <a:solidFill>
                  <a:srgbClr val="38BDF8"/>
                </a:solidFill>
                <a:latin typeface="Arial"/>
                <a:ea typeface="Arial"/>
                <a:cs typeface="Arial"/>
              </a:defRPr>
            </a:lvl3pPr>
            <a:lvl4pPr algn="l">
              <a:defRPr sz="2325" b="1">
                <a:solidFill>
                  <a:srgbClr val="38BDF8"/>
                </a:solidFill>
                <a:latin typeface="Arial"/>
                <a:ea typeface="Arial"/>
                <a:cs typeface="Arial"/>
              </a:defRPr>
            </a:lvl4pPr>
            <a:lvl5pPr algn="l">
              <a:defRPr sz="2325" b="1">
                <a:solidFill>
                  <a:srgbClr val="38BDF8"/>
                </a:solidFill>
                <a:latin typeface="Arial"/>
                <a:ea typeface="Arial"/>
                <a:cs typeface="Arial"/>
              </a:defRPr>
            </a:lvl5pPr>
            <a:lvl6pPr algn="l">
              <a:defRPr sz="2325" b="1">
                <a:solidFill>
                  <a:srgbClr val="38BDF8"/>
                </a:solidFill>
                <a:latin typeface="Arial"/>
                <a:ea typeface="Arial"/>
                <a:cs typeface="Arial"/>
              </a:defRPr>
            </a:lvl6pPr>
            <a:lvl7pPr algn="l">
              <a:defRPr sz="2325" b="1">
                <a:solidFill>
                  <a:srgbClr val="38BDF8"/>
                </a:solidFill>
                <a:latin typeface="Arial"/>
                <a:ea typeface="Arial"/>
                <a:cs typeface="Arial"/>
              </a:defRPr>
            </a:lvl7pPr>
            <a:lvl8pPr algn="l">
              <a:defRPr sz="2325" b="1">
                <a:solidFill>
                  <a:srgbClr val="38BDF8"/>
                </a:solidFill>
                <a:latin typeface="Arial"/>
                <a:ea typeface="Arial"/>
                <a:cs typeface="Arial"/>
              </a:defRPr>
            </a:lvl8pPr>
            <a:lvl9pPr algn="l">
              <a:defRPr sz="2325" b="1">
                <a:solidFill>
                  <a:srgbClr val="38BDF8"/>
                </a:solidFill>
                <a:latin typeface="Arial"/>
                <a:ea typeface="Arial"/>
                <a:cs typeface="Arial"/>
              </a:defRPr>
            </a:lvl9pPr>
          </a:lstStyle>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1</a:t>
            </a:r>
          </a:p>
        </p:txBody>
      </p:sp>
      <p:sp>
        <p:nvSpPr>
          <p:cNvPr id="5" name="text-223">
            <a:extLst xmlns:a="http://schemas.openxmlformats.org/drawingml/2006/main">
              <a:ext uri="{FF2B5EF4-FFF2-40B4-BE49-F238E27FC236}">
                <a16:creationId xmlns:a16="http://schemas.microsoft.com/office/drawing/2014/main" id="{7F77FC6C-EC53-4E9A-AECB-79C3CE7B9F6C}"/>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Tiga pilihan tema</a:t>
            </a:r>
          </a:p>
        </p:txBody>
      </p:sp>
      <p:sp>
        <p:nvSpPr>
          <p:cNvPr id="6" name="text-224">
            <a:extLst xmlns:a="http://schemas.openxmlformats.org/drawingml/2006/main">
              <a:ext uri="{FF2B5EF4-FFF2-40B4-BE49-F238E27FC236}">
                <a16:creationId xmlns:a16="http://schemas.microsoft.com/office/drawing/2014/main" id="{35235337-238B-428C-80D9-DA6D4E481284}"/>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Pengguna dapat mengikuti sistem, memakai tema terang, atau tema gelap.</a:t>
            </a:r>
          </a:p>
        </p:txBody>
      </p:sp>
      <p:sp>
        <p:nvSpPr>
          <p:cNvPr id="7" name="text-225">
            <a:extLst xmlns:a="http://schemas.openxmlformats.org/drawingml/2006/main">
              <a:ext uri="{FF2B5EF4-FFF2-40B4-BE49-F238E27FC236}">
                <a16:creationId xmlns:a16="http://schemas.microsoft.com/office/drawing/2014/main" id="{12096CEB-2564-4B93-AC57-8527ACB673E3}"/>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8BDF8"/>
                </a:solidFill>
                <a:latin typeface="Arial"/>
                <a:ea typeface="Arial"/>
                <a:cs typeface="Arial"/>
              </a:defRPr>
            </a:defPPr>
            <a:lvl1pPr algn="l">
              <a:defRPr sz="2325" b="1">
                <a:solidFill>
                  <a:srgbClr val="38BDF8"/>
                </a:solidFill>
                <a:latin typeface="Arial"/>
                <a:ea typeface="Arial"/>
                <a:cs typeface="Arial"/>
              </a:defRPr>
            </a:lvl1pPr>
            <a:lvl2pPr algn="l">
              <a:defRPr sz="2325" b="1">
                <a:solidFill>
                  <a:srgbClr val="38BDF8"/>
                </a:solidFill>
                <a:latin typeface="Arial"/>
                <a:ea typeface="Arial"/>
                <a:cs typeface="Arial"/>
              </a:defRPr>
            </a:lvl2pPr>
            <a:lvl3pPr algn="l">
              <a:defRPr sz="2325" b="1">
                <a:solidFill>
                  <a:srgbClr val="38BDF8"/>
                </a:solidFill>
                <a:latin typeface="Arial"/>
                <a:ea typeface="Arial"/>
                <a:cs typeface="Arial"/>
              </a:defRPr>
            </a:lvl3pPr>
            <a:lvl4pPr algn="l">
              <a:defRPr sz="2325" b="1">
                <a:solidFill>
                  <a:srgbClr val="38BDF8"/>
                </a:solidFill>
                <a:latin typeface="Arial"/>
                <a:ea typeface="Arial"/>
                <a:cs typeface="Arial"/>
              </a:defRPr>
            </a:lvl4pPr>
            <a:lvl5pPr algn="l">
              <a:defRPr sz="2325" b="1">
                <a:solidFill>
                  <a:srgbClr val="38BDF8"/>
                </a:solidFill>
                <a:latin typeface="Arial"/>
                <a:ea typeface="Arial"/>
                <a:cs typeface="Arial"/>
              </a:defRPr>
            </a:lvl5pPr>
            <a:lvl6pPr algn="l">
              <a:defRPr sz="2325" b="1">
                <a:solidFill>
                  <a:srgbClr val="38BDF8"/>
                </a:solidFill>
                <a:latin typeface="Arial"/>
                <a:ea typeface="Arial"/>
                <a:cs typeface="Arial"/>
              </a:defRPr>
            </a:lvl6pPr>
            <a:lvl7pPr algn="l">
              <a:defRPr sz="2325" b="1">
                <a:solidFill>
                  <a:srgbClr val="38BDF8"/>
                </a:solidFill>
                <a:latin typeface="Arial"/>
                <a:ea typeface="Arial"/>
                <a:cs typeface="Arial"/>
              </a:defRPr>
            </a:lvl7pPr>
            <a:lvl8pPr algn="l">
              <a:defRPr sz="2325" b="1">
                <a:solidFill>
                  <a:srgbClr val="38BDF8"/>
                </a:solidFill>
                <a:latin typeface="Arial"/>
                <a:ea typeface="Arial"/>
                <a:cs typeface="Arial"/>
              </a:defRPr>
            </a:lvl8pPr>
            <a:lvl9pPr algn="l">
              <a:defRPr sz="2325" b="1">
                <a:solidFill>
                  <a:srgbClr val="38BDF8"/>
                </a:solidFill>
                <a:latin typeface="Arial"/>
                <a:ea typeface="Arial"/>
                <a:cs typeface="Arial"/>
              </a:defRPr>
            </a:lvl9pPr>
          </a:lstStyle>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2</a:t>
            </a:r>
          </a:p>
        </p:txBody>
      </p:sp>
      <p:sp>
        <p:nvSpPr>
          <p:cNvPr id="8" name="text-226">
            <a:extLst xmlns:a="http://schemas.openxmlformats.org/drawingml/2006/main">
              <a:ext uri="{FF2B5EF4-FFF2-40B4-BE49-F238E27FC236}">
                <a16:creationId xmlns:a16="http://schemas.microsoft.com/office/drawing/2014/main" id="{A8F5EA40-DB61-453B-BDBA-93909BB669B0}"/>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Preferensi tersimpan</a:t>
            </a:r>
          </a:p>
        </p:txBody>
      </p:sp>
      <p:sp>
        <p:nvSpPr>
          <p:cNvPr id="9" name="text-227">
            <a:extLst xmlns:a="http://schemas.openxmlformats.org/drawingml/2006/main">
              <a:ext uri="{FF2B5EF4-FFF2-40B4-BE49-F238E27FC236}">
                <a16:creationId xmlns:a16="http://schemas.microsoft.com/office/drawing/2014/main" id="{F3F8FF3A-80A6-4A59-8638-8A716CB9882C}"/>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Pilihan tema disimpan pada perangkat melalui shared preferences.</a:t>
            </a:r>
          </a:p>
        </p:txBody>
      </p:sp>
      <p:sp>
        <p:nvSpPr>
          <p:cNvPr id="10" name="text-228">
            <a:extLst xmlns:a="http://schemas.openxmlformats.org/drawingml/2006/main">
              <a:ext uri="{FF2B5EF4-FFF2-40B4-BE49-F238E27FC236}">
                <a16:creationId xmlns:a16="http://schemas.microsoft.com/office/drawing/2014/main" id="{6F445405-D507-4767-8DBE-AD778020DEEB}"/>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8BDF8"/>
                </a:solidFill>
                <a:latin typeface="Arial"/>
                <a:ea typeface="Arial"/>
                <a:cs typeface="Arial"/>
              </a:defRPr>
            </a:defPPr>
            <a:lvl1pPr algn="l">
              <a:defRPr sz="2325" b="1">
                <a:solidFill>
                  <a:srgbClr val="38BDF8"/>
                </a:solidFill>
                <a:latin typeface="Arial"/>
                <a:ea typeface="Arial"/>
                <a:cs typeface="Arial"/>
              </a:defRPr>
            </a:lvl1pPr>
            <a:lvl2pPr algn="l">
              <a:defRPr sz="2325" b="1">
                <a:solidFill>
                  <a:srgbClr val="38BDF8"/>
                </a:solidFill>
                <a:latin typeface="Arial"/>
                <a:ea typeface="Arial"/>
                <a:cs typeface="Arial"/>
              </a:defRPr>
            </a:lvl2pPr>
            <a:lvl3pPr algn="l">
              <a:defRPr sz="2325" b="1">
                <a:solidFill>
                  <a:srgbClr val="38BDF8"/>
                </a:solidFill>
                <a:latin typeface="Arial"/>
                <a:ea typeface="Arial"/>
                <a:cs typeface="Arial"/>
              </a:defRPr>
            </a:lvl3pPr>
            <a:lvl4pPr algn="l">
              <a:defRPr sz="2325" b="1">
                <a:solidFill>
                  <a:srgbClr val="38BDF8"/>
                </a:solidFill>
                <a:latin typeface="Arial"/>
                <a:ea typeface="Arial"/>
                <a:cs typeface="Arial"/>
              </a:defRPr>
            </a:lvl4pPr>
            <a:lvl5pPr algn="l">
              <a:defRPr sz="2325" b="1">
                <a:solidFill>
                  <a:srgbClr val="38BDF8"/>
                </a:solidFill>
                <a:latin typeface="Arial"/>
                <a:ea typeface="Arial"/>
                <a:cs typeface="Arial"/>
              </a:defRPr>
            </a:lvl5pPr>
            <a:lvl6pPr algn="l">
              <a:defRPr sz="2325" b="1">
                <a:solidFill>
                  <a:srgbClr val="38BDF8"/>
                </a:solidFill>
                <a:latin typeface="Arial"/>
                <a:ea typeface="Arial"/>
                <a:cs typeface="Arial"/>
              </a:defRPr>
            </a:lvl6pPr>
            <a:lvl7pPr algn="l">
              <a:defRPr sz="2325" b="1">
                <a:solidFill>
                  <a:srgbClr val="38BDF8"/>
                </a:solidFill>
                <a:latin typeface="Arial"/>
                <a:ea typeface="Arial"/>
                <a:cs typeface="Arial"/>
              </a:defRPr>
            </a:lvl7pPr>
            <a:lvl8pPr algn="l">
              <a:defRPr sz="2325" b="1">
                <a:solidFill>
                  <a:srgbClr val="38BDF8"/>
                </a:solidFill>
                <a:latin typeface="Arial"/>
                <a:ea typeface="Arial"/>
                <a:cs typeface="Arial"/>
              </a:defRPr>
            </a:lvl8pPr>
            <a:lvl9pPr algn="l">
              <a:defRPr sz="2325" b="1">
                <a:solidFill>
                  <a:srgbClr val="38BDF8"/>
                </a:solidFill>
                <a:latin typeface="Arial"/>
                <a:ea typeface="Arial"/>
                <a:cs typeface="Arial"/>
              </a:defRPr>
            </a:lvl9pPr>
          </a:lstStyle>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3</a:t>
            </a:r>
          </a:p>
        </p:txBody>
      </p:sp>
      <p:sp>
        <p:nvSpPr>
          <p:cNvPr id="11" name="text-229">
            <a:extLst xmlns:a="http://schemas.openxmlformats.org/drawingml/2006/main">
              <a:ext uri="{FF2B5EF4-FFF2-40B4-BE49-F238E27FC236}">
                <a16:creationId xmlns:a16="http://schemas.microsoft.com/office/drawing/2014/main" id="{A2451E7F-D78C-49D9-8912-D1F793138C42}"/>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Kontras tetap dijaga</a:t>
            </a:r>
          </a:p>
        </p:txBody>
      </p:sp>
      <p:sp>
        <p:nvSpPr>
          <p:cNvPr id="12" name="text-230">
            <a:extLst xmlns:a="http://schemas.openxmlformats.org/drawingml/2006/main">
              <a:ext uri="{FF2B5EF4-FFF2-40B4-BE49-F238E27FC236}">
                <a16:creationId xmlns:a16="http://schemas.microsoft.com/office/drawing/2014/main" id="{E0D419DD-447D-4FE9-9EBD-28CBB4195C7D}"/>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Latar, balon, teks, dan komponen input mengikuti tema yang aktif.</a:t>
            </a:r>
          </a:p>
        </p:txBody>
      </p:sp>
      <p:pic>
        <p:nvPicPr>
          <p:cNvPr id="13" name="">
            <a:extLst xmlns:a="http://schemas.openxmlformats.org/drawingml/2006/main">
              <a:ext uri="{FF2B5EF4-FFF2-40B4-BE49-F238E27FC236}">
                <a16:creationId xmlns:a16="http://schemas.microsoft.com/office/drawing/2014/main" id="{F35E3DCD-36B6-4C60-AB05-9C973624764C}"/>
              </a:ext>
            </a:extLst>
          </p:cNvPr>
          <p:cNvPicPr>
            <a:picLocks xmlns:a="http://schemas.openxmlformats.org/drawingml/2006/main" noChangeAspect="1"/>
          </p:cNvPicPr>
          <p:nvPr/>
        </p:nvPicPr>
        <p:blipFill>
          <a:blip xmlns:r="http://schemas.openxmlformats.org/officeDocument/2006/relationships" xmlns:a="http://schemas.openxmlformats.org/drawingml/2006/main" r:embed="R25bb791590ce4e5e"/>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2083945830"/>
      </p:ext>
    </p:extLst>
  </p:cSld>
</p:sld>
</file>

<file path=ppt/slides/slide2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text-232">
            <a:extLst xmlns:a="http://schemas.openxmlformats.org/drawingml/2006/main">
              <a:ext uri="{FF2B5EF4-FFF2-40B4-BE49-F238E27FC236}">
                <a16:creationId xmlns:a16="http://schemas.microsoft.com/office/drawing/2014/main" id="{579DB446-D507-4100-95CD-69E2A4569627}"/>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Model data di balik percakapan</a:t>
            </a:r>
          </a:p>
        </p:txBody>
      </p:sp>
      <p:sp>
        <p:nvSpPr>
          <p:cNvPr id="2" name="text-233">
            <a:extLst xmlns:a="http://schemas.openxmlformats.org/drawingml/2006/main">
              <a:ext uri="{FF2B5EF4-FFF2-40B4-BE49-F238E27FC236}">
                <a16:creationId xmlns:a16="http://schemas.microsoft.com/office/drawing/2014/main" id="{4782FDD9-DA68-44F4-914F-E5DD7AB55E50}"/>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Entitas menyimpan hal yang berbeda dan saling berhubungan.</a:t>
            </a:r>
          </a:p>
        </p:txBody>
      </p:sp>
      <p:sp>
        <p:nvSpPr>
          <p:cNvPr id="3" name="text-234">
            <a:extLst xmlns:a="http://schemas.openxmlformats.org/drawingml/2006/main">
              <a:ext uri="{FF2B5EF4-FFF2-40B4-BE49-F238E27FC236}">
                <a16:creationId xmlns:a16="http://schemas.microsoft.com/office/drawing/2014/main" id="{EA00B449-C5E6-4C29-9338-603B35DEABC9}"/>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22</a:t>
            </a:r>
          </a:p>
        </p:txBody>
      </p:sp>
      <p:graphicFrame>
        <p:nvGraphicFramePr>
          <p:cNvPr id="4" name="">
            <a:extLst xmlns:a="http://schemas.openxmlformats.org/drawingml/2006/main">
              <a:ext uri="{FF2B5EF4-FFF2-40B4-BE49-F238E27FC236}">
                <a16:creationId xmlns:a16="http://schemas.microsoft.com/office/drawing/2014/main" id="{5E0C3795-96D2-460A-B0C1-C561A678054F}"/>
              </a:ext>
            </a:extLst>
          </p:cNvPr>
          <p:cNvGraphicFramePr/>
          <p:nvPr/>
        </p:nvGraphicFramePr>
        <p:xfrm>
          <a:off xmlns:a="http://schemas.openxmlformats.org/drawingml/2006/main" x="914400" y="2381250"/>
          <a:ext xmlns:a="http://schemas.openxmlformats.org/drawingml/2006/main" cx="13411200" cy="5334000"/>
        </p:xfrm>
        <a:graphic xmlns:a="http://schemas.openxmlformats.org/drawingml/2006/main">
          <a:graphicData uri="http://schemas.openxmlformats.org/drawingml/2006/table">
            <a:tbl>
              <a:tblPr firstRow="0" bandRow="0"/>
              <a:tblGrid>
                <a:gridCol w="3143250"/>
                <a:gridCol w="4286250"/>
                <a:gridCol w="5981700"/>
              </a:tblGrid>
              <a:tr h="762000">
                <a:tc>
                  <a:txBody>
                    <a:bodyPr wrap="square" lIns="152400" tIns="152400" rIns="152400" bIns="152400">
                      <a:noAutofit/>
                    </a:bodyPr>
                    <a:lstStyle/>
                    <a:p>
                      <a:pPr algn="l"/>
                      <a:r>
                        <a:rPr sz="1875" b="1">
                          <a:solidFill>
                            <a:srgbClr val="FFFFFF"/>
                          </a:solidFill>
                          <a:latin typeface="Arial"/>
                          <a:ea typeface="Arial"/>
                          <a:cs typeface="Arial"/>
                        </a:rPr>
                        <a:t>Kelompok data</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Yang diwakili</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Contoh hubungan</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762000">
                <a:tc>
                  <a:txBody>
                    <a:bodyPr wrap="square" lIns="152400" tIns="152400" rIns="152400" bIns="152400">
                      <a:noAutofit/>
                    </a:bodyPr>
                    <a:lstStyle/>
                    <a:p>
                      <a:pPr algn="l"/>
                      <a:r>
                        <a:rPr sz="1875" b="1">
                          <a:solidFill>
                            <a:srgbClr val="0F172A"/>
                          </a:solidFill>
                          <a:latin typeface="Arial"/>
                          <a:ea typeface="Arial"/>
                          <a:cs typeface="Arial"/>
                        </a:rPr>
                        <a:t>Pengguna</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Identitas akun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Seorang pengguna dapat mengikuti beberapa percakapan.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62000">
                <a:tc>
                  <a:txBody>
                    <a:bodyPr wrap="square" lIns="152400" tIns="152400" rIns="152400" bIns="152400">
                      <a:noAutofit/>
                    </a:bodyPr>
                    <a:lstStyle/>
                    <a:p>
                      <a:pPr algn="l"/>
                      <a:r>
                        <a:rPr sz="1875" b="1">
                          <a:solidFill>
                            <a:srgbClr val="0F172A"/>
                          </a:solidFill>
                          <a:latin typeface="Arial"/>
                          <a:ea typeface="Arial"/>
                          <a:cs typeface="Arial"/>
                        </a:rPr>
                        <a:t>Percakapan dan anggota</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Ruang chat, peserta, dan posisi baca</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Satu percakapan pribadi mempunyai dua anggota.</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62000">
                <a:tc>
                  <a:txBody>
                    <a:bodyPr wrap="square" lIns="152400" tIns="152400" rIns="152400" bIns="152400">
                      <a:noAutofit/>
                    </a:bodyPr>
                    <a:lstStyle/>
                    <a:p>
                      <a:pPr algn="l"/>
                      <a:r>
                        <a:rPr sz="1875" b="1">
                          <a:solidFill>
                            <a:srgbClr val="0F172A"/>
                          </a:solidFill>
                          <a:latin typeface="Arial"/>
                          <a:ea typeface="Arial"/>
                          <a:cs typeface="Arial"/>
                        </a:rPr>
                        <a:t>Pesan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Konten, pengirim, waktu, dan balasan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Pesan berada dalam percakapan dan dapat mengutip pesan lain.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62000">
                <a:tc>
                  <a:txBody>
                    <a:bodyPr wrap="square" lIns="152400" tIns="152400" rIns="152400" bIns="152400">
                      <a:noAutofit/>
                    </a:bodyPr>
                    <a:lstStyle/>
                    <a:p>
                      <a:pPr algn="l"/>
                      <a:r>
                        <a:rPr sz="1875" b="1">
                          <a:solidFill>
                            <a:srgbClr val="0F172A"/>
                          </a:solidFill>
                          <a:latin typeface="Arial"/>
                          <a:ea typeface="Arial"/>
                          <a:cs typeface="Arial"/>
                        </a:rPr>
                        <a:t>Lampiran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Metadata dan isi file</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Pesan dapat merujuk satu lampiran.</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62000">
                <a:tc>
                  <a:txBody>
                    <a:bodyPr wrap="square" lIns="152400" tIns="152400" rIns="152400" bIns="152400">
                      <a:noAutofit/>
                    </a:bodyPr>
                    <a:lstStyle/>
                    <a:p>
                      <a:pPr algn="l"/>
                      <a:r>
                        <a:rPr sz="1875" b="1">
                          <a:solidFill>
                            <a:srgbClr val="0F172A"/>
                          </a:solidFill>
                          <a:latin typeface="Arial"/>
                          <a:ea typeface="Arial"/>
                          <a:cs typeface="Arial"/>
                        </a:rPr>
                        <a:t>Reaksi</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Emoji dari pengguna untuk pesan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Satu pengguna mempunyai satu reaksi aktif per pesan.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62000">
                <a:tc>
                  <a:txBody>
                    <a:bodyPr wrap="square" lIns="152400" tIns="152400" rIns="152400" bIns="152400">
                      <a:noAutofit/>
                    </a:bodyPr>
                    <a:lstStyle/>
                    <a:p>
                      <a:pPr algn="l"/>
                      <a:r>
                        <a:rPr sz="1875" b="1">
                          <a:solidFill>
                            <a:srgbClr val="0F172A"/>
                          </a:solidFill>
                          <a:latin typeface="Arial"/>
                          <a:ea typeface="Arial"/>
                          <a:cs typeface="Arial"/>
                        </a:rPr>
                        <a:t>Sesi</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Bukti login dan masa berlakunya</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Sesi menghubungkan token dengan pengguna.</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bl>
          </a:graphicData>
        </a:graphic>
      </p:graphicFrame>
    </p:spTree>
    <p:extLst>
      <p:ext uri="{BB962C8B-B14F-4D97-AF65-F5344CB8AC3E}">
        <p14:creationId xmlns:p14="http://schemas.microsoft.com/office/powerpoint/2010/main" val="1408135911"/>
      </p:ext>
    </p:extLst>
  </p:cSld>
</p:sld>
</file>

<file path=ppt/slides/slide2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text-235">
            <a:extLst xmlns:a="http://schemas.openxmlformats.org/drawingml/2006/main">
              <a:ext uri="{FF2B5EF4-FFF2-40B4-BE49-F238E27FC236}">
                <a16:creationId xmlns:a16="http://schemas.microsoft.com/office/drawing/2014/main" id="{9ECD9E84-2C0E-455B-A731-FBA87E28340C}"/>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Data tersimpan dan status sementara</a:t>
            </a:r>
          </a:p>
        </p:txBody>
      </p:sp>
      <p:sp>
        <p:nvSpPr>
          <p:cNvPr id="2" name="text-236">
            <a:extLst xmlns:a="http://schemas.openxmlformats.org/drawingml/2006/main">
              <a:ext uri="{FF2B5EF4-FFF2-40B4-BE49-F238E27FC236}">
                <a16:creationId xmlns:a16="http://schemas.microsoft.com/office/drawing/2014/main" id="{5DE9DA41-DB23-467A-B1A1-2E08BF1DA2F3}"/>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Lokasi penyimpanan mengikuti kebutuhan umur dan keamanan datanya.</a:t>
            </a:r>
          </a:p>
        </p:txBody>
      </p:sp>
      <p:sp>
        <p:nvSpPr>
          <p:cNvPr id="3" name="text-237">
            <a:extLst xmlns:a="http://schemas.openxmlformats.org/drawingml/2006/main">
              <a:ext uri="{FF2B5EF4-FFF2-40B4-BE49-F238E27FC236}">
                <a16:creationId xmlns:a16="http://schemas.microsoft.com/office/drawing/2014/main" id="{553616D3-A12C-4352-BD34-D7FDBCC4144B}"/>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23</a:t>
            </a:r>
          </a:p>
        </p:txBody>
      </p:sp>
      <p:graphicFrame>
        <p:nvGraphicFramePr>
          <p:cNvPr id="4" name="">
            <a:extLst xmlns:a="http://schemas.openxmlformats.org/drawingml/2006/main">
              <a:ext uri="{FF2B5EF4-FFF2-40B4-BE49-F238E27FC236}">
                <a16:creationId xmlns:a16="http://schemas.microsoft.com/office/drawing/2014/main" id="{D1FA0F42-4BDF-434A-939C-99A82B6BB2A8}"/>
              </a:ext>
            </a:extLst>
          </p:cNvPr>
          <p:cNvGraphicFramePr/>
          <p:nvPr/>
        </p:nvGraphicFramePr>
        <p:xfrm>
          <a:off xmlns:a="http://schemas.openxmlformats.org/drawingml/2006/main" x="914400" y="2524125"/>
          <a:ext xmlns:a="http://schemas.openxmlformats.org/drawingml/2006/main" cx="13411200" cy="4000500"/>
        </p:xfrm>
        <a:graphic xmlns:a="http://schemas.openxmlformats.org/drawingml/2006/main">
          <a:graphicData uri="http://schemas.openxmlformats.org/drawingml/2006/table">
            <a:tbl>
              <a:tblPr firstRow="0" bandRow="0"/>
              <a:tblGrid>
                <a:gridCol w="2762250"/>
                <a:gridCol w="5810250"/>
                <a:gridCol w="4838700"/>
              </a:tblGrid>
              <a:tr h="1000125">
                <a:tc>
                  <a:txBody>
                    <a:bodyPr wrap="square" lIns="152400" tIns="152400" rIns="152400" bIns="152400">
                      <a:noAutofit/>
                    </a:bodyPr>
                    <a:lstStyle/>
                    <a:p>
                      <a:pPr algn="l"/>
                      <a:r>
                        <a:rPr sz="2025" b="1">
                          <a:solidFill>
                            <a:srgbClr val="FFFFFF"/>
                          </a:solidFill>
                          <a:latin typeface="Arial"/>
                          <a:ea typeface="Arial"/>
                          <a:cs typeface="Arial"/>
                        </a:rPr>
                        <a:t>Lokasi</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Contoh</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2025" b="1">
                          <a:solidFill>
                            <a:srgbClr val="FFFFFF"/>
                          </a:solidFill>
                          <a:latin typeface="Arial"/>
                          <a:ea typeface="Arial"/>
                          <a:cs typeface="Arial"/>
                        </a:rPr>
                        <a:t>Mengapa berada di sana</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1000125">
                <a:tc>
                  <a:txBody>
                    <a:bodyPr wrap="square" lIns="152400" tIns="152400" rIns="152400" bIns="152400">
                      <a:noAutofit/>
                    </a:bodyPr>
                    <a:lstStyle/>
                    <a:p>
                      <a:pPr algn="l"/>
                      <a:r>
                        <a:rPr sz="2025" b="1">
                          <a:solidFill>
                            <a:srgbClr val="0F172A"/>
                          </a:solidFill>
                          <a:latin typeface="Arial"/>
                          <a:ea typeface="Arial"/>
                          <a:cs typeface="Arial"/>
                        </a:rPr>
                        <a:t>PostgreSQL</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Akun, sesi, pesan, posisi baca, reaksi, dan lampiran.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Diperlukan kembali saat aplikasi atau layanan dimulai ulang.</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1000125">
                <a:tc>
                  <a:txBody>
                    <a:bodyPr wrap="square" lIns="152400" tIns="152400" rIns="152400" bIns="152400">
                      <a:noAutofit/>
                    </a:bodyPr>
                    <a:lstStyle/>
                    <a:p>
                      <a:pPr algn="l"/>
                      <a:r>
                        <a:rPr sz="2025" b="1">
                          <a:solidFill>
                            <a:srgbClr val="0F172A"/>
                          </a:solidFill>
                          <a:latin typeface="Arial"/>
                          <a:ea typeface="Arial"/>
                          <a:cs typeface="Arial"/>
                        </a:rPr>
                        <a:t>Perangkat</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Token di secure storage, tema dan alamat server di preferences.</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2025" b="0">
                          <a:solidFill>
                            <a:srgbClr val="0F172A"/>
                          </a:solidFill>
                          <a:latin typeface="Arial"/>
                          <a:ea typeface="Arial"/>
                          <a:cs typeface="Arial"/>
                        </a:rPr>
                        <a:t>Dibutuhkan oleh aplikasi pada perangkat tersebut.</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1000125">
                <a:tc>
                  <a:txBody>
                    <a:bodyPr wrap="square" lIns="152400" tIns="152400" rIns="152400" bIns="152400">
                      <a:noAutofit/>
                    </a:bodyPr>
                    <a:lstStyle/>
                    <a:p>
                      <a:pPr algn="l"/>
                      <a:r>
                        <a:rPr sz="2025" b="1">
                          <a:solidFill>
                            <a:srgbClr val="0F172A"/>
                          </a:solidFill>
                          <a:latin typeface="Arial"/>
                          <a:ea typeface="Arial"/>
                          <a:cs typeface="Arial"/>
                        </a:rPr>
                        <a:t>Koneksi aktif</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Online dan indikator mengetik.</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2025" b="0">
                          <a:solidFill>
                            <a:srgbClr val="0F172A"/>
                          </a:solidFill>
                          <a:latin typeface="Arial"/>
                          <a:ea typeface="Arial"/>
                          <a:cs typeface="Arial"/>
                        </a:rPr>
                        <a:t>Menggambarkan aktivitas sementara yang dapat berubah cepat.</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
        <p:nvSpPr>
          <p:cNvPr id="5" name="text-238">
            <a:extLst xmlns:a="http://schemas.openxmlformats.org/drawingml/2006/main">
              <a:ext uri="{FF2B5EF4-FFF2-40B4-BE49-F238E27FC236}">
                <a16:creationId xmlns:a16="http://schemas.microsoft.com/office/drawing/2014/main" id="{4ABF3713-833D-4D4E-9E5F-B4CF1259FEBE}"/>
              </a:ext>
            </a:extLst>
          </p:cNvPr>
          <p:cNvSpPr>
            <a:spLocks xmlns:a="http://schemas.openxmlformats.org/drawingml/2006/main" noGrp="1"/>
          </p:cNvSpPr>
          <p:nvPr/>
        </p:nvSpPr>
        <p:spPr>
          <a:xfrm xmlns:a="http://schemas.openxmlformats.org/drawingml/2006/main">
            <a:off x="914400" y="7029450"/>
            <a:ext cx="13239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284C7"/>
                </a:solidFill>
                <a:latin typeface="Arial"/>
                <a:ea typeface="Arial"/>
                <a:cs typeface="Arial"/>
              </a:defRPr>
            </a:defPPr>
            <a:lvl1pPr algn="l">
              <a:defRPr sz="2250" b="1">
                <a:solidFill>
                  <a:srgbClr val="0284C7"/>
                </a:solidFill>
                <a:latin typeface="Arial"/>
                <a:ea typeface="Arial"/>
                <a:cs typeface="Arial"/>
              </a:defRPr>
            </a:lvl1pPr>
            <a:lvl2pPr algn="l">
              <a:defRPr sz="2250" b="1">
                <a:solidFill>
                  <a:srgbClr val="0284C7"/>
                </a:solidFill>
                <a:latin typeface="Arial"/>
                <a:ea typeface="Arial"/>
                <a:cs typeface="Arial"/>
              </a:defRPr>
            </a:lvl2pPr>
            <a:lvl3pPr algn="l">
              <a:defRPr sz="2250" b="1">
                <a:solidFill>
                  <a:srgbClr val="0284C7"/>
                </a:solidFill>
                <a:latin typeface="Arial"/>
                <a:ea typeface="Arial"/>
                <a:cs typeface="Arial"/>
              </a:defRPr>
            </a:lvl3pPr>
            <a:lvl4pPr algn="l">
              <a:defRPr sz="2250" b="1">
                <a:solidFill>
                  <a:srgbClr val="0284C7"/>
                </a:solidFill>
                <a:latin typeface="Arial"/>
                <a:ea typeface="Arial"/>
                <a:cs typeface="Arial"/>
              </a:defRPr>
            </a:lvl4pPr>
            <a:lvl5pPr algn="l">
              <a:defRPr sz="2250" b="1">
                <a:solidFill>
                  <a:srgbClr val="0284C7"/>
                </a:solidFill>
                <a:latin typeface="Arial"/>
                <a:ea typeface="Arial"/>
                <a:cs typeface="Arial"/>
              </a:defRPr>
            </a:lvl5pPr>
            <a:lvl6pPr algn="l">
              <a:defRPr sz="2250" b="1">
                <a:solidFill>
                  <a:srgbClr val="0284C7"/>
                </a:solidFill>
                <a:latin typeface="Arial"/>
                <a:ea typeface="Arial"/>
                <a:cs typeface="Arial"/>
              </a:defRPr>
            </a:lvl6pPr>
            <a:lvl7pPr algn="l">
              <a:defRPr sz="2250" b="1">
                <a:solidFill>
                  <a:srgbClr val="0284C7"/>
                </a:solidFill>
                <a:latin typeface="Arial"/>
                <a:ea typeface="Arial"/>
                <a:cs typeface="Arial"/>
              </a:defRPr>
            </a:lvl7pPr>
            <a:lvl8pPr algn="l">
              <a:defRPr sz="2250" b="1">
                <a:solidFill>
                  <a:srgbClr val="0284C7"/>
                </a:solidFill>
                <a:latin typeface="Arial"/>
                <a:ea typeface="Arial"/>
                <a:cs typeface="Arial"/>
              </a:defRPr>
            </a:lvl8pPr>
            <a:lvl9pPr algn="l">
              <a:defRPr sz="2250" b="1">
                <a:solidFill>
                  <a:srgbClr val="0284C7"/>
                </a:solidFill>
                <a:latin typeface="Arial"/>
                <a:ea typeface="Arial"/>
                <a:cs typeface="Arial"/>
              </a:defRPr>
            </a:lvl9pPr>
          </a:lstStyle>
          <a:p xmlns:a="http://schemas.openxmlformats.org/drawingml/2006/main">
            <a:pPr algn="l">
              <a:defRPr sz="2250" b="1">
                <a:solidFill>
                  <a:srgbClr val="0284C7"/>
                </a:solidFill>
                <a:latin typeface="Arial"/>
                <a:ea typeface="Arial"/>
                <a:cs typeface="Arial"/>
              </a:defRPr>
            </a:pPr>
            <a:r>
              <a:rPr sz="2250" b="1">
                <a:solidFill>
                  <a:srgbClr val="0284C7"/>
                </a:solidFill>
                <a:latin typeface="Arial"/>
                <a:ea typeface="Arial"/>
                <a:cs typeface="Arial"/>
              </a:rPr>
              <a:t>Riwayat tetap tersedia saat container dimulai ulang selama volume database dipertahankan.</a:t>
            </a:r>
          </a:p>
        </p:txBody>
      </p:sp>
    </p:spTree>
    <p:extLst>
      <p:ext uri="{BB962C8B-B14F-4D97-AF65-F5344CB8AC3E}">
        <p14:creationId xmlns:p14="http://schemas.microsoft.com/office/powerpoint/2010/main" val="1829141124"/>
      </p:ext>
    </p:extLst>
  </p:cSld>
</p:sld>
</file>

<file path=ppt/slides/slide2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6210C8C4-E58C-463C-8FCB-EFC7B42D8494}"/>
              </a:ext>
            </a:extLst>
          </p:cNvPr>
          <p:cNvCxnSpPr>
            <a:stCxn xmlns:a="http://schemas.openxmlformats.org/drawingml/2006/main" id="6" idx="3"/>
            <a:endCxn xmlns:a="http://schemas.openxmlformats.org/drawingml/2006/main" id="7" idx="1"/>
          </p:cNvCxnSpPr>
          <p:nvPr/>
        </p:nvCxnSpPr>
        <p:spPr>
          <a:xfrm xmlns:a="http://schemas.openxmlformats.org/drawingml/2006/main">
            <a:off x="10744200" y="3800475"/>
            <a:ext cx="914400" cy="0"/>
          </a:xfrm>
          <a:prstGeom xmlns:a="http://schemas.openxmlformats.org/drawingml/2006/main" prst="straightConnector1">
            <a:avLst/>
          </a:prstGeom>
          <a:ln xmlns:a="http://schemas.openxmlformats.org/drawingml/2006/main" w="28575">
            <a:solidFill>
              <a:srgbClr val="0284C7"/>
            </a:solidFill>
            <a:tailEnd type="triangle" w="med" len="med"/>
          </a:ln>
        </p:spPr>
      </p:cxnSp>
      <p:cxnSp>
        <p:nvCxnSpPr>
          <p:cNvPr id="9" name="">
            <a:extLst xmlns:a="http://schemas.openxmlformats.org/drawingml/2006/main">
              <a:ext uri="{FF2B5EF4-FFF2-40B4-BE49-F238E27FC236}">
                <a16:creationId xmlns:a16="http://schemas.microsoft.com/office/drawing/2014/main" id="{B0A0F93C-4051-4E65-A01A-2027B3D99824}"/>
              </a:ext>
            </a:extLst>
          </p:cNvPr>
          <p:cNvCxnSpPr>
            <a:stCxn xmlns:a="http://schemas.openxmlformats.org/drawingml/2006/main" id="5" idx="3"/>
            <a:endCxn xmlns:a="http://schemas.openxmlformats.org/drawingml/2006/main" id="6" idx="1"/>
          </p:cNvCxnSpPr>
          <p:nvPr/>
        </p:nvCxnSpPr>
        <p:spPr>
          <a:xfrm xmlns:a="http://schemas.openxmlformats.org/drawingml/2006/main">
            <a:off x="7162800" y="3800475"/>
            <a:ext cx="914400" cy="0"/>
          </a:xfrm>
          <a:prstGeom xmlns:a="http://schemas.openxmlformats.org/drawingml/2006/main" prst="straightConnector1">
            <a:avLst/>
          </a:prstGeom>
          <a:ln xmlns:a="http://schemas.openxmlformats.org/drawingml/2006/main" w="28575">
            <a:solidFill>
              <a:srgbClr val="0284C7"/>
            </a:solidFill>
            <a:tailEnd type="triangle" w="med" len="med"/>
          </a:ln>
        </p:spPr>
      </p:cxnSp>
      <p:cxnSp>
        <p:nvCxnSpPr>
          <p:cNvPr id="8" name="">
            <a:extLst xmlns:a="http://schemas.openxmlformats.org/drawingml/2006/main">
              <a:ext uri="{FF2B5EF4-FFF2-40B4-BE49-F238E27FC236}">
                <a16:creationId xmlns:a16="http://schemas.microsoft.com/office/drawing/2014/main" id="{B71CEF6E-1E4A-4533-8292-70F9A54FF9F3}"/>
              </a:ext>
            </a:extLst>
          </p:cNvPr>
          <p:cNvCxnSpPr>
            <a:stCxn xmlns:a="http://schemas.openxmlformats.org/drawingml/2006/main" id="4" idx="3"/>
            <a:endCxn xmlns:a="http://schemas.openxmlformats.org/drawingml/2006/main" id="5" idx="1"/>
          </p:cNvCxnSpPr>
          <p:nvPr/>
        </p:nvCxnSpPr>
        <p:spPr>
          <a:xfrm xmlns:a="http://schemas.openxmlformats.org/drawingml/2006/main">
            <a:off x="3581400" y="3800475"/>
            <a:ext cx="914400" cy="0"/>
          </a:xfrm>
          <a:prstGeom xmlns:a="http://schemas.openxmlformats.org/drawingml/2006/main" prst="straightConnector1">
            <a:avLst/>
          </a:prstGeom>
          <a:ln xmlns:a="http://schemas.openxmlformats.org/drawingml/2006/main" w="28575">
            <a:solidFill>
              <a:srgbClr val="0284C7"/>
            </a:solidFill>
            <a:tailEnd type="triangle" w="med" len="med"/>
          </a:ln>
        </p:spPr>
      </p:cxnSp>
      <p:sp>
        <p:nvSpPr>
          <p:cNvPr id="15" name="text-239">
            <a:extLst xmlns:a="http://schemas.openxmlformats.org/drawingml/2006/main">
              <a:ext uri="{FF2B5EF4-FFF2-40B4-BE49-F238E27FC236}">
                <a16:creationId xmlns:a16="http://schemas.microsoft.com/office/drawing/2014/main" id="{2EA7DA2B-37F5-4B21-8AF8-B8D001F8DF25}"/>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Koneksi terputus dan pengiriman ulang</a:t>
            </a:r>
          </a:p>
        </p:txBody>
      </p:sp>
      <p:sp>
        <p:nvSpPr>
          <p:cNvPr id="2" name="text-240">
            <a:extLst xmlns:a="http://schemas.openxmlformats.org/drawingml/2006/main">
              <a:ext uri="{FF2B5EF4-FFF2-40B4-BE49-F238E27FC236}">
                <a16:creationId xmlns:a16="http://schemas.microsoft.com/office/drawing/2014/main" id="{BA22EA82-525C-4BC5-ADDD-8AB3DFFFBE3D}"/>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Pemulihan koneksi perlu mengembalikan tampilan ke data server yang terbaru.</a:t>
            </a:r>
          </a:p>
        </p:txBody>
      </p:sp>
      <p:sp>
        <p:nvSpPr>
          <p:cNvPr id="3" name="text-241">
            <a:extLst xmlns:a="http://schemas.openxmlformats.org/drawingml/2006/main">
              <a:ext uri="{FF2B5EF4-FFF2-40B4-BE49-F238E27FC236}">
                <a16:creationId xmlns:a16="http://schemas.microsoft.com/office/drawing/2014/main" id="{EE94725D-B181-4810-A9EC-1A279EA745E9}"/>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24</a:t>
            </a:r>
          </a:p>
        </p:txBody>
      </p:sp>
      <p:sp>
        <p:nvSpPr>
          <p:cNvPr id="4" name="diagram-node-242">
            <a:extLst xmlns:a="http://schemas.openxmlformats.org/drawingml/2006/main">
              <a:ext uri="{FF2B5EF4-FFF2-40B4-BE49-F238E27FC236}">
                <a16:creationId xmlns:a16="http://schemas.microsoft.com/office/drawing/2014/main" id="{DF0A5DC3-4715-456C-8213-53105C409E64}"/>
              </a:ext>
            </a:extLst>
          </p:cNvPr>
          <p:cNvSpPr>
            <a:spLocks xmlns:a="http://schemas.openxmlformats.org/drawingml/2006/main" noGrp="1"/>
          </p:cNvSpPr>
          <p:nvPr/>
        </p:nvSpPr>
        <p:spPr>
          <a:xfrm xmlns:a="http://schemas.openxmlformats.org/drawingml/2006/main">
            <a:off x="914400" y="3009900"/>
            <a:ext cx="2667000" cy="15811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Terputus</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Status koneksi berubah</a:t>
            </a:r>
          </a:p>
        </p:txBody>
      </p:sp>
      <p:sp>
        <p:nvSpPr>
          <p:cNvPr id="5" name="diagram-node-243">
            <a:extLst xmlns:a="http://schemas.openxmlformats.org/drawingml/2006/main">
              <a:ext uri="{FF2B5EF4-FFF2-40B4-BE49-F238E27FC236}">
                <a16:creationId xmlns:a16="http://schemas.microsoft.com/office/drawing/2014/main" id="{BA202371-9F92-4DB6-8463-96308AC9CCEA}"/>
              </a:ext>
            </a:extLst>
          </p:cNvPr>
          <p:cNvSpPr>
            <a:spLocks xmlns:a="http://schemas.openxmlformats.org/drawingml/2006/main" noGrp="1"/>
          </p:cNvSpPr>
          <p:nvPr/>
        </p:nvSpPr>
        <p:spPr>
          <a:xfrm xmlns:a="http://schemas.openxmlformats.org/drawingml/2006/main">
            <a:off x="4495800" y="3009900"/>
            <a:ext cx="2667000" cy="15811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Sambung ulang</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Percobaan otomatis</a:t>
            </a:r>
          </a:p>
        </p:txBody>
      </p:sp>
      <p:sp>
        <p:nvSpPr>
          <p:cNvPr id="6" name="diagram-node-244">
            <a:extLst xmlns:a="http://schemas.openxmlformats.org/drawingml/2006/main">
              <a:ext uri="{FF2B5EF4-FFF2-40B4-BE49-F238E27FC236}">
                <a16:creationId xmlns:a16="http://schemas.microsoft.com/office/drawing/2014/main" id="{592AFD1A-E202-4A1C-A6D9-1FBED7AF64AF}"/>
              </a:ext>
            </a:extLst>
          </p:cNvPr>
          <p:cNvSpPr>
            <a:spLocks xmlns:a="http://schemas.openxmlformats.org/drawingml/2006/main" noGrp="1"/>
          </p:cNvSpPr>
          <p:nvPr/>
        </p:nvSpPr>
        <p:spPr>
          <a:xfrm xmlns:a="http://schemas.openxmlformats.org/drawingml/2006/main">
            <a:off x="8077200" y="3009900"/>
            <a:ext cx="2667000" cy="15811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Ambil riwayat</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Sinkronisasi dari API</a:t>
            </a:r>
          </a:p>
        </p:txBody>
      </p:sp>
      <p:sp>
        <p:nvSpPr>
          <p:cNvPr id="7" name="diagram-node-245">
            <a:extLst xmlns:a="http://schemas.openxmlformats.org/drawingml/2006/main">
              <a:ext uri="{FF2B5EF4-FFF2-40B4-BE49-F238E27FC236}">
                <a16:creationId xmlns:a16="http://schemas.microsoft.com/office/drawing/2014/main" id="{7B79E9F8-5967-4936-9123-549EDC289AD9}"/>
              </a:ext>
            </a:extLst>
          </p:cNvPr>
          <p:cNvSpPr>
            <a:spLocks xmlns:a="http://schemas.openxmlformats.org/drawingml/2006/main" noGrp="1"/>
          </p:cNvSpPr>
          <p:nvPr/>
        </p:nvSpPr>
        <p:spPr>
          <a:xfrm xmlns:a="http://schemas.openxmlformats.org/drawingml/2006/main">
            <a:off x="11658600" y="3009900"/>
            <a:ext cx="2667000" cy="15811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Perbarui layar</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Gabungkan berdasarkan ID</a:t>
            </a:r>
          </a:p>
        </p:txBody>
      </p:sp>
      <p:sp>
        <p:nvSpPr>
          <p:cNvPr id="11" name="text-246">
            <a:extLst xmlns:a="http://schemas.openxmlformats.org/drawingml/2006/main">
              <a:ext uri="{FF2B5EF4-FFF2-40B4-BE49-F238E27FC236}">
                <a16:creationId xmlns:a16="http://schemas.microsoft.com/office/drawing/2014/main" id="{B354C645-4A1F-40B7-B008-74189BB9001B}"/>
              </a:ext>
            </a:extLst>
          </p:cNvPr>
          <p:cNvSpPr>
            <a:spLocks xmlns:a="http://schemas.openxmlformats.org/drawingml/2006/main" noGrp="1"/>
          </p:cNvSpPr>
          <p:nvPr/>
        </p:nvSpPr>
        <p:spPr>
          <a:xfrm xmlns:a="http://schemas.openxmlformats.org/drawingml/2006/main">
            <a:off x="914400" y="5524500"/>
            <a:ext cx="628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284C7"/>
                </a:solidFill>
                <a:latin typeface="Arial"/>
                <a:ea typeface="Arial"/>
                <a:cs typeface="Arial"/>
              </a:defRPr>
            </a:defPPr>
            <a:lvl1pPr algn="l">
              <a:defRPr sz="2400" b="1">
                <a:solidFill>
                  <a:srgbClr val="0284C7"/>
                </a:solidFill>
                <a:latin typeface="Arial"/>
                <a:ea typeface="Arial"/>
                <a:cs typeface="Arial"/>
              </a:defRPr>
            </a:lvl1pPr>
            <a:lvl2pPr algn="l">
              <a:defRPr sz="2400" b="1">
                <a:solidFill>
                  <a:srgbClr val="0284C7"/>
                </a:solidFill>
                <a:latin typeface="Arial"/>
                <a:ea typeface="Arial"/>
                <a:cs typeface="Arial"/>
              </a:defRPr>
            </a:lvl2pPr>
            <a:lvl3pPr algn="l">
              <a:defRPr sz="2400" b="1">
                <a:solidFill>
                  <a:srgbClr val="0284C7"/>
                </a:solidFill>
                <a:latin typeface="Arial"/>
                <a:ea typeface="Arial"/>
                <a:cs typeface="Arial"/>
              </a:defRPr>
            </a:lvl3pPr>
            <a:lvl4pPr algn="l">
              <a:defRPr sz="2400" b="1">
                <a:solidFill>
                  <a:srgbClr val="0284C7"/>
                </a:solidFill>
                <a:latin typeface="Arial"/>
                <a:ea typeface="Arial"/>
                <a:cs typeface="Arial"/>
              </a:defRPr>
            </a:lvl4pPr>
            <a:lvl5pPr algn="l">
              <a:defRPr sz="2400" b="1">
                <a:solidFill>
                  <a:srgbClr val="0284C7"/>
                </a:solidFill>
                <a:latin typeface="Arial"/>
                <a:ea typeface="Arial"/>
                <a:cs typeface="Arial"/>
              </a:defRPr>
            </a:lvl5pPr>
            <a:lvl6pPr algn="l">
              <a:defRPr sz="2400" b="1">
                <a:solidFill>
                  <a:srgbClr val="0284C7"/>
                </a:solidFill>
                <a:latin typeface="Arial"/>
                <a:ea typeface="Arial"/>
                <a:cs typeface="Arial"/>
              </a:defRPr>
            </a:lvl6pPr>
            <a:lvl7pPr algn="l">
              <a:defRPr sz="2400" b="1">
                <a:solidFill>
                  <a:srgbClr val="0284C7"/>
                </a:solidFill>
                <a:latin typeface="Arial"/>
                <a:ea typeface="Arial"/>
                <a:cs typeface="Arial"/>
              </a:defRPr>
            </a:lvl7pPr>
            <a:lvl8pPr algn="l">
              <a:defRPr sz="2400" b="1">
                <a:solidFill>
                  <a:srgbClr val="0284C7"/>
                </a:solidFill>
                <a:latin typeface="Arial"/>
                <a:ea typeface="Arial"/>
                <a:cs typeface="Arial"/>
              </a:defRPr>
            </a:lvl8pPr>
            <a:lvl9pPr algn="l">
              <a:defRPr sz="2400" b="1">
                <a:solidFill>
                  <a:srgbClr val="0284C7"/>
                </a:solidFill>
                <a:latin typeface="Arial"/>
                <a:ea typeface="Arial"/>
                <a:cs typeface="Arial"/>
              </a:defRPr>
            </a:lvl9pPr>
          </a:lstStyle>
          <a:p xmlns:a="http://schemas.openxmlformats.org/drawingml/2006/main">
            <a:pPr algn="l">
              <a:defRPr sz="2400" b="1">
                <a:solidFill>
                  <a:srgbClr val="0284C7"/>
                </a:solidFill>
                <a:latin typeface="Arial"/>
                <a:ea typeface="Arial"/>
                <a:cs typeface="Arial"/>
              </a:defRPr>
            </a:pPr>
            <a:r>
              <a:rPr sz="2400" b="1">
                <a:solidFill>
                  <a:srgbClr val="0284C7"/>
                </a:solidFill>
                <a:latin typeface="Arial"/>
                <a:ea typeface="Arial"/>
                <a:cs typeface="Arial"/>
              </a:rPr>
              <a:t>Draft saat pengiriman gagal</a:t>
            </a:r>
          </a:p>
        </p:txBody>
      </p:sp>
      <p:sp>
        <p:nvSpPr>
          <p:cNvPr id="12" name="text-247">
            <a:extLst xmlns:a="http://schemas.openxmlformats.org/drawingml/2006/main">
              <a:ext uri="{FF2B5EF4-FFF2-40B4-BE49-F238E27FC236}">
                <a16:creationId xmlns:a16="http://schemas.microsoft.com/office/drawing/2014/main" id="{BC4DB908-D9E1-412F-8CC8-CA0447DD1EE3}"/>
              </a:ext>
            </a:extLst>
          </p:cNvPr>
          <p:cNvSpPr>
            <a:spLocks xmlns:a="http://schemas.openxmlformats.org/drawingml/2006/main" noGrp="1"/>
          </p:cNvSpPr>
          <p:nvPr/>
        </p:nvSpPr>
        <p:spPr>
          <a:xfrm xmlns:a="http://schemas.openxmlformats.org/drawingml/2006/main">
            <a:off x="914400" y="6153150"/>
            <a:ext cx="6286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75569"/>
                </a:solidFill>
                <a:latin typeface="Arial"/>
                <a:ea typeface="Arial"/>
                <a:cs typeface="Arial"/>
              </a:defRPr>
            </a:defPPr>
            <a:lvl1pPr algn="l">
              <a:defRPr sz="2100" b="0">
                <a:solidFill>
                  <a:srgbClr val="475569"/>
                </a:solidFill>
                <a:latin typeface="Arial"/>
                <a:ea typeface="Arial"/>
                <a:cs typeface="Arial"/>
              </a:defRPr>
            </a:lvl1pPr>
            <a:lvl2pPr algn="l">
              <a:defRPr sz="2100" b="0">
                <a:solidFill>
                  <a:srgbClr val="475569"/>
                </a:solidFill>
                <a:latin typeface="Arial"/>
                <a:ea typeface="Arial"/>
                <a:cs typeface="Arial"/>
              </a:defRPr>
            </a:lvl2pPr>
            <a:lvl3pPr algn="l">
              <a:defRPr sz="2100" b="0">
                <a:solidFill>
                  <a:srgbClr val="475569"/>
                </a:solidFill>
                <a:latin typeface="Arial"/>
                <a:ea typeface="Arial"/>
                <a:cs typeface="Arial"/>
              </a:defRPr>
            </a:lvl3pPr>
            <a:lvl4pPr algn="l">
              <a:defRPr sz="2100" b="0">
                <a:solidFill>
                  <a:srgbClr val="475569"/>
                </a:solidFill>
                <a:latin typeface="Arial"/>
                <a:ea typeface="Arial"/>
                <a:cs typeface="Arial"/>
              </a:defRPr>
            </a:lvl4pPr>
            <a:lvl5pPr algn="l">
              <a:defRPr sz="2100" b="0">
                <a:solidFill>
                  <a:srgbClr val="475569"/>
                </a:solidFill>
                <a:latin typeface="Arial"/>
                <a:ea typeface="Arial"/>
                <a:cs typeface="Arial"/>
              </a:defRPr>
            </a:lvl5pPr>
            <a:lvl6pPr algn="l">
              <a:defRPr sz="2100" b="0">
                <a:solidFill>
                  <a:srgbClr val="475569"/>
                </a:solidFill>
                <a:latin typeface="Arial"/>
                <a:ea typeface="Arial"/>
                <a:cs typeface="Arial"/>
              </a:defRPr>
            </a:lvl6pPr>
            <a:lvl7pPr algn="l">
              <a:defRPr sz="2100" b="0">
                <a:solidFill>
                  <a:srgbClr val="475569"/>
                </a:solidFill>
                <a:latin typeface="Arial"/>
                <a:ea typeface="Arial"/>
                <a:cs typeface="Arial"/>
              </a:defRPr>
            </a:lvl7pPr>
            <a:lvl8pPr algn="l">
              <a:defRPr sz="2100" b="0">
                <a:solidFill>
                  <a:srgbClr val="475569"/>
                </a:solidFill>
                <a:latin typeface="Arial"/>
                <a:ea typeface="Arial"/>
                <a:cs typeface="Arial"/>
              </a:defRPr>
            </a:lvl8pPr>
            <a:lvl9pPr algn="l">
              <a:defRPr sz="2100" b="0">
                <a:solidFill>
                  <a:srgbClr val="475569"/>
                </a:solidFill>
                <a:latin typeface="Arial"/>
                <a:ea typeface="Arial"/>
                <a:cs typeface="Arial"/>
              </a:defRPr>
            </a:lvl9pPr>
          </a:lstStyle>
          <a:p xmlns:a="http://schemas.openxmlformats.org/drawingml/2006/main">
            <a:pPr algn="l">
              <a:defRPr sz="2100" b="0">
                <a:solidFill>
                  <a:srgbClr val="475569"/>
                </a:solidFill>
                <a:latin typeface="Arial"/>
                <a:ea typeface="Arial"/>
                <a:cs typeface="Arial"/>
              </a:defRPr>
            </a:pPr>
            <a:r>
              <a:rPr sz="2100" b="0">
                <a:solidFill>
                  <a:srgbClr val="475569"/>
                </a:solidFill>
                <a:latin typeface="Arial"/>
                <a:ea typeface="Arial"/>
                <a:cs typeface="Arial"/>
              </a:rPr>
              <a:t>Teks tetap tersedia pada ruang chat. Antrean offline belum tersedia.</a:t>
            </a:r>
          </a:p>
        </p:txBody>
      </p:sp>
      <p:sp>
        <p:nvSpPr>
          <p:cNvPr id="13" name="text-248">
            <a:extLst xmlns:a="http://schemas.openxmlformats.org/drawingml/2006/main">
              <a:ext uri="{FF2B5EF4-FFF2-40B4-BE49-F238E27FC236}">
                <a16:creationId xmlns:a16="http://schemas.microsoft.com/office/drawing/2014/main" id="{29122EA2-23DF-416B-954D-C14035768FF8}"/>
              </a:ext>
            </a:extLst>
          </p:cNvPr>
          <p:cNvSpPr>
            <a:spLocks xmlns:a="http://schemas.openxmlformats.org/drawingml/2006/main" noGrp="1"/>
          </p:cNvSpPr>
          <p:nvPr/>
        </p:nvSpPr>
        <p:spPr>
          <a:xfrm xmlns:a="http://schemas.openxmlformats.org/drawingml/2006/main">
            <a:off x="8096250" y="5524500"/>
            <a:ext cx="62293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284C7"/>
                </a:solidFill>
                <a:latin typeface="Arial"/>
                <a:ea typeface="Arial"/>
                <a:cs typeface="Arial"/>
              </a:defRPr>
            </a:defPPr>
            <a:lvl1pPr algn="l">
              <a:defRPr sz="2400" b="1">
                <a:solidFill>
                  <a:srgbClr val="0284C7"/>
                </a:solidFill>
                <a:latin typeface="Arial"/>
                <a:ea typeface="Arial"/>
                <a:cs typeface="Arial"/>
              </a:defRPr>
            </a:lvl1pPr>
            <a:lvl2pPr algn="l">
              <a:defRPr sz="2400" b="1">
                <a:solidFill>
                  <a:srgbClr val="0284C7"/>
                </a:solidFill>
                <a:latin typeface="Arial"/>
                <a:ea typeface="Arial"/>
                <a:cs typeface="Arial"/>
              </a:defRPr>
            </a:lvl2pPr>
            <a:lvl3pPr algn="l">
              <a:defRPr sz="2400" b="1">
                <a:solidFill>
                  <a:srgbClr val="0284C7"/>
                </a:solidFill>
                <a:latin typeface="Arial"/>
                <a:ea typeface="Arial"/>
                <a:cs typeface="Arial"/>
              </a:defRPr>
            </a:lvl3pPr>
            <a:lvl4pPr algn="l">
              <a:defRPr sz="2400" b="1">
                <a:solidFill>
                  <a:srgbClr val="0284C7"/>
                </a:solidFill>
                <a:latin typeface="Arial"/>
                <a:ea typeface="Arial"/>
                <a:cs typeface="Arial"/>
              </a:defRPr>
            </a:lvl4pPr>
            <a:lvl5pPr algn="l">
              <a:defRPr sz="2400" b="1">
                <a:solidFill>
                  <a:srgbClr val="0284C7"/>
                </a:solidFill>
                <a:latin typeface="Arial"/>
                <a:ea typeface="Arial"/>
                <a:cs typeface="Arial"/>
              </a:defRPr>
            </a:lvl5pPr>
            <a:lvl6pPr algn="l">
              <a:defRPr sz="2400" b="1">
                <a:solidFill>
                  <a:srgbClr val="0284C7"/>
                </a:solidFill>
                <a:latin typeface="Arial"/>
                <a:ea typeface="Arial"/>
                <a:cs typeface="Arial"/>
              </a:defRPr>
            </a:lvl6pPr>
            <a:lvl7pPr algn="l">
              <a:defRPr sz="2400" b="1">
                <a:solidFill>
                  <a:srgbClr val="0284C7"/>
                </a:solidFill>
                <a:latin typeface="Arial"/>
                <a:ea typeface="Arial"/>
                <a:cs typeface="Arial"/>
              </a:defRPr>
            </a:lvl7pPr>
            <a:lvl8pPr algn="l">
              <a:defRPr sz="2400" b="1">
                <a:solidFill>
                  <a:srgbClr val="0284C7"/>
                </a:solidFill>
                <a:latin typeface="Arial"/>
                <a:ea typeface="Arial"/>
                <a:cs typeface="Arial"/>
              </a:defRPr>
            </a:lvl8pPr>
            <a:lvl9pPr algn="l">
              <a:defRPr sz="2400" b="1">
                <a:solidFill>
                  <a:srgbClr val="0284C7"/>
                </a:solidFill>
                <a:latin typeface="Arial"/>
                <a:ea typeface="Arial"/>
                <a:cs typeface="Arial"/>
              </a:defRPr>
            </a:lvl9pPr>
          </a:lstStyle>
          <a:p xmlns:a="http://schemas.openxmlformats.org/drawingml/2006/main">
            <a:pPr algn="l">
              <a:defRPr sz="2400" b="1">
                <a:solidFill>
                  <a:srgbClr val="0284C7"/>
                </a:solidFill>
                <a:latin typeface="Arial"/>
                <a:ea typeface="Arial"/>
                <a:cs typeface="Arial"/>
              </a:defRPr>
            </a:pPr>
            <a:r>
              <a:rPr sz="2400" b="1">
                <a:solidFill>
                  <a:srgbClr val="0284C7"/>
                </a:solidFill>
                <a:latin typeface="Arial"/>
                <a:ea typeface="Arial"/>
                <a:cs typeface="Arial"/>
              </a:rPr>
              <a:t>Identitas pesan tetap konsisten</a:t>
            </a:r>
          </a:p>
        </p:txBody>
      </p:sp>
      <p:sp>
        <p:nvSpPr>
          <p:cNvPr id="14" name="text-249">
            <a:extLst xmlns:a="http://schemas.openxmlformats.org/drawingml/2006/main">
              <a:ext uri="{FF2B5EF4-FFF2-40B4-BE49-F238E27FC236}">
                <a16:creationId xmlns:a16="http://schemas.microsoft.com/office/drawing/2014/main" id="{A0A6C7B7-2792-41E7-8CD3-1A182B63CCB4}"/>
              </a:ext>
            </a:extLst>
          </p:cNvPr>
          <p:cNvSpPr>
            <a:spLocks xmlns:a="http://schemas.openxmlformats.org/drawingml/2006/main" noGrp="1"/>
          </p:cNvSpPr>
          <p:nvPr/>
        </p:nvSpPr>
        <p:spPr>
          <a:xfrm xmlns:a="http://schemas.openxmlformats.org/drawingml/2006/main">
            <a:off x="8096250" y="6153150"/>
            <a:ext cx="6229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75569"/>
                </a:solidFill>
                <a:latin typeface="Arial"/>
                <a:ea typeface="Arial"/>
                <a:cs typeface="Arial"/>
              </a:defRPr>
            </a:defPPr>
            <a:lvl1pPr algn="l">
              <a:defRPr sz="2100" b="0">
                <a:solidFill>
                  <a:srgbClr val="475569"/>
                </a:solidFill>
                <a:latin typeface="Arial"/>
                <a:ea typeface="Arial"/>
                <a:cs typeface="Arial"/>
              </a:defRPr>
            </a:lvl1pPr>
            <a:lvl2pPr algn="l">
              <a:defRPr sz="2100" b="0">
                <a:solidFill>
                  <a:srgbClr val="475569"/>
                </a:solidFill>
                <a:latin typeface="Arial"/>
                <a:ea typeface="Arial"/>
                <a:cs typeface="Arial"/>
              </a:defRPr>
            </a:lvl2pPr>
            <a:lvl3pPr algn="l">
              <a:defRPr sz="2100" b="0">
                <a:solidFill>
                  <a:srgbClr val="475569"/>
                </a:solidFill>
                <a:latin typeface="Arial"/>
                <a:ea typeface="Arial"/>
                <a:cs typeface="Arial"/>
              </a:defRPr>
            </a:lvl3pPr>
            <a:lvl4pPr algn="l">
              <a:defRPr sz="2100" b="0">
                <a:solidFill>
                  <a:srgbClr val="475569"/>
                </a:solidFill>
                <a:latin typeface="Arial"/>
                <a:ea typeface="Arial"/>
                <a:cs typeface="Arial"/>
              </a:defRPr>
            </a:lvl4pPr>
            <a:lvl5pPr algn="l">
              <a:defRPr sz="2100" b="0">
                <a:solidFill>
                  <a:srgbClr val="475569"/>
                </a:solidFill>
                <a:latin typeface="Arial"/>
                <a:ea typeface="Arial"/>
                <a:cs typeface="Arial"/>
              </a:defRPr>
            </a:lvl5pPr>
            <a:lvl6pPr algn="l">
              <a:defRPr sz="2100" b="0">
                <a:solidFill>
                  <a:srgbClr val="475569"/>
                </a:solidFill>
                <a:latin typeface="Arial"/>
                <a:ea typeface="Arial"/>
                <a:cs typeface="Arial"/>
              </a:defRPr>
            </a:lvl6pPr>
            <a:lvl7pPr algn="l">
              <a:defRPr sz="2100" b="0">
                <a:solidFill>
                  <a:srgbClr val="475569"/>
                </a:solidFill>
                <a:latin typeface="Arial"/>
                <a:ea typeface="Arial"/>
                <a:cs typeface="Arial"/>
              </a:defRPr>
            </a:lvl7pPr>
            <a:lvl8pPr algn="l">
              <a:defRPr sz="2100" b="0">
                <a:solidFill>
                  <a:srgbClr val="475569"/>
                </a:solidFill>
                <a:latin typeface="Arial"/>
                <a:ea typeface="Arial"/>
                <a:cs typeface="Arial"/>
              </a:defRPr>
            </a:lvl8pPr>
            <a:lvl9pPr algn="l">
              <a:defRPr sz="2100" b="0">
                <a:solidFill>
                  <a:srgbClr val="475569"/>
                </a:solidFill>
                <a:latin typeface="Arial"/>
                <a:ea typeface="Arial"/>
                <a:cs typeface="Arial"/>
              </a:defRPr>
            </a:lvl9pPr>
          </a:lstStyle>
          <a:p xmlns:a="http://schemas.openxmlformats.org/drawingml/2006/main">
            <a:pPr algn="l">
              <a:defRPr sz="2100" b="0">
                <a:solidFill>
                  <a:srgbClr val="475569"/>
                </a:solidFill>
                <a:latin typeface="Arial"/>
                <a:ea typeface="Arial"/>
                <a:cs typeface="Arial"/>
              </a:defRPr>
            </a:pPr>
            <a:r>
              <a:rPr sz="2100" b="0">
                <a:solidFill>
                  <a:srgbClr val="475569"/>
                </a:solidFill>
                <a:latin typeface="Arial"/>
                <a:ea typeface="Arial"/>
                <a:cs typeface="Arial"/>
              </a:rPr>
              <a:t>Pengiriman ulang draft yang sama mempertahankan client_id untuk mencegah duplikasi.</a:t>
            </a:r>
          </a:p>
        </p:txBody>
      </p:sp>
    </p:spTree>
    <p:extLst>
      <p:ext uri="{BB962C8B-B14F-4D97-AF65-F5344CB8AC3E}">
        <p14:creationId xmlns:p14="http://schemas.microsoft.com/office/powerpoint/2010/main" val="1712973745"/>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text-250">
            <a:extLst xmlns:a="http://schemas.openxmlformats.org/drawingml/2006/main">
              <a:ext uri="{FF2B5EF4-FFF2-40B4-BE49-F238E27FC236}">
                <a16:creationId xmlns:a16="http://schemas.microsoft.com/office/drawing/2014/main" id="{D80AA363-C7FE-4EF3-B91A-5C807537F396}"/>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Keamanan dasar aplikasi chat</a:t>
            </a:r>
          </a:p>
        </p:txBody>
      </p:sp>
      <p:sp>
        <p:nvSpPr>
          <p:cNvPr id="2" name="text-251">
            <a:extLst xmlns:a="http://schemas.openxmlformats.org/drawingml/2006/main">
              <a:ext uri="{FF2B5EF4-FFF2-40B4-BE49-F238E27FC236}">
                <a16:creationId xmlns:a16="http://schemas.microsoft.com/office/drawing/2014/main" id="{B634A7BA-63BF-40A1-A128-B5F464A2E7F9}"/>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Setiap perubahan data melewati pemeriksaan di server.</a:t>
            </a:r>
          </a:p>
        </p:txBody>
      </p:sp>
      <p:sp>
        <p:nvSpPr>
          <p:cNvPr id="3" name="text-252">
            <a:extLst xmlns:a="http://schemas.openxmlformats.org/drawingml/2006/main">
              <a:ext uri="{FF2B5EF4-FFF2-40B4-BE49-F238E27FC236}">
                <a16:creationId xmlns:a16="http://schemas.microsoft.com/office/drawing/2014/main" id="{D376A59B-4B5F-4470-A07F-9BEA05AC4E5B}"/>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25</a:t>
            </a:r>
          </a:p>
        </p:txBody>
      </p:sp>
      <p:sp>
        <p:nvSpPr>
          <p:cNvPr id="4" name="text-253">
            <a:extLst xmlns:a="http://schemas.openxmlformats.org/drawingml/2006/main">
              <a:ext uri="{FF2B5EF4-FFF2-40B4-BE49-F238E27FC236}">
                <a16:creationId xmlns:a16="http://schemas.microsoft.com/office/drawing/2014/main" id="{CD790EB9-EDE8-4EF0-8AE5-363102D4B654}"/>
              </a:ext>
            </a:extLst>
          </p:cNvPr>
          <p:cNvSpPr>
            <a:spLocks xmlns:a="http://schemas.openxmlformats.org/drawingml/2006/main" noGrp="1"/>
          </p:cNvSpPr>
          <p:nvPr/>
        </p:nvSpPr>
        <p:spPr>
          <a:xfrm xmlns:a="http://schemas.openxmlformats.org/drawingml/2006/main">
            <a:off x="914400" y="2362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54">
            <a:extLst xmlns:a="http://schemas.openxmlformats.org/drawingml/2006/main">
              <a:ext uri="{FF2B5EF4-FFF2-40B4-BE49-F238E27FC236}">
                <a16:creationId xmlns:a16="http://schemas.microsoft.com/office/drawing/2014/main" id="{BEA59452-329A-4FF5-B55C-581CBE844152}"/>
              </a:ext>
            </a:extLst>
          </p:cNvPr>
          <p:cNvSpPr>
            <a:spLocks xmlns:a="http://schemas.openxmlformats.org/drawingml/2006/main" noGrp="1"/>
          </p:cNvSpPr>
          <p:nvPr/>
        </p:nvSpPr>
        <p:spPr>
          <a:xfrm xmlns:a="http://schemas.openxmlformats.org/drawingml/2006/main">
            <a:off x="1619250" y="2362200"/>
            <a:ext cx="1205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Sesi pengguna</a:t>
            </a:r>
          </a:p>
        </p:txBody>
      </p:sp>
      <p:sp>
        <p:nvSpPr>
          <p:cNvPr id="6" name="text-255">
            <a:extLst xmlns:a="http://schemas.openxmlformats.org/drawingml/2006/main">
              <a:ext uri="{FF2B5EF4-FFF2-40B4-BE49-F238E27FC236}">
                <a16:creationId xmlns:a16="http://schemas.microsoft.com/office/drawing/2014/main" id="{6E8522E3-2AC7-4986-B27F-8FE9BA16AC7F}"/>
              </a:ext>
            </a:extLst>
          </p:cNvPr>
          <p:cNvSpPr>
            <a:spLocks xmlns:a="http://schemas.openxmlformats.org/drawingml/2006/main" noGrp="1"/>
          </p:cNvSpPr>
          <p:nvPr/>
        </p:nvSpPr>
        <p:spPr>
          <a:xfrm xmlns:a="http://schemas.openxmlformats.org/drawingml/2006/main">
            <a:off x="1619250" y="2933700"/>
            <a:ext cx="11982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Token yang sah mengidentifikasi pemilik permintaan.</a:t>
            </a:r>
          </a:p>
        </p:txBody>
      </p:sp>
      <p:sp>
        <p:nvSpPr>
          <p:cNvPr id="7" name="text-256">
            <a:extLst xmlns:a="http://schemas.openxmlformats.org/drawingml/2006/main">
              <a:ext uri="{FF2B5EF4-FFF2-40B4-BE49-F238E27FC236}">
                <a16:creationId xmlns:a16="http://schemas.microsoft.com/office/drawing/2014/main" id="{04A54EBC-E1E2-476F-805B-466E2F3C41A5}"/>
              </a:ext>
            </a:extLst>
          </p:cNvPr>
          <p:cNvSpPr>
            <a:spLocks xmlns:a="http://schemas.openxmlformats.org/drawingml/2006/main" noGrp="1"/>
          </p:cNvSpPr>
          <p:nvPr/>
        </p:nvSpPr>
        <p:spPr>
          <a:xfrm xmlns:a="http://schemas.openxmlformats.org/drawingml/2006/main">
            <a:off x="914400" y="362902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57">
            <a:extLst xmlns:a="http://schemas.openxmlformats.org/drawingml/2006/main">
              <a:ext uri="{FF2B5EF4-FFF2-40B4-BE49-F238E27FC236}">
                <a16:creationId xmlns:a16="http://schemas.microsoft.com/office/drawing/2014/main" id="{C68125C1-E23B-4135-8B8A-6C0F28A7369E}"/>
              </a:ext>
            </a:extLst>
          </p:cNvPr>
          <p:cNvSpPr>
            <a:spLocks xmlns:a="http://schemas.openxmlformats.org/drawingml/2006/main" noGrp="1"/>
          </p:cNvSpPr>
          <p:nvPr/>
        </p:nvSpPr>
        <p:spPr>
          <a:xfrm xmlns:a="http://schemas.openxmlformats.org/drawingml/2006/main">
            <a:off x="1619250" y="3629025"/>
            <a:ext cx="1205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Keanggotaan percakapan</a:t>
            </a:r>
          </a:p>
        </p:txBody>
      </p:sp>
      <p:sp>
        <p:nvSpPr>
          <p:cNvPr id="9" name="text-258">
            <a:extLst xmlns:a="http://schemas.openxmlformats.org/drawingml/2006/main">
              <a:ext uri="{FF2B5EF4-FFF2-40B4-BE49-F238E27FC236}">
                <a16:creationId xmlns:a16="http://schemas.microsoft.com/office/drawing/2014/main" id="{DFD25548-F91A-471B-A159-AF4E85BABB49}"/>
              </a:ext>
            </a:extLst>
          </p:cNvPr>
          <p:cNvSpPr>
            <a:spLocks xmlns:a="http://schemas.openxmlformats.org/drawingml/2006/main" noGrp="1"/>
          </p:cNvSpPr>
          <p:nvPr/>
        </p:nvSpPr>
        <p:spPr>
          <a:xfrm xmlns:a="http://schemas.openxmlformats.org/drawingml/2006/main">
            <a:off x="1619250" y="4200525"/>
            <a:ext cx="11982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Go memeriksa akses sebelum membaca pesan, mengunduh file, atau memberi reaksi.</a:t>
            </a:r>
          </a:p>
        </p:txBody>
      </p:sp>
      <p:sp>
        <p:nvSpPr>
          <p:cNvPr id="10" name="text-259">
            <a:extLst xmlns:a="http://schemas.openxmlformats.org/drawingml/2006/main">
              <a:ext uri="{FF2B5EF4-FFF2-40B4-BE49-F238E27FC236}">
                <a16:creationId xmlns:a16="http://schemas.microsoft.com/office/drawing/2014/main" id="{0B2D11C0-6024-4252-B5E0-63BF4C46800D}"/>
              </a:ext>
            </a:extLst>
          </p:cNvPr>
          <p:cNvSpPr>
            <a:spLocks xmlns:a="http://schemas.openxmlformats.org/drawingml/2006/main" noGrp="1"/>
          </p:cNvSpPr>
          <p:nvPr/>
        </p:nvSpPr>
        <p:spPr>
          <a:xfrm xmlns:a="http://schemas.openxmlformats.org/drawingml/2006/main">
            <a:off x="914400" y="48958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60">
            <a:extLst xmlns:a="http://schemas.openxmlformats.org/drawingml/2006/main">
              <a:ext uri="{FF2B5EF4-FFF2-40B4-BE49-F238E27FC236}">
                <a16:creationId xmlns:a16="http://schemas.microsoft.com/office/drawing/2014/main" id="{C101EA59-169B-44D8-BE95-10100E0B31FB}"/>
              </a:ext>
            </a:extLst>
          </p:cNvPr>
          <p:cNvSpPr>
            <a:spLocks xmlns:a="http://schemas.openxmlformats.org/drawingml/2006/main" noGrp="1"/>
          </p:cNvSpPr>
          <p:nvPr/>
        </p:nvSpPr>
        <p:spPr>
          <a:xfrm xmlns:a="http://schemas.openxmlformats.org/drawingml/2006/main">
            <a:off x="1619250" y="4895850"/>
            <a:ext cx="1205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Isi dan ukuran data</a:t>
            </a:r>
          </a:p>
        </p:txBody>
      </p:sp>
      <p:sp>
        <p:nvSpPr>
          <p:cNvPr id="12" name="text-261">
            <a:extLst xmlns:a="http://schemas.openxmlformats.org/drawingml/2006/main">
              <a:ext uri="{FF2B5EF4-FFF2-40B4-BE49-F238E27FC236}">
                <a16:creationId xmlns:a16="http://schemas.microsoft.com/office/drawing/2014/main" id="{0E2FF010-875E-4FF0-8921-5CEE825FF07A}"/>
              </a:ext>
            </a:extLst>
          </p:cNvPr>
          <p:cNvSpPr>
            <a:spLocks xmlns:a="http://schemas.openxmlformats.org/drawingml/2006/main" noGrp="1"/>
          </p:cNvSpPr>
          <p:nvPr/>
        </p:nvSpPr>
        <p:spPr>
          <a:xfrm xmlns:a="http://schemas.openxmlformats.org/drawingml/2006/main">
            <a:off x="1619250" y="5467350"/>
            <a:ext cx="11982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membatasi teks, ukuran file, tipe media, dan referensi balasan.</a:t>
            </a:r>
          </a:p>
        </p:txBody>
      </p:sp>
      <p:sp>
        <p:nvSpPr>
          <p:cNvPr id="13" name="text-262">
            <a:extLst xmlns:a="http://schemas.openxmlformats.org/drawingml/2006/main">
              <a:ext uri="{FF2B5EF4-FFF2-40B4-BE49-F238E27FC236}">
                <a16:creationId xmlns:a16="http://schemas.microsoft.com/office/drawing/2014/main" id="{040FA400-2F5F-4127-A7E5-7CCEEE6E2D4E}"/>
              </a:ext>
            </a:extLst>
          </p:cNvPr>
          <p:cNvSpPr>
            <a:spLocks xmlns:a="http://schemas.openxmlformats.org/drawingml/2006/main" noGrp="1"/>
          </p:cNvSpPr>
          <p:nvPr/>
        </p:nvSpPr>
        <p:spPr>
          <a:xfrm xmlns:a="http://schemas.openxmlformats.org/drawingml/2006/main">
            <a:off x="914400" y="6162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4</a:t>
            </a:r>
          </a:p>
        </p:txBody>
      </p:sp>
      <p:sp>
        <p:nvSpPr>
          <p:cNvPr id="14" name="text-263">
            <a:extLst xmlns:a="http://schemas.openxmlformats.org/drawingml/2006/main">
              <a:ext uri="{FF2B5EF4-FFF2-40B4-BE49-F238E27FC236}">
                <a16:creationId xmlns:a16="http://schemas.microsoft.com/office/drawing/2014/main" id="{B2DD5386-F047-4899-A90A-D59A4BC26B3A}"/>
              </a:ext>
            </a:extLst>
          </p:cNvPr>
          <p:cNvSpPr>
            <a:spLocks xmlns:a="http://schemas.openxmlformats.org/drawingml/2006/main" noGrp="1"/>
          </p:cNvSpPr>
          <p:nvPr/>
        </p:nvSpPr>
        <p:spPr>
          <a:xfrm xmlns:a="http://schemas.openxmlformats.org/drawingml/2006/main">
            <a:off x="1619250" y="6162675"/>
            <a:ext cx="1205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Perlindungan data akses</a:t>
            </a:r>
          </a:p>
        </p:txBody>
      </p:sp>
      <p:sp>
        <p:nvSpPr>
          <p:cNvPr id="15" name="text-264">
            <a:extLst xmlns:a="http://schemas.openxmlformats.org/drawingml/2006/main">
              <a:ext uri="{FF2B5EF4-FFF2-40B4-BE49-F238E27FC236}">
                <a16:creationId xmlns:a16="http://schemas.microsoft.com/office/drawing/2014/main" id="{5B7B6FB3-D436-4336-A6CD-160E72517CC0}"/>
              </a:ext>
            </a:extLst>
          </p:cNvPr>
          <p:cNvSpPr>
            <a:spLocks xmlns:a="http://schemas.openxmlformats.org/drawingml/2006/main" noGrp="1"/>
          </p:cNvSpPr>
          <p:nvPr/>
        </p:nvSpPr>
        <p:spPr>
          <a:xfrm xmlns:a="http://schemas.openxmlformats.org/drawingml/2006/main">
            <a:off x="1619250" y="6734175"/>
            <a:ext cx="11982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Password memakai bcrypt dan token sesi disimpan sebagai hash di server.</a:t>
            </a:r>
          </a:p>
        </p:txBody>
      </p:sp>
      <p:sp>
        <p:nvSpPr>
          <p:cNvPr id="16" name="text-265">
            <a:extLst xmlns:a="http://schemas.openxmlformats.org/drawingml/2006/main">
              <a:ext uri="{FF2B5EF4-FFF2-40B4-BE49-F238E27FC236}">
                <a16:creationId xmlns:a16="http://schemas.microsoft.com/office/drawing/2014/main" id="{65757689-1031-493D-B798-45580C2B732B}"/>
              </a:ext>
            </a:extLst>
          </p:cNvPr>
          <p:cNvSpPr>
            <a:spLocks xmlns:a="http://schemas.openxmlformats.org/drawingml/2006/main" noGrp="1"/>
          </p:cNvSpPr>
          <p:nvPr/>
        </p:nvSpPr>
        <p:spPr>
          <a:xfrm xmlns:a="http://schemas.openxmlformats.org/drawingml/2006/main">
            <a:off x="914400" y="7677150"/>
            <a:ext cx="1304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284C7"/>
                </a:solidFill>
                <a:latin typeface="Arial"/>
                <a:ea typeface="Arial"/>
                <a:cs typeface="Arial"/>
              </a:defRPr>
            </a:defPPr>
            <a:lvl1pPr algn="l">
              <a:defRPr sz="1800" b="1">
                <a:solidFill>
                  <a:srgbClr val="0284C7"/>
                </a:solidFill>
                <a:latin typeface="Arial"/>
                <a:ea typeface="Arial"/>
                <a:cs typeface="Arial"/>
              </a:defRPr>
            </a:lvl1pPr>
            <a:lvl2pPr algn="l">
              <a:defRPr sz="1800" b="1">
                <a:solidFill>
                  <a:srgbClr val="0284C7"/>
                </a:solidFill>
                <a:latin typeface="Arial"/>
                <a:ea typeface="Arial"/>
                <a:cs typeface="Arial"/>
              </a:defRPr>
            </a:lvl2pPr>
            <a:lvl3pPr algn="l">
              <a:defRPr sz="1800" b="1">
                <a:solidFill>
                  <a:srgbClr val="0284C7"/>
                </a:solidFill>
                <a:latin typeface="Arial"/>
                <a:ea typeface="Arial"/>
                <a:cs typeface="Arial"/>
              </a:defRPr>
            </a:lvl3pPr>
            <a:lvl4pPr algn="l">
              <a:defRPr sz="1800" b="1">
                <a:solidFill>
                  <a:srgbClr val="0284C7"/>
                </a:solidFill>
                <a:latin typeface="Arial"/>
                <a:ea typeface="Arial"/>
                <a:cs typeface="Arial"/>
              </a:defRPr>
            </a:lvl4pPr>
            <a:lvl5pPr algn="l">
              <a:defRPr sz="1800" b="1">
                <a:solidFill>
                  <a:srgbClr val="0284C7"/>
                </a:solidFill>
                <a:latin typeface="Arial"/>
                <a:ea typeface="Arial"/>
                <a:cs typeface="Arial"/>
              </a:defRPr>
            </a:lvl5pPr>
            <a:lvl6pPr algn="l">
              <a:defRPr sz="1800" b="1">
                <a:solidFill>
                  <a:srgbClr val="0284C7"/>
                </a:solidFill>
                <a:latin typeface="Arial"/>
                <a:ea typeface="Arial"/>
                <a:cs typeface="Arial"/>
              </a:defRPr>
            </a:lvl6pPr>
            <a:lvl7pPr algn="l">
              <a:defRPr sz="1800" b="1">
                <a:solidFill>
                  <a:srgbClr val="0284C7"/>
                </a:solidFill>
                <a:latin typeface="Arial"/>
                <a:ea typeface="Arial"/>
                <a:cs typeface="Arial"/>
              </a:defRPr>
            </a:lvl7pPr>
            <a:lvl8pPr algn="l">
              <a:defRPr sz="1800" b="1">
                <a:solidFill>
                  <a:srgbClr val="0284C7"/>
                </a:solidFill>
                <a:latin typeface="Arial"/>
                <a:ea typeface="Arial"/>
                <a:cs typeface="Arial"/>
              </a:defRPr>
            </a:lvl8pPr>
            <a:lvl9pPr algn="l">
              <a:defRPr sz="1800" b="1">
                <a:solidFill>
                  <a:srgbClr val="0284C7"/>
                </a:solidFill>
                <a:latin typeface="Arial"/>
                <a:ea typeface="Arial"/>
                <a:cs typeface="Arial"/>
              </a:defRPr>
            </a:lvl9pPr>
          </a:lstStyle>
          <a:p xmlns:a="http://schemas.openxmlformats.org/drawingml/2006/main">
            <a:pPr algn="l">
              <a:defRPr sz="1800" b="1">
                <a:solidFill>
                  <a:srgbClr val="0284C7"/>
                </a:solidFill>
                <a:latin typeface="Arial"/>
                <a:ea typeface="Arial"/>
                <a:cs typeface="Arial"/>
              </a:defRPr>
            </a:pPr>
            <a:r>
              <a:rPr sz="1800" b="1">
                <a:solidFill>
                  <a:srgbClr val="0284C7"/>
                </a:solidFill>
                <a:latin typeface="Arial"/>
                <a:ea typeface="Arial"/>
                <a:cs typeface="Arial"/>
              </a:rPr>
              <a:t>Lingkungan lokal memakai HTTP. Distribusi memerlukan HTTPS/WSS. Enkripsi end-to-end belum tersedia.</a:t>
            </a:r>
          </a:p>
        </p:txBody>
      </p:sp>
    </p:spTree>
    <p:extLst>
      <p:ext uri="{BB962C8B-B14F-4D97-AF65-F5344CB8AC3E}">
        <p14:creationId xmlns:p14="http://schemas.microsoft.com/office/powerpoint/2010/main" val="1126121103"/>
      </p:ext>
    </p:extLst>
  </p:cSld>
</p:sld>
</file>

<file path=ppt/slides/slide26.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737A9DF1-449D-490E-8367-53F54C0DADD8}"/>
              </a:ext>
            </a:extLst>
          </p:cNvPr>
          <p:cNvCxnSpPr>
            <a:stCxn xmlns:a="http://schemas.openxmlformats.org/drawingml/2006/main" id="5" idx="2"/>
            <a:endCxn xmlns:a="http://schemas.openxmlformats.org/drawingml/2006/main" id="8" idx="0"/>
          </p:cNvCxnSpPr>
          <p:nvPr/>
        </p:nvCxnSpPr>
        <p:spPr>
          <a:xfrm xmlns:a="http://schemas.openxmlformats.org/drawingml/2006/main">
            <a:off x="10668000" y="5029200"/>
            <a:ext cx="0" cy="1314450"/>
          </a:xfrm>
          <a:prstGeom xmlns:a="http://schemas.openxmlformats.org/drawingml/2006/main" prst="straightConnector1">
            <a:avLst/>
          </a:prstGeom>
          <a:ln xmlns:a="http://schemas.openxmlformats.org/drawingml/2006/main" w="28575">
            <a:solidFill>
              <a:srgbClr val="38BDF8"/>
            </a:solidFill>
            <a:tailEnd type="triangle" w="med" len="med"/>
          </a:ln>
        </p:spPr>
      </p:cxnSp>
      <p:cxnSp>
        <p:nvCxnSpPr>
          <p:cNvPr id="6" name="">
            <a:extLst xmlns:a="http://schemas.openxmlformats.org/drawingml/2006/main">
              <a:ext uri="{FF2B5EF4-FFF2-40B4-BE49-F238E27FC236}">
                <a16:creationId xmlns:a16="http://schemas.microsoft.com/office/drawing/2014/main" id="{D5D3F5BB-C460-41D8-A910-FB58337F891B}"/>
              </a:ext>
            </a:extLst>
          </p:cNvPr>
          <p:cNvCxnSpPr>
            <a:stCxn xmlns:a="http://schemas.openxmlformats.org/drawingml/2006/main" id="4" idx="3"/>
            <a:endCxn xmlns:a="http://schemas.openxmlformats.org/drawingml/2006/main" id="5" idx="1"/>
          </p:cNvCxnSpPr>
          <p:nvPr/>
        </p:nvCxnSpPr>
        <p:spPr>
          <a:xfrm xmlns:a="http://schemas.openxmlformats.org/drawingml/2006/main">
            <a:off x="6477000" y="3933825"/>
            <a:ext cx="2095500" cy="0"/>
          </a:xfrm>
          <a:prstGeom xmlns:a="http://schemas.openxmlformats.org/drawingml/2006/main" prst="straightConnector1">
            <a:avLst/>
          </a:prstGeom>
          <a:ln xmlns:a="http://schemas.openxmlformats.org/drawingml/2006/main" w="28575">
            <a:solidFill>
              <a:srgbClr val="38BDF8"/>
            </a:solidFill>
            <a:tailEnd type="triangle" w="med" len="med"/>
          </a:ln>
        </p:spPr>
      </p:cxnSp>
      <p:sp>
        <p:nvSpPr>
          <p:cNvPr id="11" name="text-266">
            <a:extLst xmlns:a="http://schemas.openxmlformats.org/drawingml/2006/main">
              <a:ext uri="{FF2B5EF4-FFF2-40B4-BE49-F238E27FC236}">
                <a16:creationId xmlns:a16="http://schemas.microsoft.com/office/drawing/2014/main" id="{0ADCE37E-D257-4909-9E60-881915B0B3C8}"/>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Docker dan lingkungan aplikasi</a:t>
            </a:r>
          </a:p>
        </p:txBody>
      </p:sp>
      <p:sp>
        <p:nvSpPr>
          <p:cNvPr id="2" name="text-267">
            <a:extLst xmlns:a="http://schemas.openxmlformats.org/drawingml/2006/main">
              <a:ext uri="{FF2B5EF4-FFF2-40B4-BE49-F238E27FC236}">
                <a16:creationId xmlns:a16="http://schemas.microsoft.com/office/drawing/2014/main" id="{1ADDE2BC-5A11-4DF3-A54C-A93DB70A9FAF}"/>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Compose menjalankan layanan Go dan PostgreSQL dalam jaringan yang sama.</a:t>
            </a:r>
          </a:p>
        </p:txBody>
      </p:sp>
      <p:sp>
        <p:nvSpPr>
          <p:cNvPr id="3" name="text-268">
            <a:extLst xmlns:a="http://schemas.openxmlformats.org/drawingml/2006/main">
              <a:ext uri="{FF2B5EF4-FFF2-40B4-BE49-F238E27FC236}">
                <a16:creationId xmlns:a16="http://schemas.microsoft.com/office/drawing/2014/main" id="{C02B6219-7D90-48FB-9919-3E977409EE56}"/>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26</a:t>
            </a:r>
          </a:p>
        </p:txBody>
      </p:sp>
      <p:sp>
        <p:nvSpPr>
          <p:cNvPr id="4" name="diagram-node-269">
            <a:extLst xmlns:a="http://schemas.openxmlformats.org/drawingml/2006/main">
              <a:ext uri="{FF2B5EF4-FFF2-40B4-BE49-F238E27FC236}">
                <a16:creationId xmlns:a16="http://schemas.microsoft.com/office/drawing/2014/main" id="{96F28E60-0101-490D-842D-745F19E1EF4C}"/>
              </a:ext>
            </a:extLst>
          </p:cNvPr>
          <p:cNvSpPr>
            <a:spLocks xmlns:a="http://schemas.openxmlformats.org/drawingml/2006/main" noGrp="1"/>
          </p:cNvSpPr>
          <p:nvPr/>
        </p:nvSpPr>
        <p:spPr>
          <a:xfrm xmlns:a="http://schemas.openxmlformats.org/drawingml/2006/main">
            <a:off x="2286000" y="2838450"/>
            <a:ext cx="4191000" cy="219075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Container API</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Build aplikasi Go</a:t>
            </a:r>
            <a:br>
              <a:rPr sz="2025">
                <a:solidFill>
                  <a:srgbClr val="FFFFFF"/>
                </a:solidFill>
                <a:latin typeface="Arial"/>
                <a:ea typeface="Arial"/>
                <a:cs typeface="Arial"/>
              </a:rPr>
            </a:br>
            <a:r>
              <a:rPr sz="2025">
                <a:solidFill>
                  <a:srgbClr val="FFFFFF"/>
                </a:solidFill>
                <a:latin typeface="Arial"/>
                <a:ea typeface="Arial"/>
                <a:cs typeface="Arial"/>
              </a:rPr>
              <a:t>Melayani HTTP dan WebSocket</a:t>
            </a:r>
          </a:p>
        </p:txBody>
      </p:sp>
      <p:sp>
        <p:nvSpPr>
          <p:cNvPr id="5" name="diagram-node-270">
            <a:extLst xmlns:a="http://schemas.openxmlformats.org/drawingml/2006/main">
              <a:ext uri="{FF2B5EF4-FFF2-40B4-BE49-F238E27FC236}">
                <a16:creationId xmlns:a16="http://schemas.microsoft.com/office/drawing/2014/main" id="{28AEDA7A-9F4C-432A-B210-36E7197F2773}"/>
              </a:ext>
            </a:extLst>
          </p:cNvPr>
          <p:cNvSpPr>
            <a:spLocks xmlns:a="http://schemas.openxmlformats.org/drawingml/2006/main" noGrp="1"/>
          </p:cNvSpPr>
          <p:nvPr/>
        </p:nvSpPr>
        <p:spPr>
          <a:xfrm xmlns:a="http://schemas.openxmlformats.org/drawingml/2006/main">
            <a:off x="8572500" y="2838450"/>
            <a:ext cx="4191000" cy="219075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Container database</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PostgreSQL</a:t>
            </a:r>
            <a:br>
              <a:rPr sz="2025">
                <a:solidFill>
                  <a:srgbClr val="FFFFFF"/>
                </a:solidFill>
                <a:latin typeface="Arial"/>
                <a:ea typeface="Arial"/>
                <a:cs typeface="Arial"/>
              </a:rPr>
            </a:br>
            <a:r>
              <a:rPr sz="2025">
                <a:solidFill>
                  <a:srgbClr val="FFFFFF"/>
                </a:solidFill>
                <a:latin typeface="Arial"/>
                <a:ea typeface="Arial"/>
                <a:cs typeface="Arial"/>
              </a:rPr>
              <a:t>Menyimpan data proyek</a:t>
            </a:r>
          </a:p>
        </p:txBody>
      </p:sp>
      <p:sp>
        <p:nvSpPr>
          <p:cNvPr id="7" name="text-271">
            <a:extLst xmlns:a="http://schemas.openxmlformats.org/drawingml/2006/main">
              <a:ext uri="{FF2B5EF4-FFF2-40B4-BE49-F238E27FC236}">
                <a16:creationId xmlns:a16="http://schemas.microsoft.com/office/drawing/2014/main" id="{6DD08872-E16D-49F7-807C-4AE135758375}"/>
              </a:ext>
            </a:extLst>
          </p:cNvPr>
          <p:cNvSpPr>
            <a:spLocks xmlns:a="http://schemas.openxmlformats.org/drawingml/2006/main" noGrp="1"/>
          </p:cNvSpPr>
          <p:nvPr/>
        </p:nvSpPr>
        <p:spPr>
          <a:xfrm xmlns:a="http://schemas.openxmlformats.org/drawingml/2006/main">
            <a:off x="6515100" y="2343150"/>
            <a:ext cx="2019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38BDF8"/>
                </a:solidFill>
                <a:latin typeface="Arial"/>
                <a:ea typeface="Arial"/>
                <a:cs typeface="Arial"/>
              </a:defRPr>
            </a:defPPr>
            <a:lvl1pPr algn="ctr">
              <a:defRPr sz="1875" b="1">
                <a:solidFill>
                  <a:srgbClr val="38BDF8"/>
                </a:solidFill>
                <a:latin typeface="Arial"/>
                <a:ea typeface="Arial"/>
                <a:cs typeface="Arial"/>
              </a:defRPr>
            </a:lvl1pPr>
            <a:lvl2pPr algn="ctr">
              <a:defRPr sz="1875" b="1">
                <a:solidFill>
                  <a:srgbClr val="38BDF8"/>
                </a:solidFill>
                <a:latin typeface="Arial"/>
                <a:ea typeface="Arial"/>
                <a:cs typeface="Arial"/>
              </a:defRPr>
            </a:lvl2pPr>
            <a:lvl3pPr algn="ctr">
              <a:defRPr sz="1875" b="1">
                <a:solidFill>
                  <a:srgbClr val="38BDF8"/>
                </a:solidFill>
                <a:latin typeface="Arial"/>
                <a:ea typeface="Arial"/>
                <a:cs typeface="Arial"/>
              </a:defRPr>
            </a:lvl3pPr>
            <a:lvl4pPr algn="ctr">
              <a:defRPr sz="1875" b="1">
                <a:solidFill>
                  <a:srgbClr val="38BDF8"/>
                </a:solidFill>
                <a:latin typeface="Arial"/>
                <a:ea typeface="Arial"/>
                <a:cs typeface="Arial"/>
              </a:defRPr>
            </a:lvl4pPr>
            <a:lvl5pPr algn="ctr">
              <a:defRPr sz="1875" b="1">
                <a:solidFill>
                  <a:srgbClr val="38BDF8"/>
                </a:solidFill>
                <a:latin typeface="Arial"/>
                <a:ea typeface="Arial"/>
                <a:cs typeface="Arial"/>
              </a:defRPr>
            </a:lvl5pPr>
            <a:lvl6pPr algn="ctr">
              <a:defRPr sz="1875" b="1">
                <a:solidFill>
                  <a:srgbClr val="38BDF8"/>
                </a:solidFill>
                <a:latin typeface="Arial"/>
                <a:ea typeface="Arial"/>
                <a:cs typeface="Arial"/>
              </a:defRPr>
            </a:lvl6pPr>
            <a:lvl7pPr algn="ctr">
              <a:defRPr sz="1875" b="1">
                <a:solidFill>
                  <a:srgbClr val="38BDF8"/>
                </a:solidFill>
                <a:latin typeface="Arial"/>
                <a:ea typeface="Arial"/>
                <a:cs typeface="Arial"/>
              </a:defRPr>
            </a:lvl7pPr>
            <a:lvl8pPr algn="ctr">
              <a:defRPr sz="1875" b="1">
                <a:solidFill>
                  <a:srgbClr val="38BDF8"/>
                </a:solidFill>
                <a:latin typeface="Arial"/>
                <a:ea typeface="Arial"/>
                <a:cs typeface="Arial"/>
              </a:defRPr>
            </a:lvl8pPr>
            <a:lvl9pPr algn="ctr">
              <a:defRPr sz="1875" b="1">
                <a:solidFill>
                  <a:srgbClr val="38BDF8"/>
                </a:solidFill>
                <a:latin typeface="Arial"/>
                <a:ea typeface="Arial"/>
                <a:cs typeface="Arial"/>
              </a:defRPr>
            </a:lvl9pPr>
          </a:lstStyle>
          <a:p xmlns:a="http://schemas.openxmlformats.org/drawingml/2006/main">
            <a:pPr algn="ctr">
              <a:defRPr sz="1875" b="1">
                <a:solidFill>
                  <a:srgbClr val="38BDF8"/>
                </a:solidFill>
                <a:latin typeface="Arial"/>
                <a:ea typeface="Arial"/>
                <a:cs typeface="Arial"/>
              </a:defRPr>
            </a:pPr>
            <a:r>
              <a:rPr sz="1875" b="1">
                <a:solidFill>
                  <a:srgbClr val="38BDF8"/>
                </a:solidFill>
                <a:latin typeface="Arial"/>
                <a:ea typeface="Arial"/>
                <a:cs typeface="Arial"/>
              </a:rPr>
              <a:t>Jaringan internal Docker</a:t>
            </a:r>
          </a:p>
        </p:txBody>
      </p:sp>
      <p:sp>
        <p:nvSpPr>
          <p:cNvPr id="8" name="diagram-node-272">
            <a:extLst xmlns:a="http://schemas.openxmlformats.org/drawingml/2006/main">
              <a:ext uri="{FF2B5EF4-FFF2-40B4-BE49-F238E27FC236}">
                <a16:creationId xmlns:a16="http://schemas.microsoft.com/office/drawing/2014/main" id="{651ECB9F-3D76-42B2-A916-3728829FA1E1}"/>
              </a:ext>
            </a:extLst>
          </p:cNvPr>
          <p:cNvSpPr>
            <a:spLocks xmlns:a="http://schemas.openxmlformats.org/drawingml/2006/main" noGrp="1"/>
          </p:cNvSpPr>
          <p:nvPr/>
        </p:nvSpPr>
        <p:spPr>
          <a:xfrm xmlns:a="http://schemas.openxmlformats.org/drawingml/2006/main">
            <a:off x="8572500" y="6343650"/>
            <a:ext cx="4191000" cy="106680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Volume database</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Menjaga data lintas restart</a:t>
            </a:r>
          </a:p>
        </p:txBody>
      </p:sp>
      <p:sp>
        <p:nvSpPr>
          <p:cNvPr id="10" name="text-273">
            <a:extLst xmlns:a="http://schemas.openxmlformats.org/drawingml/2006/main">
              <a:ext uri="{FF2B5EF4-FFF2-40B4-BE49-F238E27FC236}">
                <a16:creationId xmlns:a16="http://schemas.microsoft.com/office/drawing/2014/main" id="{E01A25BB-92F4-469E-9F83-934DB4415224}"/>
              </a:ext>
            </a:extLst>
          </p:cNvPr>
          <p:cNvSpPr>
            <a:spLocks xmlns:a="http://schemas.openxmlformats.org/drawingml/2006/main" noGrp="1"/>
          </p:cNvSpPr>
          <p:nvPr/>
        </p:nvSpPr>
        <p:spPr>
          <a:xfrm xmlns:a="http://schemas.openxmlformats.org/drawingml/2006/main">
            <a:off x="914400" y="6153150"/>
            <a:ext cx="628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CBD5E1"/>
                </a:solidFill>
                <a:latin typeface="Arial"/>
                <a:ea typeface="Arial"/>
                <a:cs typeface="Arial"/>
              </a:defRPr>
            </a:defPPr>
            <a:lvl1pPr algn="l">
              <a:defRPr sz="2700" b="0">
                <a:solidFill>
                  <a:srgbClr val="CBD5E1"/>
                </a:solidFill>
                <a:latin typeface="Arial"/>
                <a:ea typeface="Arial"/>
                <a:cs typeface="Arial"/>
              </a:defRPr>
            </a:lvl1pPr>
            <a:lvl2pPr algn="l">
              <a:defRPr sz="2700" b="0">
                <a:solidFill>
                  <a:srgbClr val="CBD5E1"/>
                </a:solidFill>
                <a:latin typeface="Arial"/>
                <a:ea typeface="Arial"/>
                <a:cs typeface="Arial"/>
              </a:defRPr>
            </a:lvl2pPr>
            <a:lvl3pPr algn="l">
              <a:defRPr sz="2700" b="0">
                <a:solidFill>
                  <a:srgbClr val="CBD5E1"/>
                </a:solidFill>
                <a:latin typeface="Arial"/>
                <a:ea typeface="Arial"/>
                <a:cs typeface="Arial"/>
              </a:defRPr>
            </a:lvl3pPr>
            <a:lvl4pPr algn="l">
              <a:defRPr sz="2700" b="0">
                <a:solidFill>
                  <a:srgbClr val="CBD5E1"/>
                </a:solidFill>
                <a:latin typeface="Arial"/>
                <a:ea typeface="Arial"/>
                <a:cs typeface="Arial"/>
              </a:defRPr>
            </a:lvl4pPr>
            <a:lvl5pPr algn="l">
              <a:defRPr sz="2700" b="0">
                <a:solidFill>
                  <a:srgbClr val="CBD5E1"/>
                </a:solidFill>
                <a:latin typeface="Arial"/>
                <a:ea typeface="Arial"/>
                <a:cs typeface="Arial"/>
              </a:defRPr>
            </a:lvl5pPr>
            <a:lvl6pPr algn="l">
              <a:defRPr sz="2700" b="0">
                <a:solidFill>
                  <a:srgbClr val="CBD5E1"/>
                </a:solidFill>
                <a:latin typeface="Arial"/>
                <a:ea typeface="Arial"/>
                <a:cs typeface="Arial"/>
              </a:defRPr>
            </a:lvl6pPr>
            <a:lvl7pPr algn="l">
              <a:defRPr sz="2700" b="0">
                <a:solidFill>
                  <a:srgbClr val="CBD5E1"/>
                </a:solidFill>
                <a:latin typeface="Arial"/>
                <a:ea typeface="Arial"/>
                <a:cs typeface="Arial"/>
              </a:defRPr>
            </a:lvl7pPr>
            <a:lvl8pPr algn="l">
              <a:defRPr sz="2700" b="0">
                <a:solidFill>
                  <a:srgbClr val="CBD5E1"/>
                </a:solidFill>
                <a:latin typeface="Arial"/>
                <a:ea typeface="Arial"/>
                <a:cs typeface="Arial"/>
              </a:defRPr>
            </a:lvl8pPr>
            <a:lvl9pPr algn="l">
              <a:defRPr sz="2700" b="0">
                <a:solidFill>
                  <a:srgbClr val="CBD5E1"/>
                </a:solidFill>
                <a:latin typeface="Arial"/>
                <a:ea typeface="Arial"/>
                <a:cs typeface="Arial"/>
              </a:defRPr>
            </a:lvl9pPr>
          </a:lstStyle>
          <a:p xmlns:a="http://schemas.openxmlformats.org/drawingml/2006/main">
            <a:pPr algn="l">
              <a:defRPr sz="2700" b="0">
                <a:solidFill>
                  <a:srgbClr val="CBD5E1"/>
                </a:solidFill>
                <a:latin typeface="Arial"/>
                <a:ea typeface="Arial"/>
                <a:cs typeface="Arial"/>
              </a:defRPr>
            </a:pPr>
            <a:r>
              <a:rPr sz="2700" b="0">
                <a:solidFill>
                  <a:srgbClr val="CBD5E1"/>
                </a:solidFill>
                <a:latin typeface="Arial"/>
                <a:ea typeface="Arial"/>
                <a:cs typeface="Arial"/>
              </a:rPr>
              <a:t>Flutter tetap berjalan</a:t>
            </a:r>
          </a:p>
          <a:p xmlns:a="http://schemas.openxmlformats.org/drawingml/2006/main">
            <a:pPr algn="l">
              <a:defRPr sz="2700" b="0">
                <a:solidFill>
                  <a:srgbClr val="CBD5E1"/>
                </a:solidFill>
                <a:latin typeface="Arial"/>
                <a:ea typeface="Arial"/>
                <a:cs typeface="Arial"/>
              </a:defRPr>
            </a:pPr>
            <a:r>
              <a:rPr sz="2700" b="0">
                <a:solidFill>
                  <a:srgbClr val="CBD5E1"/>
                </a:solidFill>
                <a:latin typeface="Arial"/>
                <a:ea typeface="Arial"/>
                <a:cs typeface="Arial"/>
              </a:rPr>
              <a:t>di emulator atau ponsel.</a:t>
            </a:r>
          </a:p>
        </p:txBody>
      </p:sp>
    </p:spTree>
    <p:extLst>
      <p:ext uri="{BB962C8B-B14F-4D97-AF65-F5344CB8AC3E}">
        <p14:creationId xmlns:p14="http://schemas.microsoft.com/office/powerpoint/2010/main" val="442488446"/>
      </p:ext>
    </p:extLst>
  </p:cSld>
</p:sld>
</file>

<file path=ppt/slides/slide2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274">
            <a:extLst xmlns:a="http://schemas.openxmlformats.org/drawingml/2006/main">
              <a:ext uri="{FF2B5EF4-FFF2-40B4-BE49-F238E27FC236}">
                <a16:creationId xmlns:a16="http://schemas.microsoft.com/office/drawing/2014/main" id="{BF42E49B-B765-47F0-BCE6-75DBA0CB2786}"/>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Menjalankan dan mendemokan proyek</a:t>
            </a:r>
          </a:p>
        </p:txBody>
      </p:sp>
      <p:sp>
        <p:nvSpPr>
          <p:cNvPr id="2" name="text-275">
            <a:extLst xmlns:a="http://schemas.openxmlformats.org/drawingml/2006/main">
              <a:ext uri="{FF2B5EF4-FFF2-40B4-BE49-F238E27FC236}">
                <a16:creationId xmlns:a16="http://schemas.microsoft.com/office/drawing/2014/main" id="{F43EE1CB-7841-49B9-BBEB-46984DEF7450}"/>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27</a:t>
            </a:r>
          </a:p>
        </p:txBody>
      </p:sp>
      <p:sp>
        <p:nvSpPr>
          <p:cNvPr id="3" name="text-276">
            <a:extLst xmlns:a="http://schemas.openxmlformats.org/drawingml/2006/main">
              <a:ext uri="{FF2B5EF4-FFF2-40B4-BE49-F238E27FC236}">
                <a16:creationId xmlns:a16="http://schemas.microsoft.com/office/drawing/2014/main" id="{392DFDF5-020C-428A-8662-B96312BFBE6D}"/>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Dua pengguna pada dua klien memperlihatkan alur sistem yang sesungguhnya.</a:t>
            </a:r>
          </a:p>
        </p:txBody>
      </p:sp>
      <p:sp>
        <p:nvSpPr>
          <p:cNvPr id="4" name="text-277">
            <a:extLst xmlns:a="http://schemas.openxmlformats.org/drawingml/2006/main">
              <a:ext uri="{FF2B5EF4-FFF2-40B4-BE49-F238E27FC236}">
                <a16:creationId xmlns:a16="http://schemas.microsoft.com/office/drawing/2014/main" id="{73BC9E42-4535-4946-80C2-54D5B4B31B3C}"/>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78">
            <a:extLst xmlns:a="http://schemas.openxmlformats.org/drawingml/2006/main">
              <a:ext uri="{FF2B5EF4-FFF2-40B4-BE49-F238E27FC236}">
                <a16:creationId xmlns:a16="http://schemas.microsoft.com/office/drawing/2014/main" id="{CD7C0074-1CD2-4531-B3C6-C1E4B823ECFB}"/>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Nyalakan layanan</a:t>
            </a:r>
          </a:p>
        </p:txBody>
      </p:sp>
      <p:sp>
        <p:nvSpPr>
          <p:cNvPr id="6" name="text-279">
            <a:extLst xmlns:a="http://schemas.openxmlformats.org/drawingml/2006/main">
              <a:ext uri="{FF2B5EF4-FFF2-40B4-BE49-F238E27FC236}">
                <a16:creationId xmlns:a16="http://schemas.microsoft.com/office/drawing/2014/main" id="{74229903-5EE3-4241-A37B-C27EA74E7C75}"/>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Jalankan Docker Compose dan pastikan API serta database siap.</a:t>
            </a:r>
          </a:p>
        </p:txBody>
      </p:sp>
      <p:sp>
        <p:nvSpPr>
          <p:cNvPr id="7" name="text-280">
            <a:extLst xmlns:a="http://schemas.openxmlformats.org/drawingml/2006/main">
              <a:ext uri="{FF2B5EF4-FFF2-40B4-BE49-F238E27FC236}">
                <a16:creationId xmlns:a16="http://schemas.microsoft.com/office/drawing/2014/main" id="{59F86E87-8CE6-45C6-A319-6F49E73A498A}"/>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81">
            <a:extLst xmlns:a="http://schemas.openxmlformats.org/drawingml/2006/main">
              <a:ext uri="{FF2B5EF4-FFF2-40B4-BE49-F238E27FC236}">
                <a16:creationId xmlns:a16="http://schemas.microsoft.com/office/drawing/2014/main" id="{93F7D1C3-DD71-4A4A-AFCF-74DCA119ACDB}"/>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Hubungkan aplikasi</a:t>
            </a:r>
          </a:p>
        </p:txBody>
      </p:sp>
      <p:sp>
        <p:nvSpPr>
          <p:cNvPr id="9" name="text-282">
            <a:extLst xmlns:a="http://schemas.openxmlformats.org/drawingml/2006/main">
              <a:ext uri="{FF2B5EF4-FFF2-40B4-BE49-F238E27FC236}">
                <a16:creationId xmlns:a16="http://schemas.microsoft.com/office/drawing/2014/main" id="{5438CCA6-4D8E-4927-B169-86A1780EC9D3}"/>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Gunakan alamat server yang sesuai emulator atau jaringan ponsel.</a:t>
            </a:r>
          </a:p>
        </p:txBody>
      </p:sp>
      <p:sp>
        <p:nvSpPr>
          <p:cNvPr id="10" name="text-283">
            <a:extLst xmlns:a="http://schemas.openxmlformats.org/drawingml/2006/main">
              <a:ext uri="{FF2B5EF4-FFF2-40B4-BE49-F238E27FC236}">
                <a16:creationId xmlns:a16="http://schemas.microsoft.com/office/drawing/2014/main" id="{213C47AA-6DA6-4265-BBEE-C12645238E9C}"/>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84">
            <a:extLst xmlns:a="http://schemas.openxmlformats.org/drawingml/2006/main">
              <a:ext uri="{FF2B5EF4-FFF2-40B4-BE49-F238E27FC236}">
                <a16:creationId xmlns:a16="http://schemas.microsoft.com/office/drawing/2014/main" id="{99B2E33D-ACE8-4317-8291-CEFCC20DFC89}"/>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Uji dua arah</a:t>
            </a:r>
          </a:p>
        </p:txBody>
      </p:sp>
      <p:sp>
        <p:nvSpPr>
          <p:cNvPr id="12" name="text-285">
            <a:extLst xmlns:a="http://schemas.openxmlformats.org/drawingml/2006/main">
              <a:ext uri="{FF2B5EF4-FFF2-40B4-BE49-F238E27FC236}">
                <a16:creationId xmlns:a16="http://schemas.microsoft.com/office/drawing/2014/main" id="{28734A26-3341-430C-A5B5-0E415D4734E3}"/>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Masuk sebagai Rina dan Andi, lalu kirim pesan, balasan, gambar, dan reaksi.</a:t>
            </a:r>
          </a:p>
        </p:txBody>
      </p:sp>
      <p:pic>
        <p:nvPicPr>
          <p:cNvPr id="13" name="">
            <a:extLst xmlns:a="http://schemas.openxmlformats.org/drawingml/2006/main">
              <a:ext uri="{FF2B5EF4-FFF2-40B4-BE49-F238E27FC236}">
                <a16:creationId xmlns:a16="http://schemas.microsoft.com/office/drawing/2014/main" id="{92192556-60E5-456F-9BC9-2C6463306231}"/>
              </a:ext>
            </a:extLst>
          </p:cNvPr>
          <p:cNvPicPr>
            <a:picLocks xmlns:a="http://schemas.openxmlformats.org/drawingml/2006/main" noChangeAspect="1"/>
          </p:cNvPicPr>
          <p:nvPr/>
        </p:nvPicPr>
        <p:blipFill>
          <a:blip xmlns:r="http://schemas.openxmlformats.org/officeDocument/2006/relationships" xmlns:a="http://schemas.openxmlformats.org/drawingml/2006/main" r:embed="R64d05fb9d9a44656"/>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831802728"/>
      </p:ext>
    </p:extLst>
  </p:cSld>
</p:sld>
</file>

<file path=ppt/slides/slide2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text-287">
            <a:extLst xmlns:a="http://schemas.openxmlformats.org/drawingml/2006/main">
              <a:ext uri="{FF2B5EF4-FFF2-40B4-BE49-F238E27FC236}">
                <a16:creationId xmlns:a16="http://schemas.microsoft.com/office/drawing/2014/main" id="{21B92542-4CE1-49C8-BCDE-FEB99B373AE0}"/>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Pengujian dan verifikasi</a:t>
            </a:r>
          </a:p>
        </p:txBody>
      </p:sp>
      <p:sp>
        <p:nvSpPr>
          <p:cNvPr id="2" name="text-288">
            <a:extLst xmlns:a="http://schemas.openxmlformats.org/drawingml/2006/main">
              <a:ext uri="{FF2B5EF4-FFF2-40B4-BE49-F238E27FC236}">
                <a16:creationId xmlns:a16="http://schemas.microsoft.com/office/drawing/2014/main" id="{5C3725FA-E788-45E7-9A13-87F434317DD9}"/>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Tampilan yang benar perlu didukung perilaku server dan data yang benar.</a:t>
            </a:r>
          </a:p>
        </p:txBody>
      </p:sp>
      <p:sp>
        <p:nvSpPr>
          <p:cNvPr id="3" name="text-289">
            <a:extLst xmlns:a="http://schemas.openxmlformats.org/drawingml/2006/main">
              <a:ext uri="{FF2B5EF4-FFF2-40B4-BE49-F238E27FC236}">
                <a16:creationId xmlns:a16="http://schemas.microsoft.com/office/drawing/2014/main" id="{EA82D0A7-302C-4254-A44D-3FB30D3014DF}"/>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28</a:t>
            </a:r>
          </a:p>
        </p:txBody>
      </p:sp>
      <p:graphicFrame>
        <p:nvGraphicFramePr>
          <p:cNvPr id="4" name="">
            <a:extLst xmlns:a="http://schemas.openxmlformats.org/drawingml/2006/main">
              <a:ext uri="{FF2B5EF4-FFF2-40B4-BE49-F238E27FC236}">
                <a16:creationId xmlns:a16="http://schemas.microsoft.com/office/drawing/2014/main" id="{B340C752-EBF8-4582-B972-7A880D333807}"/>
              </a:ext>
            </a:extLst>
          </p:cNvPr>
          <p:cNvGraphicFramePr/>
          <p:nvPr/>
        </p:nvGraphicFramePr>
        <p:xfrm>
          <a:off xmlns:a="http://schemas.openxmlformats.org/drawingml/2006/main" x="914400" y="2524125"/>
          <a:ext xmlns:a="http://schemas.openxmlformats.org/drawingml/2006/main" cx="13411200" cy="4095750"/>
        </p:xfrm>
        <a:graphic xmlns:a="http://schemas.openxmlformats.org/drawingml/2006/main">
          <a:graphicData uri="http://schemas.openxmlformats.org/drawingml/2006/table">
            <a:tbl>
              <a:tblPr firstRow="0" bandRow="0"/>
              <a:tblGrid>
                <a:gridCol w="3143250"/>
                <a:gridCol w="6667500"/>
                <a:gridCol w="3600450"/>
              </a:tblGrid>
              <a:tr h="1023938">
                <a:tc>
                  <a:txBody>
                    <a:bodyPr wrap="square" lIns="152400" tIns="152400" rIns="152400" bIns="152400">
                      <a:noAutofit/>
                    </a:bodyPr>
                    <a:lstStyle/>
                    <a:p>
                      <a:pPr algn="l"/>
                      <a:r>
                        <a:rPr sz="1950" b="1">
                          <a:solidFill>
                            <a:srgbClr val="FFFFFF"/>
                          </a:solidFill>
                          <a:latin typeface="Arial"/>
                          <a:ea typeface="Arial"/>
                          <a:cs typeface="Arial"/>
                        </a:rPr>
                        <a:t>Lapisan</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950" b="1">
                          <a:solidFill>
                            <a:srgbClr val="FFFFFF"/>
                          </a:solidFill>
                          <a:latin typeface="Arial"/>
                          <a:ea typeface="Arial"/>
                          <a:cs typeface="Arial"/>
                        </a:rPr>
                        <a:t>Contoh yang diperiksa</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950" b="1">
                          <a:solidFill>
                            <a:srgbClr val="FFFFFF"/>
                          </a:solidFill>
                          <a:latin typeface="Arial"/>
                          <a:ea typeface="Arial"/>
                          <a:cs typeface="Arial"/>
                        </a:rPr>
                        <a:t>Tujuan</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1023938">
                <a:tc>
                  <a:txBody>
                    <a:bodyPr wrap="square" lIns="152400" tIns="152400" rIns="152400" bIns="152400">
                      <a:noAutofit/>
                    </a:bodyPr>
                    <a:lstStyle/>
                    <a:p>
                      <a:pPr algn="l"/>
                      <a:r>
                        <a:rPr sz="1950" b="1">
                          <a:solidFill>
                            <a:srgbClr val="0F172A"/>
                          </a:solidFill>
                          <a:latin typeface="Arial"/>
                          <a:ea typeface="Arial"/>
                          <a:cs typeface="Arial"/>
                        </a:rPr>
                        <a:t>Backend Go + PostgreSQL</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950" b="0">
                          <a:solidFill>
                            <a:srgbClr val="0F172A"/>
                          </a:solidFill>
                          <a:latin typeface="Arial"/>
                          <a:ea typeface="Arial"/>
                          <a:cs typeface="Arial"/>
                        </a:rPr>
                        <a:t>Login, izin anggota, pesan, balasan, reaksi, lampiran, dan pagination.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950" b="0">
                          <a:solidFill>
                            <a:srgbClr val="0F172A"/>
                          </a:solidFill>
                          <a:latin typeface="Arial"/>
                          <a:ea typeface="Arial"/>
                          <a:cs typeface="Arial"/>
                        </a:rPr>
                        <a:t>Memastikan aturan serta penyimpanan bekerja.</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1023938">
                <a:tc>
                  <a:txBody>
                    <a:bodyPr wrap="square" lIns="152400" tIns="152400" rIns="152400" bIns="152400">
                      <a:noAutofit/>
                    </a:bodyPr>
                    <a:lstStyle/>
                    <a:p>
                      <a:pPr algn="l"/>
                      <a:r>
                        <a:rPr sz="1950" b="1">
                          <a:solidFill>
                            <a:srgbClr val="0F172A"/>
                          </a:solidFill>
                          <a:latin typeface="Arial"/>
                          <a:ea typeface="Arial"/>
                          <a:cs typeface="Arial"/>
                        </a:rPr>
                        <a:t>Flutter</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950" b="0">
                          <a:solidFill>
                            <a:srgbClr val="0F172A"/>
                          </a:solidFill>
                          <a:latin typeface="Arial"/>
                          <a:ea typeface="Arial"/>
                          <a:cs typeface="Arial"/>
                        </a:rPr>
                        <a:t>Validasi form, respons API, composer, dan tata letak layar sempit.</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950" b="0">
                          <a:solidFill>
                            <a:srgbClr val="0F172A"/>
                          </a:solidFill>
                          <a:latin typeface="Arial"/>
                          <a:ea typeface="Arial"/>
                          <a:cs typeface="Arial"/>
                        </a:rPr>
                        <a:t>Memastikan interaksi dan kondisi kegagalan terwakili.</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1023938">
                <a:tc>
                  <a:txBody>
                    <a:bodyPr wrap="square" lIns="152400" tIns="152400" rIns="152400" bIns="152400">
                      <a:noAutofit/>
                    </a:bodyPr>
                    <a:lstStyle/>
                    <a:p>
                      <a:pPr algn="l"/>
                      <a:r>
                        <a:rPr sz="1950" b="1">
                          <a:solidFill>
                            <a:srgbClr val="0F172A"/>
                          </a:solidFill>
                          <a:latin typeface="Arial"/>
                          <a:ea typeface="Arial"/>
                          <a:cs typeface="Arial"/>
                        </a:rPr>
                        <a:t>Android end-to-end</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950" b="0">
                          <a:solidFill>
                            <a:srgbClr val="0F172A"/>
                          </a:solidFill>
                          <a:latin typeface="Arial"/>
                          <a:ea typeface="Arial"/>
                          <a:cs typeface="Arial"/>
                        </a:rPr>
                        <a:t>Aplikasi asli berkomunikasi dengan backend pengujian dan mengambil screenshot.</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950" b="0">
                          <a:solidFill>
                            <a:srgbClr val="0F172A"/>
                          </a:solidFill>
                          <a:latin typeface="Arial"/>
                          <a:ea typeface="Arial"/>
                          <a:cs typeface="Arial"/>
                        </a:rPr>
                        <a:t>Memeriksa integrasi dan navigasi antarlayar.</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
        <p:nvSpPr>
          <p:cNvPr id="5" name="text-290">
            <a:extLst xmlns:a="http://schemas.openxmlformats.org/drawingml/2006/main">
              <a:ext uri="{FF2B5EF4-FFF2-40B4-BE49-F238E27FC236}">
                <a16:creationId xmlns:a16="http://schemas.microsoft.com/office/drawing/2014/main" id="{7FD4E440-1F12-43A9-A319-CA55F3466818}"/>
              </a:ext>
            </a:extLst>
          </p:cNvPr>
          <p:cNvSpPr>
            <a:spLocks xmlns:a="http://schemas.openxmlformats.org/drawingml/2006/main" noGrp="1"/>
          </p:cNvSpPr>
          <p:nvPr/>
        </p:nvSpPr>
        <p:spPr>
          <a:xfrm xmlns:a="http://schemas.openxmlformats.org/drawingml/2006/main">
            <a:off x="914400" y="7067550"/>
            <a:ext cx="1323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284C7"/>
                </a:solidFill>
                <a:latin typeface="Arial"/>
                <a:ea typeface="Arial"/>
                <a:cs typeface="Arial"/>
              </a:defRPr>
            </a:defPPr>
            <a:lvl1pPr algn="l">
              <a:defRPr sz="2250" b="1">
                <a:solidFill>
                  <a:srgbClr val="0284C7"/>
                </a:solidFill>
                <a:latin typeface="Arial"/>
                <a:ea typeface="Arial"/>
                <a:cs typeface="Arial"/>
              </a:defRPr>
            </a:lvl1pPr>
            <a:lvl2pPr algn="l">
              <a:defRPr sz="2250" b="1">
                <a:solidFill>
                  <a:srgbClr val="0284C7"/>
                </a:solidFill>
                <a:latin typeface="Arial"/>
                <a:ea typeface="Arial"/>
                <a:cs typeface="Arial"/>
              </a:defRPr>
            </a:lvl2pPr>
            <a:lvl3pPr algn="l">
              <a:defRPr sz="2250" b="1">
                <a:solidFill>
                  <a:srgbClr val="0284C7"/>
                </a:solidFill>
                <a:latin typeface="Arial"/>
                <a:ea typeface="Arial"/>
                <a:cs typeface="Arial"/>
              </a:defRPr>
            </a:lvl3pPr>
            <a:lvl4pPr algn="l">
              <a:defRPr sz="2250" b="1">
                <a:solidFill>
                  <a:srgbClr val="0284C7"/>
                </a:solidFill>
                <a:latin typeface="Arial"/>
                <a:ea typeface="Arial"/>
                <a:cs typeface="Arial"/>
              </a:defRPr>
            </a:lvl4pPr>
            <a:lvl5pPr algn="l">
              <a:defRPr sz="2250" b="1">
                <a:solidFill>
                  <a:srgbClr val="0284C7"/>
                </a:solidFill>
                <a:latin typeface="Arial"/>
                <a:ea typeface="Arial"/>
                <a:cs typeface="Arial"/>
              </a:defRPr>
            </a:lvl5pPr>
            <a:lvl6pPr algn="l">
              <a:defRPr sz="2250" b="1">
                <a:solidFill>
                  <a:srgbClr val="0284C7"/>
                </a:solidFill>
                <a:latin typeface="Arial"/>
                <a:ea typeface="Arial"/>
                <a:cs typeface="Arial"/>
              </a:defRPr>
            </a:lvl6pPr>
            <a:lvl7pPr algn="l">
              <a:defRPr sz="2250" b="1">
                <a:solidFill>
                  <a:srgbClr val="0284C7"/>
                </a:solidFill>
                <a:latin typeface="Arial"/>
                <a:ea typeface="Arial"/>
                <a:cs typeface="Arial"/>
              </a:defRPr>
            </a:lvl7pPr>
            <a:lvl8pPr algn="l">
              <a:defRPr sz="2250" b="1">
                <a:solidFill>
                  <a:srgbClr val="0284C7"/>
                </a:solidFill>
                <a:latin typeface="Arial"/>
                <a:ea typeface="Arial"/>
                <a:cs typeface="Arial"/>
              </a:defRPr>
            </a:lvl8pPr>
            <a:lvl9pPr algn="l">
              <a:defRPr sz="2250" b="1">
                <a:solidFill>
                  <a:srgbClr val="0284C7"/>
                </a:solidFill>
                <a:latin typeface="Arial"/>
                <a:ea typeface="Arial"/>
                <a:cs typeface="Arial"/>
              </a:defRPr>
            </a:lvl9pPr>
          </a:lstStyle>
          <a:p xmlns:a="http://schemas.openxmlformats.org/drawingml/2006/main">
            <a:pPr algn="l">
              <a:defRPr sz="2250" b="1">
                <a:solidFill>
                  <a:srgbClr val="0284C7"/>
                </a:solidFill>
                <a:latin typeface="Arial"/>
                <a:ea typeface="Arial"/>
                <a:cs typeface="Arial"/>
              </a:defRPr>
            </a:pPr>
            <a:r>
              <a:rPr sz="2250" b="1">
                <a:solidFill>
                  <a:srgbClr val="0284C7"/>
                </a:solidFill>
                <a:latin typeface="Arial"/>
                <a:ea typeface="Arial"/>
                <a:cs typeface="Arial"/>
              </a:rPr>
              <a:t>Workflow CI tersedia untuk menjalankan pemeriksaan saat push dan pull request.</a:t>
            </a:r>
          </a:p>
        </p:txBody>
      </p:sp>
    </p:spTree>
    <p:extLst>
      <p:ext uri="{BB962C8B-B14F-4D97-AF65-F5344CB8AC3E}">
        <p14:creationId xmlns:p14="http://schemas.microsoft.com/office/powerpoint/2010/main" val="100998114"/>
      </p:ext>
    </p:extLst>
  </p:cSld>
</p:sld>
</file>

<file path=ppt/slides/slide2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text-291">
            <a:extLst xmlns:a="http://schemas.openxmlformats.org/drawingml/2006/main">
              <a:ext uri="{FF2B5EF4-FFF2-40B4-BE49-F238E27FC236}">
                <a16:creationId xmlns:a16="http://schemas.microsoft.com/office/drawing/2014/main" id="{011DE754-A129-40ED-8212-F770FD605784}"/>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Batas versi dan arah pengembangan</a:t>
            </a:r>
          </a:p>
        </p:txBody>
      </p:sp>
      <p:sp>
        <p:nvSpPr>
          <p:cNvPr id="2" name="text-292">
            <a:extLst xmlns:a="http://schemas.openxmlformats.org/drawingml/2006/main">
              <a:ext uri="{FF2B5EF4-FFF2-40B4-BE49-F238E27FC236}">
                <a16:creationId xmlns:a16="http://schemas.microsoft.com/office/drawing/2014/main" id="{61388A78-0750-4267-81C0-2E2BA2777909}"/>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Pilihan berikut merupakan pengembangan lanjutan yang belum tersedia pada versi ini.</a:t>
            </a:r>
          </a:p>
        </p:txBody>
      </p:sp>
      <p:sp>
        <p:nvSpPr>
          <p:cNvPr id="3" name="text-293">
            <a:extLst xmlns:a="http://schemas.openxmlformats.org/drawingml/2006/main">
              <a:ext uri="{FF2B5EF4-FFF2-40B4-BE49-F238E27FC236}">
                <a16:creationId xmlns:a16="http://schemas.microsoft.com/office/drawing/2014/main" id="{FF288A3F-EBD4-45D3-9447-EABEE2860D65}"/>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29</a:t>
            </a:r>
          </a:p>
        </p:txBody>
      </p:sp>
      <p:sp>
        <p:nvSpPr>
          <p:cNvPr id="4" name="text-294">
            <a:extLst xmlns:a="http://schemas.openxmlformats.org/drawingml/2006/main">
              <a:ext uri="{FF2B5EF4-FFF2-40B4-BE49-F238E27FC236}">
                <a16:creationId xmlns:a16="http://schemas.microsoft.com/office/drawing/2014/main" id="{1A14D760-5BFD-402E-A362-F6EEAA7DF294}"/>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95">
            <a:extLst xmlns:a="http://schemas.openxmlformats.org/drawingml/2006/main">
              <a:ext uri="{FF2B5EF4-FFF2-40B4-BE49-F238E27FC236}">
                <a16:creationId xmlns:a16="http://schemas.microsoft.com/office/drawing/2014/main" id="{1EC672B9-2DD2-48AD-826B-BC957585183C}"/>
              </a:ext>
            </a:extLst>
          </p:cNvPr>
          <p:cNvSpPr>
            <a:spLocks xmlns:a="http://schemas.openxmlformats.org/drawingml/2006/main" noGrp="1"/>
          </p:cNvSpPr>
          <p:nvPr/>
        </p:nvSpPr>
        <p:spPr>
          <a:xfrm xmlns:a="http://schemas.openxmlformats.org/drawingml/2006/main">
            <a:off x="1619250" y="2667000"/>
            <a:ext cx="12153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Pengalaman saat tidak aktif</a:t>
            </a:r>
          </a:p>
        </p:txBody>
      </p:sp>
      <p:sp>
        <p:nvSpPr>
          <p:cNvPr id="6" name="text-296">
            <a:extLst xmlns:a="http://schemas.openxmlformats.org/drawingml/2006/main">
              <a:ext uri="{FF2B5EF4-FFF2-40B4-BE49-F238E27FC236}">
                <a16:creationId xmlns:a16="http://schemas.microsoft.com/office/drawing/2014/main" id="{A1E2516D-D415-4674-825F-4BED028A1495}"/>
              </a:ext>
            </a:extLst>
          </p:cNvPr>
          <p:cNvSpPr>
            <a:spLocks xmlns:a="http://schemas.openxmlformats.org/drawingml/2006/main" noGrp="1"/>
          </p:cNvSpPr>
          <p:nvPr/>
        </p:nvSpPr>
        <p:spPr>
          <a:xfrm xmlns:a="http://schemas.openxmlformats.org/drawingml/2006/main">
            <a:off x="1619250" y="3238500"/>
            <a:ext cx="12077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Push notification dan antrean offline untuk pesan yang belum terkirim.</a:t>
            </a:r>
          </a:p>
        </p:txBody>
      </p:sp>
      <p:sp>
        <p:nvSpPr>
          <p:cNvPr id="7" name="text-297">
            <a:extLst xmlns:a="http://schemas.openxmlformats.org/drawingml/2006/main">
              <a:ext uri="{FF2B5EF4-FFF2-40B4-BE49-F238E27FC236}">
                <a16:creationId xmlns:a16="http://schemas.microsoft.com/office/drawing/2014/main" id="{8AA81AC6-C324-4D9B-9999-0770261B1770}"/>
              </a:ext>
            </a:extLst>
          </p:cNvPr>
          <p:cNvSpPr>
            <a:spLocks xmlns:a="http://schemas.openxmlformats.org/drawingml/2006/main" noGrp="1"/>
          </p:cNvSpPr>
          <p:nvPr/>
        </p:nvSpPr>
        <p:spPr>
          <a:xfrm xmlns:a="http://schemas.openxmlformats.org/drawingml/2006/main">
            <a:off x="914400" y="42862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98">
            <a:extLst xmlns:a="http://schemas.openxmlformats.org/drawingml/2006/main">
              <a:ext uri="{FF2B5EF4-FFF2-40B4-BE49-F238E27FC236}">
                <a16:creationId xmlns:a16="http://schemas.microsoft.com/office/drawing/2014/main" id="{6C921CDE-B1FC-422A-8168-F7477B56FB34}"/>
              </a:ext>
            </a:extLst>
          </p:cNvPr>
          <p:cNvSpPr>
            <a:spLocks xmlns:a="http://schemas.openxmlformats.org/drawingml/2006/main" noGrp="1"/>
          </p:cNvSpPr>
          <p:nvPr/>
        </p:nvSpPr>
        <p:spPr>
          <a:xfrm xmlns:a="http://schemas.openxmlformats.org/drawingml/2006/main">
            <a:off x="1619250" y="4286250"/>
            <a:ext cx="12153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Bentuk komunikasi</a:t>
            </a:r>
          </a:p>
        </p:txBody>
      </p:sp>
      <p:sp>
        <p:nvSpPr>
          <p:cNvPr id="9" name="text-299">
            <a:extLst xmlns:a="http://schemas.openxmlformats.org/drawingml/2006/main">
              <a:ext uri="{FF2B5EF4-FFF2-40B4-BE49-F238E27FC236}">
                <a16:creationId xmlns:a16="http://schemas.microsoft.com/office/drawing/2014/main" id="{C562E158-BB0B-411D-AFBE-94C2B52F9583}"/>
              </a:ext>
            </a:extLst>
          </p:cNvPr>
          <p:cNvSpPr>
            <a:spLocks xmlns:a="http://schemas.openxmlformats.org/drawingml/2006/main" noGrp="1"/>
          </p:cNvSpPr>
          <p:nvPr/>
        </p:nvSpPr>
        <p:spPr>
          <a:xfrm xmlns:a="http://schemas.openxmlformats.org/drawingml/2006/main">
            <a:off x="1619250" y="4857750"/>
            <a:ext cx="12077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Percakapan grup, pesan suara, panggilan, dan pemulihan password.</a:t>
            </a:r>
          </a:p>
        </p:txBody>
      </p:sp>
      <p:sp>
        <p:nvSpPr>
          <p:cNvPr id="10" name="text-300">
            <a:extLst xmlns:a="http://schemas.openxmlformats.org/drawingml/2006/main">
              <a:ext uri="{FF2B5EF4-FFF2-40B4-BE49-F238E27FC236}">
                <a16:creationId xmlns:a16="http://schemas.microsoft.com/office/drawing/2014/main" id="{CE08D83A-E630-42C6-A92D-A22F3AC24A46}"/>
              </a:ext>
            </a:extLst>
          </p:cNvPr>
          <p:cNvSpPr>
            <a:spLocks xmlns:a="http://schemas.openxmlformats.org/drawingml/2006/main" noGrp="1"/>
          </p:cNvSpPr>
          <p:nvPr/>
        </p:nvSpPr>
        <p:spPr>
          <a:xfrm xmlns:a="http://schemas.openxmlformats.org/drawingml/2006/main">
            <a:off x="914400" y="59055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301">
            <a:extLst xmlns:a="http://schemas.openxmlformats.org/drawingml/2006/main">
              <a:ext uri="{FF2B5EF4-FFF2-40B4-BE49-F238E27FC236}">
                <a16:creationId xmlns:a16="http://schemas.microsoft.com/office/drawing/2014/main" id="{A78C1D38-D640-4C31-973B-A56A6B1C0330}"/>
              </a:ext>
            </a:extLst>
          </p:cNvPr>
          <p:cNvSpPr>
            <a:spLocks xmlns:a="http://schemas.openxmlformats.org/drawingml/2006/main" noGrp="1"/>
          </p:cNvSpPr>
          <p:nvPr/>
        </p:nvSpPr>
        <p:spPr>
          <a:xfrm xmlns:a="http://schemas.openxmlformats.org/drawingml/2006/main">
            <a:off x="1619250" y="5905500"/>
            <a:ext cx="12153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Operasional dan perlindungan</a:t>
            </a:r>
          </a:p>
        </p:txBody>
      </p:sp>
      <p:sp>
        <p:nvSpPr>
          <p:cNvPr id="12" name="text-302">
            <a:extLst xmlns:a="http://schemas.openxmlformats.org/drawingml/2006/main">
              <a:ext uri="{FF2B5EF4-FFF2-40B4-BE49-F238E27FC236}">
                <a16:creationId xmlns:a16="http://schemas.microsoft.com/office/drawing/2014/main" id="{D5102E92-6C39-4D82-9496-EC5DB7CE3994}"/>
              </a:ext>
            </a:extLst>
          </p:cNvPr>
          <p:cNvSpPr>
            <a:spLocks xmlns:a="http://schemas.openxmlformats.org/drawingml/2006/main" noGrp="1"/>
          </p:cNvSpPr>
          <p:nvPr/>
        </p:nvSpPr>
        <p:spPr>
          <a:xfrm xmlns:a="http://schemas.openxmlformats.org/drawingml/2006/main">
            <a:off x="1619250" y="6477000"/>
            <a:ext cx="12077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HTTPS/WSS untuk distribusi, broker untuk banyak instance, dan rancangan enkripsi end-to-end.</a:t>
            </a:r>
          </a:p>
        </p:txBody>
      </p:sp>
    </p:spTree>
    <p:extLst>
      <p:ext uri="{BB962C8B-B14F-4D97-AF65-F5344CB8AC3E}">
        <p14:creationId xmlns:p14="http://schemas.microsoft.com/office/powerpoint/2010/main" val="888213439"/>
      </p:ext>
    </p:extLst>
  </p:cSld>
</p:sld>
</file>

<file path=ppt/slides/slide30.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5" name="text-303">
            <a:extLst xmlns:a="http://schemas.openxmlformats.org/drawingml/2006/main">
              <a:ext uri="{FF2B5EF4-FFF2-40B4-BE49-F238E27FC236}">
                <a16:creationId xmlns:a16="http://schemas.microsoft.com/office/drawing/2014/main" id="{F35C9F0A-514E-48A2-8D74-095202E1B6AF}"/>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Rangkuman dan diskusi</a:t>
            </a:r>
          </a:p>
        </p:txBody>
      </p:sp>
      <p:sp>
        <p:nvSpPr>
          <p:cNvPr id="2" name="text-304">
            <a:extLst xmlns:a="http://schemas.openxmlformats.org/drawingml/2006/main">
              <a:ext uri="{FF2B5EF4-FFF2-40B4-BE49-F238E27FC236}">
                <a16:creationId xmlns:a16="http://schemas.microsoft.com/office/drawing/2014/main" id="{92B86B3E-46D6-4BD5-B06F-3C19E149F9C8}"/>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Satu aksi pengguna melibatkan antarmuka, layanan, dan penyimpanan.</a:t>
            </a:r>
          </a:p>
        </p:txBody>
      </p:sp>
      <p:sp>
        <p:nvSpPr>
          <p:cNvPr id="3" name="text-305">
            <a:extLst xmlns:a="http://schemas.openxmlformats.org/drawingml/2006/main">
              <a:ext uri="{FF2B5EF4-FFF2-40B4-BE49-F238E27FC236}">
                <a16:creationId xmlns:a16="http://schemas.microsoft.com/office/drawing/2014/main" id="{A861C24B-7AC1-4F77-A9AE-CEECB676192C}"/>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30</a:t>
            </a:r>
          </a:p>
        </p:txBody>
      </p:sp>
      <p:sp>
        <p:nvSpPr>
          <p:cNvPr id="4" name="text-306">
            <a:extLst xmlns:a="http://schemas.openxmlformats.org/drawingml/2006/main">
              <a:ext uri="{FF2B5EF4-FFF2-40B4-BE49-F238E27FC236}">
                <a16:creationId xmlns:a16="http://schemas.microsoft.com/office/drawing/2014/main" id="{D0E4DE88-C3B4-427D-B344-C7538134CC7E}"/>
              </a:ext>
            </a:extLst>
          </p:cNvPr>
          <p:cNvSpPr>
            <a:spLocks xmlns:a="http://schemas.openxmlformats.org/drawingml/2006/main" noGrp="1"/>
          </p:cNvSpPr>
          <p:nvPr/>
        </p:nvSpPr>
        <p:spPr>
          <a:xfrm xmlns:a="http://schemas.openxmlformats.org/drawingml/2006/main">
            <a:off x="914400" y="2686050"/>
            <a:ext cx="428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38BDF8"/>
                </a:solidFill>
                <a:latin typeface="Arial"/>
                <a:ea typeface="Arial"/>
                <a:cs typeface="Arial"/>
              </a:defRPr>
            </a:defPPr>
            <a:lvl1pPr algn="l">
              <a:defRPr sz="3225" b="1">
                <a:solidFill>
                  <a:srgbClr val="38BDF8"/>
                </a:solidFill>
                <a:latin typeface="Arial"/>
                <a:ea typeface="Arial"/>
                <a:cs typeface="Arial"/>
              </a:defRPr>
            </a:lvl1pPr>
            <a:lvl2pPr algn="l">
              <a:defRPr sz="3225" b="1">
                <a:solidFill>
                  <a:srgbClr val="38BDF8"/>
                </a:solidFill>
                <a:latin typeface="Arial"/>
                <a:ea typeface="Arial"/>
                <a:cs typeface="Arial"/>
              </a:defRPr>
            </a:lvl2pPr>
            <a:lvl3pPr algn="l">
              <a:defRPr sz="3225" b="1">
                <a:solidFill>
                  <a:srgbClr val="38BDF8"/>
                </a:solidFill>
                <a:latin typeface="Arial"/>
                <a:ea typeface="Arial"/>
                <a:cs typeface="Arial"/>
              </a:defRPr>
            </a:lvl3pPr>
            <a:lvl4pPr algn="l">
              <a:defRPr sz="3225" b="1">
                <a:solidFill>
                  <a:srgbClr val="38BDF8"/>
                </a:solidFill>
                <a:latin typeface="Arial"/>
                <a:ea typeface="Arial"/>
                <a:cs typeface="Arial"/>
              </a:defRPr>
            </a:lvl4pPr>
            <a:lvl5pPr algn="l">
              <a:defRPr sz="3225" b="1">
                <a:solidFill>
                  <a:srgbClr val="38BDF8"/>
                </a:solidFill>
                <a:latin typeface="Arial"/>
                <a:ea typeface="Arial"/>
                <a:cs typeface="Arial"/>
              </a:defRPr>
            </a:lvl5pPr>
            <a:lvl6pPr algn="l">
              <a:defRPr sz="3225" b="1">
                <a:solidFill>
                  <a:srgbClr val="38BDF8"/>
                </a:solidFill>
                <a:latin typeface="Arial"/>
                <a:ea typeface="Arial"/>
                <a:cs typeface="Arial"/>
              </a:defRPr>
            </a:lvl6pPr>
            <a:lvl7pPr algn="l">
              <a:defRPr sz="3225" b="1">
                <a:solidFill>
                  <a:srgbClr val="38BDF8"/>
                </a:solidFill>
                <a:latin typeface="Arial"/>
                <a:ea typeface="Arial"/>
                <a:cs typeface="Arial"/>
              </a:defRPr>
            </a:lvl7pPr>
            <a:lvl8pPr algn="l">
              <a:defRPr sz="3225" b="1">
                <a:solidFill>
                  <a:srgbClr val="38BDF8"/>
                </a:solidFill>
                <a:latin typeface="Arial"/>
                <a:ea typeface="Arial"/>
                <a:cs typeface="Arial"/>
              </a:defRPr>
            </a:lvl8pPr>
            <a:lvl9pPr algn="l">
              <a:defRPr sz="3225" b="1">
                <a:solidFill>
                  <a:srgbClr val="38BDF8"/>
                </a:solidFill>
                <a:latin typeface="Arial"/>
                <a:ea typeface="Arial"/>
                <a:cs typeface="Arial"/>
              </a:defRPr>
            </a:lvl9pPr>
          </a:lstStyle>
          <a:p xmlns:a="http://schemas.openxmlformats.org/drawingml/2006/main">
            <a:pPr algn="l">
              <a:defRPr sz="3225" b="1">
                <a:solidFill>
                  <a:srgbClr val="38BDF8"/>
                </a:solidFill>
                <a:latin typeface="Arial"/>
                <a:ea typeface="Arial"/>
                <a:cs typeface="Arial"/>
              </a:defRPr>
            </a:pPr>
            <a:r>
              <a:rPr sz="3225" b="1">
                <a:solidFill>
                  <a:srgbClr val="38BDF8"/>
                </a:solidFill>
                <a:latin typeface="Arial"/>
                <a:ea typeface="Arial"/>
                <a:cs typeface="Arial"/>
              </a:rPr>
              <a:t>Flutter</a:t>
            </a:r>
          </a:p>
        </p:txBody>
      </p:sp>
      <p:sp>
        <p:nvSpPr>
          <p:cNvPr id="5" name="text-307">
            <a:extLst xmlns:a="http://schemas.openxmlformats.org/drawingml/2006/main">
              <a:ext uri="{FF2B5EF4-FFF2-40B4-BE49-F238E27FC236}">
                <a16:creationId xmlns:a16="http://schemas.microsoft.com/office/drawing/2014/main" id="{F5F65003-9454-4BA9-99F0-820018A12682}"/>
              </a:ext>
            </a:extLst>
          </p:cNvPr>
          <p:cNvSpPr>
            <a:spLocks xmlns:a="http://schemas.openxmlformats.org/drawingml/2006/main" noGrp="1"/>
          </p:cNvSpPr>
          <p:nvPr/>
        </p:nvSpPr>
        <p:spPr>
          <a:xfrm xmlns:a="http://schemas.openxmlformats.org/drawingml/2006/main">
            <a:off x="914400" y="3429000"/>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BD5E1"/>
                </a:solidFill>
                <a:latin typeface="Arial"/>
                <a:ea typeface="Arial"/>
                <a:cs typeface="Arial"/>
              </a:defRPr>
            </a:defPPr>
            <a:lvl1pPr algn="l">
              <a:defRPr sz="2100" b="0">
                <a:solidFill>
                  <a:srgbClr val="CBD5E1"/>
                </a:solidFill>
                <a:latin typeface="Arial"/>
                <a:ea typeface="Arial"/>
                <a:cs typeface="Arial"/>
              </a:defRPr>
            </a:lvl1pPr>
            <a:lvl2pPr algn="l">
              <a:defRPr sz="2100" b="0">
                <a:solidFill>
                  <a:srgbClr val="CBD5E1"/>
                </a:solidFill>
                <a:latin typeface="Arial"/>
                <a:ea typeface="Arial"/>
                <a:cs typeface="Arial"/>
              </a:defRPr>
            </a:lvl2pPr>
            <a:lvl3pPr algn="l">
              <a:defRPr sz="2100" b="0">
                <a:solidFill>
                  <a:srgbClr val="CBD5E1"/>
                </a:solidFill>
                <a:latin typeface="Arial"/>
                <a:ea typeface="Arial"/>
                <a:cs typeface="Arial"/>
              </a:defRPr>
            </a:lvl3pPr>
            <a:lvl4pPr algn="l">
              <a:defRPr sz="2100" b="0">
                <a:solidFill>
                  <a:srgbClr val="CBD5E1"/>
                </a:solidFill>
                <a:latin typeface="Arial"/>
                <a:ea typeface="Arial"/>
                <a:cs typeface="Arial"/>
              </a:defRPr>
            </a:lvl4pPr>
            <a:lvl5pPr algn="l">
              <a:defRPr sz="2100" b="0">
                <a:solidFill>
                  <a:srgbClr val="CBD5E1"/>
                </a:solidFill>
                <a:latin typeface="Arial"/>
                <a:ea typeface="Arial"/>
                <a:cs typeface="Arial"/>
              </a:defRPr>
            </a:lvl5pPr>
            <a:lvl6pPr algn="l">
              <a:defRPr sz="2100" b="0">
                <a:solidFill>
                  <a:srgbClr val="CBD5E1"/>
                </a:solidFill>
                <a:latin typeface="Arial"/>
                <a:ea typeface="Arial"/>
                <a:cs typeface="Arial"/>
              </a:defRPr>
            </a:lvl6pPr>
            <a:lvl7pPr algn="l">
              <a:defRPr sz="2100" b="0">
                <a:solidFill>
                  <a:srgbClr val="CBD5E1"/>
                </a:solidFill>
                <a:latin typeface="Arial"/>
                <a:ea typeface="Arial"/>
                <a:cs typeface="Arial"/>
              </a:defRPr>
            </a:lvl7pPr>
            <a:lvl8pPr algn="l">
              <a:defRPr sz="2100" b="0">
                <a:solidFill>
                  <a:srgbClr val="CBD5E1"/>
                </a:solidFill>
                <a:latin typeface="Arial"/>
                <a:ea typeface="Arial"/>
                <a:cs typeface="Arial"/>
              </a:defRPr>
            </a:lvl8pPr>
            <a:lvl9pPr algn="l">
              <a:defRPr sz="2100" b="0">
                <a:solidFill>
                  <a:srgbClr val="CBD5E1"/>
                </a:solidFill>
                <a:latin typeface="Arial"/>
                <a:ea typeface="Arial"/>
                <a:cs typeface="Arial"/>
              </a:defRPr>
            </a:lvl9pPr>
          </a:lstStyle>
          <a:p xmlns:a="http://schemas.openxmlformats.org/drawingml/2006/main">
            <a:pPr algn="l">
              <a:defRPr sz="2100" b="0">
                <a:solidFill>
                  <a:srgbClr val="CBD5E1"/>
                </a:solidFill>
                <a:latin typeface="Arial"/>
                <a:ea typeface="Arial"/>
                <a:cs typeface="Arial"/>
              </a:defRPr>
            </a:pPr>
            <a:r>
              <a:rPr sz="2100" b="0">
                <a:solidFill>
                  <a:srgbClr val="CBD5E1"/>
                </a:solidFill>
                <a:latin typeface="Arial"/>
                <a:ea typeface="Arial"/>
                <a:cs typeface="Arial"/>
              </a:rPr>
              <a:t>Interaksi pengguna</a:t>
            </a:r>
          </a:p>
        </p:txBody>
      </p:sp>
      <p:sp>
        <p:nvSpPr>
          <p:cNvPr id="6" name="text-308">
            <a:extLst xmlns:a="http://schemas.openxmlformats.org/drawingml/2006/main">
              <a:ext uri="{FF2B5EF4-FFF2-40B4-BE49-F238E27FC236}">
                <a16:creationId xmlns:a16="http://schemas.microsoft.com/office/drawing/2014/main" id="{31625A45-769B-4FC1-9ACC-F474D0F8F4E2}"/>
              </a:ext>
            </a:extLst>
          </p:cNvPr>
          <p:cNvSpPr>
            <a:spLocks xmlns:a="http://schemas.openxmlformats.org/drawingml/2006/main" noGrp="1"/>
          </p:cNvSpPr>
          <p:nvPr/>
        </p:nvSpPr>
        <p:spPr>
          <a:xfrm xmlns:a="http://schemas.openxmlformats.org/drawingml/2006/main">
            <a:off x="5676900" y="2686050"/>
            <a:ext cx="428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38BDF8"/>
                </a:solidFill>
                <a:latin typeface="Arial"/>
                <a:ea typeface="Arial"/>
                <a:cs typeface="Arial"/>
              </a:defRPr>
            </a:defPPr>
            <a:lvl1pPr algn="l">
              <a:defRPr sz="3225" b="1">
                <a:solidFill>
                  <a:srgbClr val="38BDF8"/>
                </a:solidFill>
                <a:latin typeface="Arial"/>
                <a:ea typeface="Arial"/>
                <a:cs typeface="Arial"/>
              </a:defRPr>
            </a:lvl1pPr>
            <a:lvl2pPr algn="l">
              <a:defRPr sz="3225" b="1">
                <a:solidFill>
                  <a:srgbClr val="38BDF8"/>
                </a:solidFill>
                <a:latin typeface="Arial"/>
                <a:ea typeface="Arial"/>
                <a:cs typeface="Arial"/>
              </a:defRPr>
            </a:lvl2pPr>
            <a:lvl3pPr algn="l">
              <a:defRPr sz="3225" b="1">
                <a:solidFill>
                  <a:srgbClr val="38BDF8"/>
                </a:solidFill>
                <a:latin typeface="Arial"/>
                <a:ea typeface="Arial"/>
                <a:cs typeface="Arial"/>
              </a:defRPr>
            </a:lvl3pPr>
            <a:lvl4pPr algn="l">
              <a:defRPr sz="3225" b="1">
                <a:solidFill>
                  <a:srgbClr val="38BDF8"/>
                </a:solidFill>
                <a:latin typeface="Arial"/>
                <a:ea typeface="Arial"/>
                <a:cs typeface="Arial"/>
              </a:defRPr>
            </a:lvl4pPr>
            <a:lvl5pPr algn="l">
              <a:defRPr sz="3225" b="1">
                <a:solidFill>
                  <a:srgbClr val="38BDF8"/>
                </a:solidFill>
                <a:latin typeface="Arial"/>
                <a:ea typeface="Arial"/>
                <a:cs typeface="Arial"/>
              </a:defRPr>
            </a:lvl5pPr>
            <a:lvl6pPr algn="l">
              <a:defRPr sz="3225" b="1">
                <a:solidFill>
                  <a:srgbClr val="38BDF8"/>
                </a:solidFill>
                <a:latin typeface="Arial"/>
                <a:ea typeface="Arial"/>
                <a:cs typeface="Arial"/>
              </a:defRPr>
            </a:lvl6pPr>
            <a:lvl7pPr algn="l">
              <a:defRPr sz="3225" b="1">
                <a:solidFill>
                  <a:srgbClr val="38BDF8"/>
                </a:solidFill>
                <a:latin typeface="Arial"/>
                <a:ea typeface="Arial"/>
                <a:cs typeface="Arial"/>
              </a:defRPr>
            </a:lvl7pPr>
            <a:lvl8pPr algn="l">
              <a:defRPr sz="3225" b="1">
                <a:solidFill>
                  <a:srgbClr val="38BDF8"/>
                </a:solidFill>
                <a:latin typeface="Arial"/>
                <a:ea typeface="Arial"/>
                <a:cs typeface="Arial"/>
              </a:defRPr>
            </a:lvl8pPr>
            <a:lvl9pPr algn="l">
              <a:defRPr sz="3225" b="1">
                <a:solidFill>
                  <a:srgbClr val="38BDF8"/>
                </a:solidFill>
                <a:latin typeface="Arial"/>
                <a:ea typeface="Arial"/>
                <a:cs typeface="Arial"/>
              </a:defRPr>
            </a:lvl9pPr>
          </a:lstStyle>
          <a:p xmlns:a="http://schemas.openxmlformats.org/drawingml/2006/main">
            <a:pPr algn="l">
              <a:defRPr sz="3225" b="1">
                <a:solidFill>
                  <a:srgbClr val="38BDF8"/>
                </a:solidFill>
                <a:latin typeface="Arial"/>
                <a:ea typeface="Arial"/>
                <a:cs typeface="Arial"/>
              </a:defRPr>
            </a:pPr>
            <a:r>
              <a:rPr sz="3225" b="1">
                <a:solidFill>
                  <a:srgbClr val="38BDF8"/>
                </a:solidFill>
                <a:latin typeface="Arial"/>
                <a:ea typeface="Arial"/>
                <a:cs typeface="Arial"/>
              </a:rPr>
              <a:t>Go</a:t>
            </a:r>
          </a:p>
        </p:txBody>
      </p:sp>
      <p:sp>
        <p:nvSpPr>
          <p:cNvPr id="7" name="text-309">
            <a:extLst xmlns:a="http://schemas.openxmlformats.org/drawingml/2006/main">
              <a:ext uri="{FF2B5EF4-FFF2-40B4-BE49-F238E27FC236}">
                <a16:creationId xmlns:a16="http://schemas.microsoft.com/office/drawing/2014/main" id="{9E136F11-81CC-4313-BF9B-26F9FD3A6004}"/>
              </a:ext>
            </a:extLst>
          </p:cNvPr>
          <p:cNvSpPr>
            <a:spLocks xmlns:a="http://schemas.openxmlformats.org/drawingml/2006/main" noGrp="1"/>
          </p:cNvSpPr>
          <p:nvPr/>
        </p:nvSpPr>
        <p:spPr>
          <a:xfrm xmlns:a="http://schemas.openxmlformats.org/drawingml/2006/main">
            <a:off x="5676900" y="3429000"/>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BD5E1"/>
                </a:solidFill>
                <a:latin typeface="Arial"/>
                <a:ea typeface="Arial"/>
                <a:cs typeface="Arial"/>
              </a:defRPr>
            </a:defPPr>
            <a:lvl1pPr algn="l">
              <a:defRPr sz="2100" b="0">
                <a:solidFill>
                  <a:srgbClr val="CBD5E1"/>
                </a:solidFill>
                <a:latin typeface="Arial"/>
                <a:ea typeface="Arial"/>
                <a:cs typeface="Arial"/>
              </a:defRPr>
            </a:lvl1pPr>
            <a:lvl2pPr algn="l">
              <a:defRPr sz="2100" b="0">
                <a:solidFill>
                  <a:srgbClr val="CBD5E1"/>
                </a:solidFill>
                <a:latin typeface="Arial"/>
                <a:ea typeface="Arial"/>
                <a:cs typeface="Arial"/>
              </a:defRPr>
            </a:lvl2pPr>
            <a:lvl3pPr algn="l">
              <a:defRPr sz="2100" b="0">
                <a:solidFill>
                  <a:srgbClr val="CBD5E1"/>
                </a:solidFill>
                <a:latin typeface="Arial"/>
                <a:ea typeface="Arial"/>
                <a:cs typeface="Arial"/>
              </a:defRPr>
            </a:lvl3pPr>
            <a:lvl4pPr algn="l">
              <a:defRPr sz="2100" b="0">
                <a:solidFill>
                  <a:srgbClr val="CBD5E1"/>
                </a:solidFill>
                <a:latin typeface="Arial"/>
                <a:ea typeface="Arial"/>
                <a:cs typeface="Arial"/>
              </a:defRPr>
            </a:lvl4pPr>
            <a:lvl5pPr algn="l">
              <a:defRPr sz="2100" b="0">
                <a:solidFill>
                  <a:srgbClr val="CBD5E1"/>
                </a:solidFill>
                <a:latin typeface="Arial"/>
                <a:ea typeface="Arial"/>
                <a:cs typeface="Arial"/>
              </a:defRPr>
            </a:lvl5pPr>
            <a:lvl6pPr algn="l">
              <a:defRPr sz="2100" b="0">
                <a:solidFill>
                  <a:srgbClr val="CBD5E1"/>
                </a:solidFill>
                <a:latin typeface="Arial"/>
                <a:ea typeface="Arial"/>
                <a:cs typeface="Arial"/>
              </a:defRPr>
            </a:lvl6pPr>
            <a:lvl7pPr algn="l">
              <a:defRPr sz="2100" b="0">
                <a:solidFill>
                  <a:srgbClr val="CBD5E1"/>
                </a:solidFill>
                <a:latin typeface="Arial"/>
                <a:ea typeface="Arial"/>
                <a:cs typeface="Arial"/>
              </a:defRPr>
            </a:lvl7pPr>
            <a:lvl8pPr algn="l">
              <a:defRPr sz="2100" b="0">
                <a:solidFill>
                  <a:srgbClr val="CBD5E1"/>
                </a:solidFill>
                <a:latin typeface="Arial"/>
                <a:ea typeface="Arial"/>
                <a:cs typeface="Arial"/>
              </a:defRPr>
            </a:lvl8pPr>
            <a:lvl9pPr algn="l">
              <a:defRPr sz="2100" b="0">
                <a:solidFill>
                  <a:srgbClr val="CBD5E1"/>
                </a:solidFill>
                <a:latin typeface="Arial"/>
                <a:ea typeface="Arial"/>
                <a:cs typeface="Arial"/>
              </a:defRPr>
            </a:lvl9pPr>
          </a:lstStyle>
          <a:p xmlns:a="http://schemas.openxmlformats.org/drawingml/2006/main">
            <a:pPr algn="l">
              <a:defRPr sz="2100" b="0">
                <a:solidFill>
                  <a:srgbClr val="CBD5E1"/>
                </a:solidFill>
                <a:latin typeface="Arial"/>
                <a:ea typeface="Arial"/>
                <a:cs typeface="Arial"/>
              </a:defRPr>
            </a:pPr>
            <a:r>
              <a:rPr sz="2100" b="0">
                <a:solidFill>
                  <a:srgbClr val="CBD5E1"/>
                </a:solidFill>
                <a:latin typeface="Arial"/>
                <a:ea typeface="Arial"/>
                <a:cs typeface="Arial"/>
              </a:rPr>
              <a:t>Aturan dan komunikasi</a:t>
            </a:r>
          </a:p>
        </p:txBody>
      </p:sp>
      <p:sp>
        <p:nvSpPr>
          <p:cNvPr id="8" name="text-310">
            <a:extLst xmlns:a="http://schemas.openxmlformats.org/drawingml/2006/main">
              <a:ext uri="{FF2B5EF4-FFF2-40B4-BE49-F238E27FC236}">
                <a16:creationId xmlns:a16="http://schemas.microsoft.com/office/drawing/2014/main" id="{D744F651-4B62-4DFF-A4D1-614E817B0FAA}"/>
              </a:ext>
            </a:extLst>
          </p:cNvPr>
          <p:cNvSpPr>
            <a:spLocks xmlns:a="http://schemas.openxmlformats.org/drawingml/2006/main" noGrp="1"/>
          </p:cNvSpPr>
          <p:nvPr/>
        </p:nvSpPr>
        <p:spPr>
          <a:xfrm xmlns:a="http://schemas.openxmlformats.org/drawingml/2006/main">
            <a:off x="10439400" y="2686050"/>
            <a:ext cx="428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38BDF8"/>
                </a:solidFill>
                <a:latin typeface="Arial"/>
                <a:ea typeface="Arial"/>
                <a:cs typeface="Arial"/>
              </a:defRPr>
            </a:defPPr>
            <a:lvl1pPr algn="l">
              <a:defRPr sz="3225" b="1">
                <a:solidFill>
                  <a:srgbClr val="38BDF8"/>
                </a:solidFill>
                <a:latin typeface="Arial"/>
                <a:ea typeface="Arial"/>
                <a:cs typeface="Arial"/>
              </a:defRPr>
            </a:lvl1pPr>
            <a:lvl2pPr algn="l">
              <a:defRPr sz="3225" b="1">
                <a:solidFill>
                  <a:srgbClr val="38BDF8"/>
                </a:solidFill>
                <a:latin typeface="Arial"/>
                <a:ea typeface="Arial"/>
                <a:cs typeface="Arial"/>
              </a:defRPr>
            </a:lvl2pPr>
            <a:lvl3pPr algn="l">
              <a:defRPr sz="3225" b="1">
                <a:solidFill>
                  <a:srgbClr val="38BDF8"/>
                </a:solidFill>
                <a:latin typeface="Arial"/>
                <a:ea typeface="Arial"/>
                <a:cs typeface="Arial"/>
              </a:defRPr>
            </a:lvl3pPr>
            <a:lvl4pPr algn="l">
              <a:defRPr sz="3225" b="1">
                <a:solidFill>
                  <a:srgbClr val="38BDF8"/>
                </a:solidFill>
                <a:latin typeface="Arial"/>
                <a:ea typeface="Arial"/>
                <a:cs typeface="Arial"/>
              </a:defRPr>
            </a:lvl4pPr>
            <a:lvl5pPr algn="l">
              <a:defRPr sz="3225" b="1">
                <a:solidFill>
                  <a:srgbClr val="38BDF8"/>
                </a:solidFill>
                <a:latin typeface="Arial"/>
                <a:ea typeface="Arial"/>
                <a:cs typeface="Arial"/>
              </a:defRPr>
            </a:lvl5pPr>
            <a:lvl6pPr algn="l">
              <a:defRPr sz="3225" b="1">
                <a:solidFill>
                  <a:srgbClr val="38BDF8"/>
                </a:solidFill>
                <a:latin typeface="Arial"/>
                <a:ea typeface="Arial"/>
                <a:cs typeface="Arial"/>
              </a:defRPr>
            </a:lvl6pPr>
            <a:lvl7pPr algn="l">
              <a:defRPr sz="3225" b="1">
                <a:solidFill>
                  <a:srgbClr val="38BDF8"/>
                </a:solidFill>
                <a:latin typeface="Arial"/>
                <a:ea typeface="Arial"/>
                <a:cs typeface="Arial"/>
              </a:defRPr>
            </a:lvl7pPr>
            <a:lvl8pPr algn="l">
              <a:defRPr sz="3225" b="1">
                <a:solidFill>
                  <a:srgbClr val="38BDF8"/>
                </a:solidFill>
                <a:latin typeface="Arial"/>
                <a:ea typeface="Arial"/>
                <a:cs typeface="Arial"/>
              </a:defRPr>
            </a:lvl8pPr>
            <a:lvl9pPr algn="l">
              <a:defRPr sz="3225" b="1">
                <a:solidFill>
                  <a:srgbClr val="38BDF8"/>
                </a:solidFill>
                <a:latin typeface="Arial"/>
                <a:ea typeface="Arial"/>
                <a:cs typeface="Arial"/>
              </a:defRPr>
            </a:lvl9pPr>
          </a:lstStyle>
          <a:p xmlns:a="http://schemas.openxmlformats.org/drawingml/2006/main">
            <a:pPr algn="l">
              <a:defRPr sz="3225" b="1">
                <a:solidFill>
                  <a:srgbClr val="38BDF8"/>
                </a:solidFill>
                <a:latin typeface="Arial"/>
                <a:ea typeface="Arial"/>
                <a:cs typeface="Arial"/>
              </a:defRPr>
            </a:pPr>
            <a:r>
              <a:rPr sz="3225" b="1">
                <a:solidFill>
                  <a:srgbClr val="38BDF8"/>
                </a:solidFill>
                <a:latin typeface="Arial"/>
                <a:ea typeface="Arial"/>
                <a:cs typeface="Arial"/>
              </a:rPr>
              <a:t>PostgreSQL</a:t>
            </a:r>
          </a:p>
        </p:txBody>
      </p:sp>
      <p:sp>
        <p:nvSpPr>
          <p:cNvPr id="9" name="text-311">
            <a:extLst xmlns:a="http://schemas.openxmlformats.org/drawingml/2006/main">
              <a:ext uri="{FF2B5EF4-FFF2-40B4-BE49-F238E27FC236}">
                <a16:creationId xmlns:a16="http://schemas.microsoft.com/office/drawing/2014/main" id="{A2B6C16F-E111-47FA-9C3B-B03C8F4D3C99}"/>
              </a:ext>
            </a:extLst>
          </p:cNvPr>
          <p:cNvSpPr>
            <a:spLocks xmlns:a="http://schemas.openxmlformats.org/drawingml/2006/main" noGrp="1"/>
          </p:cNvSpPr>
          <p:nvPr/>
        </p:nvSpPr>
        <p:spPr>
          <a:xfrm xmlns:a="http://schemas.openxmlformats.org/drawingml/2006/main">
            <a:off x="10439400" y="3429000"/>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BD5E1"/>
                </a:solidFill>
                <a:latin typeface="Arial"/>
                <a:ea typeface="Arial"/>
                <a:cs typeface="Arial"/>
              </a:defRPr>
            </a:defPPr>
            <a:lvl1pPr algn="l">
              <a:defRPr sz="2100" b="0">
                <a:solidFill>
                  <a:srgbClr val="CBD5E1"/>
                </a:solidFill>
                <a:latin typeface="Arial"/>
                <a:ea typeface="Arial"/>
                <a:cs typeface="Arial"/>
              </a:defRPr>
            </a:lvl1pPr>
            <a:lvl2pPr algn="l">
              <a:defRPr sz="2100" b="0">
                <a:solidFill>
                  <a:srgbClr val="CBD5E1"/>
                </a:solidFill>
                <a:latin typeface="Arial"/>
                <a:ea typeface="Arial"/>
                <a:cs typeface="Arial"/>
              </a:defRPr>
            </a:lvl2pPr>
            <a:lvl3pPr algn="l">
              <a:defRPr sz="2100" b="0">
                <a:solidFill>
                  <a:srgbClr val="CBD5E1"/>
                </a:solidFill>
                <a:latin typeface="Arial"/>
                <a:ea typeface="Arial"/>
                <a:cs typeface="Arial"/>
              </a:defRPr>
            </a:lvl3pPr>
            <a:lvl4pPr algn="l">
              <a:defRPr sz="2100" b="0">
                <a:solidFill>
                  <a:srgbClr val="CBD5E1"/>
                </a:solidFill>
                <a:latin typeface="Arial"/>
                <a:ea typeface="Arial"/>
                <a:cs typeface="Arial"/>
              </a:defRPr>
            </a:lvl4pPr>
            <a:lvl5pPr algn="l">
              <a:defRPr sz="2100" b="0">
                <a:solidFill>
                  <a:srgbClr val="CBD5E1"/>
                </a:solidFill>
                <a:latin typeface="Arial"/>
                <a:ea typeface="Arial"/>
                <a:cs typeface="Arial"/>
              </a:defRPr>
            </a:lvl5pPr>
            <a:lvl6pPr algn="l">
              <a:defRPr sz="2100" b="0">
                <a:solidFill>
                  <a:srgbClr val="CBD5E1"/>
                </a:solidFill>
                <a:latin typeface="Arial"/>
                <a:ea typeface="Arial"/>
                <a:cs typeface="Arial"/>
              </a:defRPr>
            </a:lvl6pPr>
            <a:lvl7pPr algn="l">
              <a:defRPr sz="2100" b="0">
                <a:solidFill>
                  <a:srgbClr val="CBD5E1"/>
                </a:solidFill>
                <a:latin typeface="Arial"/>
                <a:ea typeface="Arial"/>
                <a:cs typeface="Arial"/>
              </a:defRPr>
            </a:lvl7pPr>
            <a:lvl8pPr algn="l">
              <a:defRPr sz="2100" b="0">
                <a:solidFill>
                  <a:srgbClr val="CBD5E1"/>
                </a:solidFill>
                <a:latin typeface="Arial"/>
                <a:ea typeface="Arial"/>
                <a:cs typeface="Arial"/>
              </a:defRPr>
            </a:lvl8pPr>
            <a:lvl9pPr algn="l">
              <a:defRPr sz="2100" b="0">
                <a:solidFill>
                  <a:srgbClr val="CBD5E1"/>
                </a:solidFill>
                <a:latin typeface="Arial"/>
                <a:ea typeface="Arial"/>
                <a:cs typeface="Arial"/>
              </a:defRPr>
            </a:lvl9pPr>
          </a:lstStyle>
          <a:p xmlns:a="http://schemas.openxmlformats.org/drawingml/2006/main">
            <a:pPr algn="l">
              <a:defRPr sz="2100" b="0">
                <a:solidFill>
                  <a:srgbClr val="CBD5E1"/>
                </a:solidFill>
                <a:latin typeface="Arial"/>
                <a:ea typeface="Arial"/>
                <a:cs typeface="Arial"/>
              </a:defRPr>
            </a:pPr>
            <a:r>
              <a:rPr sz="2100" b="0">
                <a:solidFill>
                  <a:srgbClr val="CBD5E1"/>
                </a:solidFill>
                <a:latin typeface="Arial"/>
                <a:ea typeface="Arial"/>
                <a:cs typeface="Arial"/>
              </a:rPr>
              <a:t>Data yang bertahan</a:t>
            </a:r>
          </a:p>
        </p:txBody>
      </p:sp>
      <p:sp>
        <p:nvSpPr>
          <p:cNvPr id="10" name="text-312">
            <a:extLst xmlns:a="http://schemas.openxmlformats.org/drawingml/2006/main">
              <a:ext uri="{FF2B5EF4-FFF2-40B4-BE49-F238E27FC236}">
                <a16:creationId xmlns:a16="http://schemas.microsoft.com/office/drawing/2014/main" id="{D9209E7A-23EC-4BBA-B68E-AAA7CF256076}"/>
              </a:ext>
            </a:extLst>
          </p:cNvPr>
          <p:cNvSpPr>
            <a:spLocks xmlns:a="http://schemas.openxmlformats.org/drawingml/2006/main" noGrp="1"/>
          </p:cNvSpPr>
          <p:nvPr/>
        </p:nvSpPr>
        <p:spPr>
          <a:xfrm xmlns:a="http://schemas.openxmlformats.org/drawingml/2006/main">
            <a:off x="914400" y="4724400"/>
            <a:ext cx="1314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Pertanyaan untuk kelas</a:t>
            </a:r>
          </a:p>
        </p:txBody>
      </p:sp>
      <p:sp>
        <p:nvSpPr>
          <p:cNvPr id="11" name="text-313">
            <a:extLst xmlns:a="http://schemas.openxmlformats.org/drawingml/2006/main">
              <a:ext uri="{FF2B5EF4-FFF2-40B4-BE49-F238E27FC236}">
                <a16:creationId xmlns:a16="http://schemas.microsoft.com/office/drawing/2014/main" id="{7E3F3830-D9E0-46CA-8EE7-0C6D81D78BD6}"/>
              </a:ext>
            </a:extLst>
          </p:cNvPr>
          <p:cNvSpPr>
            <a:spLocks xmlns:a="http://schemas.openxmlformats.org/drawingml/2006/main" noGrp="1"/>
          </p:cNvSpPr>
          <p:nvPr/>
        </p:nvSpPr>
        <p:spPr>
          <a:xfrm xmlns:a="http://schemas.openxmlformats.org/drawingml/2006/main">
            <a:off x="914400" y="5505450"/>
            <a:ext cx="1323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CBD5E1"/>
                </a:solidFill>
                <a:latin typeface="Arial"/>
                <a:ea typeface="Arial"/>
                <a:cs typeface="Arial"/>
              </a:defRPr>
            </a:defPPr>
            <a:lvl1pPr algn="l">
              <a:defRPr sz="2250" b="0">
                <a:solidFill>
                  <a:srgbClr val="CBD5E1"/>
                </a:solidFill>
                <a:latin typeface="Arial"/>
                <a:ea typeface="Arial"/>
                <a:cs typeface="Arial"/>
              </a:defRPr>
            </a:lvl1pPr>
            <a:lvl2pPr algn="l">
              <a:defRPr sz="2250" b="0">
                <a:solidFill>
                  <a:srgbClr val="CBD5E1"/>
                </a:solidFill>
                <a:latin typeface="Arial"/>
                <a:ea typeface="Arial"/>
                <a:cs typeface="Arial"/>
              </a:defRPr>
            </a:lvl2pPr>
            <a:lvl3pPr algn="l">
              <a:defRPr sz="2250" b="0">
                <a:solidFill>
                  <a:srgbClr val="CBD5E1"/>
                </a:solidFill>
                <a:latin typeface="Arial"/>
                <a:ea typeface="Arial"/>
                <a:cs typeface="Arial"/>
              </a:defRPr>
            </a:lvl3pPr>
            <a:lvl4pPr algn="l">
              <a:defRPr sz="2250" b="0">
                <a:solidFill>
                  <a:srgbClr val="CBD5E1"/>
                </a:solidFill>
                <a:latin typeface="Arial"/>
                <a:ea typeface="Arial"/>
                <a:cs typeface="Arial"/>
              </a:defRPr>
            </a:lvl4pPr>
            <a:lvl5pPr algn="l">
              <a:defRPr sz="2250" b="0">
                <a:solidFill>
                  <a:srgbClr val="CBD5E1"/>
                </a:solidFill>
                <a:latin typeface="Arial"/>
                <a:ea typeface="Arial"/>
                <a:cs typeface="Arial"/>
              </a:defRPr>
            </a:lvl5pPr>
            <a:lvl6pPr algn="l">
              <a:defRPr sz="2250" b="0">
                <a:solidFill>
                  <a:srgbClr val="CBD5E1"/>
                </a:solidFill>
                <a:latin typeface="Arial"/>
                <a:ea typeface="Arial"/>
                <a:cs typeface="Arial"/>
              </a:defRPr>
            </a:lvl6pPr>
            <a:lvl7pPr algn="l">
              <a:defRPr sz="2250" b="0">
                <a:solidFill>
                  <a:srgbClr val="CBD5E1"/>
                </a:solidFill>
                <a:latin typeface="Arial"/>
                <a:ea typeface="Arial"/>
                <a:cs typeface="Arial"/>
              </a:defRPr>
            </a:lvl7pPr>
            <a:lvl8pPr algn="l">
              <a:defRPr sz="2250" b="0">
                <a:solidFill>
                  <a:srgbClr val="CBD5E1"/>
                </a:solidFill>
                <a:latin typeface="Arial"/>
                <a:ea typeface="Arial"/>
                <a:cs typeface="Arial"/>
              </a:defRPr>
            </a:lvl8pPr>
            <a:lvl9pPr algn="l">
              <a:defRPr sz="2250" b="0">
                <a:solidFill>
                  <a:srgbClr val="CBD5E1"/>
                </a:solidFill>
                <a:latin typeface="Arial"/>
                <a:ea typeface="Arial"/>
                <a:cs typeface="Arial"/>
              </a:defRPr>
            </a:lvl9pPr>
          </a:lstStyle>
          <a:p xmlns:a="http://schemas.openxmlformats.org/drawingml/2006/main">
            <a:pPr algn="l">
              <a:defRPr sz="2250" b="0">
                <a:solidFill>
                  <a:srgbClr val="CBD5E1"/>
                </a:solidFill>
                <a:latin typeface="Arial"/>
                <a:ea typeface="Arial"/>
                <a:cs typeface="Arial"/>
              </a:defRPr>
            </a:pPr>
            <a:r>
              <a:rPr sz="2250" b="0">
                <a:solidFill>
                  <a:srgbClr val="CBD5E1"/>
                </a:solidFill>
                <a:latin typeface="Arial"/>
                <a:ea typeface="Arial"/>
                <a:cs typeface="Arial"/>
              </a:rPr>
              <a:t>1. Apa peran REST dan WebSocket saat mengirim pesan?</a:t>
            </a:r>
          </a:p>
        </p:txBody>
      </p:sp>
      <p:sp>
        <p:nvSpPr>
          <p:cNvPr id="12" name="text-314">
            <a:extLst xmlns:a="http://schemas.openxmlformats.org/drawingml/2006/main">
              <a:ext uri="{FF2B5EF4-FFF2-40B4-BE49-F238E27FC236}">
                <a16:creationId xmlns:a16="http://schemas.microsoft.com/office/drawing/2014/main" id="{26CB4C6B-4D88-4072-B8DE-D3D19EA3F2F4}"/>
              </a:ext>
            </a:extLst>
          </p:cNvPr>
          <p:cNvSpPr>
            <a:spLocks xmlns:a="http://schemas.openxmlformats.org/drawingml/2006/main" noGrp="1"/>
          </p:cNvSpPr>
          <p:nvPr/>
        </p:nvSpPr>
        <p:spPr>
          <a:xfrm xmlns:a="http://schemas.openxmlformats.org/drawingml/2006/main">
            <a:off x="914400" y="6096000"/>
            <a:ext cx="1323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CBD5E1"/>
                </a:solidFill>
                <a:latin typeface="Arial"/>
                <a:ea typeface="Arial"/>
                <a:cs typeface="Arial"/>
              </a:defRPr>
            </a:defPPr>
            <a:lvl1pPr algn="l">
              <a:defRPr sz="2250" b="0">
                <a:solidFill>
                  <a:srgbClr val="CBD5E1"/>
                </a:solidFill>
                <a:latin typeface="Arial"/>
                <a:ea typeface="Arial"/>
                <a:cs typeface="Arial"/>
              </a:defRPr>
            </a:lvl1pPr>
            <a:lvl2pPr algn="l">
              <a:defRPr sz="2250" b="0">
                <a:solidFill>
                  <a:srgbClr val="CBD5E1"/>
                </a:solidFill>
                <a:latin typeface="Arial"/>
                <a:ea typeface="Arial"/>
                <a:cs typeface="Arial"/>
              </a:defRPr>
            </a:lvl2pPr>
            <a:lvl3pPr algn="l">
              <a:defRPr sz="2250" b="0">
                <a:solidFill>
                  <a:srgbClr val="CBD5E1"/>
                </a:solidFill>
                <a:latin typeface="Arial"/>
                <a:ea typeface="Arial"/>
                <a:cs typeface="Arial"/>
              </a:defRPr>
            </a:lvl3pPr>
            <a:lvl4pPr algn="l">
              <a:defRPr sz="2250" b="0">
                <a:solidFill>
                  <a:srgbClr val="CBD5E1"/>
                </a:solidFill>
                <a:latin typeface="Arial"/>
                <a:ea typeface="Arial"/>
                <a:cs typeface="Arial"/>
              </a:defRPr>
            </a:lvl4pPr>
            <a:lvl5pPr algn="l">
              <a:defRPr sz="2250" b="0">
                <a:solidFill>
                  <a:srgbClr val="CBD5E1"/>
                </a:solidFill>
                <a:latin typeface="Arial"/>
                <a:ea typeface="Arial"/>
                <a:cs typeface="Arial"/>
              </a:defRPr>
            </a:lvl5pPr>
            <a:lvl6pPr algn="l">
              <a:defRPr sz="2250" b="0">
                <a:solidFill>
                  <a:srgbClr val="CBD5E1"/>
                </a:solidFill>
                <a:latin typeface="Arial"/>
                <a:ea typeface="Arial"/>
                <a:cs typeface="Arial"/>
              </a:defRPr>
            </a:lvl6pPr>
            <a:lvl7pPr algn="l">
              <a:defRPr sz="2250" b="0">
                <a:solidFill>
                  <a:srgbClr val="CBD5E1"/>
                </a:solidFill>
                <a:latin typeface="Arial"/>
                <a:ea typeface="Arial"/>
                <a:cs typeface="Arial"/>
              </a:defRPr>
            </a:lvl7pPr>
            <a:lvl8pPr algn="l">
              <a:defRPr sz="2250" b="0">
                <a:solidFill>
                  <a:srgbClr val="CBD5E1"/>
                </a:solidFill>
                <a:latin typeface="Arial"/>
                <a:ea typeface="Arial"/>
                <a:cs typeface="Arial"/>
              </a:defRPr>
            </a:lvl8pPr>
            <a:lvl9pPr algn="l">
              <a:defRPr sz="2250" b="0">
                <a:solidFill>
                  <a:srgbClr val="CBD5E1"/>
                </a:solidFill>
                <a:latin typeface="Arial"/>
                <a:ea typeface="Arial"/>
                <a:cs typeface="Arial"/>
              </a:defRPr>
            </a:lvl9pPr>
          </a:lstStyle>
          <a:p xmlns:a="http://schemas.openxmlformats.org/drawingml/2006/main">
            <a:pPr algn="l">
              <a:defRPr sz="2250" b="0">
                <a:solidFill>
                  <a:srgbClr val="CBD5E1"/>
                </a:solidFill>
                <a:latin typeface="Arial"/>
                <a:ea typeface="Arial"/>
                <a:cs typeface="Arial"/>
              </a:defRPr>
            </a:pPr>
            <a:r>
              <a:rPr sz="2250" b="0">
                <a:solidFill>
                  <a:srgbClr val="CBD5E1"/>
                </a:solidFill>
                <a:latin typeface="Arial"/>
                <a:ea typeface="Arial"/>
                <a:cs typeface="Arial"/>
              </a:rPr>
              <a:t>2. Siapa yang memeriksa hak akses percakapan?</a:t>
            </a:r>
          </a:p>
        </p:txBody>
      </p:sp>
      <p:sp>
        <p:nvSpPr>
          <p:cNvPr id="13" name="text-315">
            <a:extLst xmlns:a="http://schemas.openxmlformats.org/drawingml/2006/main">
              <a:ext uri="{FF2B5EF4-FFF2-40B4-BE49-F238E27FC236}">
                <a16:creationId xmlns:a16="http://schemas.microsoft.com/office/drawing/2014/main" id="{6E264F40-3C46-4339-A23A-B6EB35C2FB82}"/>
              </a:ext>
            </a:extLst>
          </p:cNvPr>
          <p:cNvSpPr>
            <a:spLocks xmlns:a="http://schemas.openxmlformats.org/drawingml/2006/main" noGrp="1"/>
          </p:cNvSpPr>
          <p:nvPr/>
        </p:nvSpPr>
        <p:spPr>
          <a:xfrm xmlns:a="http://schemas.openxmlformats.org/drawingml/2006/main">
            <a:off x="914400" y="6686550"/>
            <a:ext cx="1323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CBD5E1"/>
                </a:solidFill>
                <a:latin typeface="Arial"/>
                <a:ea typeface="Arial"/>
                <a:cs typeface="Arial"/>
              </a:defRPr>
            </a:defPPr>
            <a:lvl1pPr algn="l">
              <a:defRPr sz="2250" b="0">
                <a:solidFill>
                  <a:srgbClr val="CBD5E1"/>
                </a:solidFill>
                <a:latin typeface="Arial"/>
                <a:ea typeface="Arial"/>
                <a:cs typeface="Arial"/>
              </a:defRPr>
            </a:lvl1pPr>
            <a:lvl2pPr algn="l">
              <a:defRPr sz="2250" b="0">
                <a:solidFill>
                  <a:srgbClr val="CBD5E1"/>
                </a:solidFill>
                <a:latin typeface="Arial"/>
                <a:ea typeface="Arial"/>
                <a:cs typeface="Arial"/>
              </a:defRPr>
            </a:lvl2pPr>
            <a:lvl3pPr algn="l">
              <a:defRPr sz="2250" b="0">
                <a:solidFill>
                  <a:srgbClr val="CBD5E1"/>
                </a:solidFill>
                <a:latin typeface="Arial"/>
                <a:ea typeface="Arial"/>
                <a:cs typeface="Arial"/>
              </a:defRPr>
            </a:lvl3pPr>
            <a:lvl4pPr algn="l">
              <a:defRPr sz="2250" b="0">
                <a:solidFill>
                  <a:srgbClr val="CBD5E1"/>
                </a:solidFill>
                <a:latin typeface="Arial"/>
                <a:ea typeface="Arial"/>
                <a:cs typeface="Arial"/>
              </a:defRPr>
            </a:lvl4pPr>
            <a:lvl5pPr algn="l">
              <a:defRPr sz="2250" b="0">
                <a:solidFill>
                  <a:srgbClr val="CBD5E1"/>
                </a:solidFill>
                <a:latin typeface="Arial"/>
                <a:ea typeface="Arial"/>
                <a:cs typeface="Arial"/>
              </a:defRPr>
            </a:lvl5pPr>
            <a:lvl6pPr algn="l">
              <a:defRPr sz="2250" b="0">
                <a:solidFill>
                  <a:srgbClr val="CBD5E1"/>
                </a:solidFill>
                <a:latin typeface="Arial"/>
                <a:ea typeface="Arial"/>
                <a:cs typeface="Arial"/>
              </a:defRPr>
            </a:lvl6pPr>
            <a:lvl7pPr algn="l">
              <a:defRPr sz="2250" b="0">
                <a:solidFill>
                  <a:srgbClr val="CBD5E1"/>
                </a:solidFill>
                <a:latin typeface="Arial"/>
                <a:ea typeface="Arial"/>
                <a:cs typeface="Arial"/>
              </a:defRPr>
            </a:lvl7pPr>
            <a:lvl8pPr algn="l">
              <a:defRPr sz="2250" b="0">
                <a:solidFill>
                  <a:srgbClr val="CBD5E1"/>
                </a:solidFill>
                <a:latin typeface="Arial"/>
                <a:ea typeface="Arial"/>
                <a:cs typeface="Arial"/>
              </a:defRPr>
            </a:lvl8pPr>
            <a:lvl9pPr algn="l">
              <a:defRPr sz="2250" b="0">
                <a:solidFill>
                  <a:srgbClr val="CBD5E1"/>
                </a:solidFill>
                <a:latin typeface="Arial"/>
                <a:ea typeface="Arial"/>
                <a:cs typeface="Arial"/>
              </a:defRPr>
            </a:lvl9pPr>
          </a:lstStyle>
          <a:p xmlns:a="http://schemas.openxmlformats.org/drawingml/2006/main">
            <a:pPr algn="l">
              <a:defRPr sz="2250" b="0">
                <a:solidFill>
                  <a:srgbClr val="CBD5E1"/>
                </a:solidFill>
                <a:latin typeface="Arial"/>
                <a:ea typeface="Arial"/>
                <a:cs typeface="Arial"/>
              </a:defRPr>
            </a:pPr>
            <a:r>
              <a:rPr sz="2250" b="0">
                <a:solidFill>
                  <a:srgbClr val="CBD5E1"/>
                </a:solidFill>
                <a:latin typeface="Arial"/>
                <a:ea typeface="Arial"/>
                <a:cs typeface="Arial"/>
              </a:rPr>
              <a:t>3. Data apa yang tetap ada ketika layanan dimulai ulang?</a:t>
            </a:r>
          </a:p>
        </p:txBody>
      </p:sp>
      <p:sp>
        <p:nvSpPr>
          <p:cNvPr id="14" name="text-316">
            <a:extLst xmlns:a="http://schemas.openxmlformats.org/drawingml/2006/main">
              <a:ext uri="{FF2B5EF4-FFF2-40B4-BE49-F238E27FC236}">
                <a16:creationId xmlns:a16="http://schemas.microsoft.com/office/drawing/2014/main" id="{1FFF3359-6CC0-4B20-B68A-E8EDE04D0B9C}"/>
              </a:ext>
            </a:extLst>
          </p:cNvPr>
          <p:cNvSpPr>
            <a:spLocks xmlns:a="http://schemas.openxmlformats.org/drawingml/2006/main" noGrp="1"/>
          </p:cNvSpPr>
          <p:nvPr/>
        </p:nvSpPr>
        <p:spPr>
          <a:xfrm xmlns:a="http://schemas.openxmlformats.org/drawingml/2006/main">
            <a:off x="914400" y="763905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8BDF8"/>
                </a:solidFill>
                <a:latin typeface="Arial"/>
                <a:ea typeface="Arial"/>
                <a:cs typeface="Arial"/>
              </a:defRPr>
            </a:defPPr>
            <a:lvl1pPr algn="l">
              <a:defRPr sz="1875" b="1">
                <a:solidFill>
                  <a:srgbClr val="38BDF8"/>
                </a:solidFill>
                <a:latin typeface="Arial"/>
                <a:ea typeface="Arial"/>
                <a:cs typeface="Arial"/>
              </a:defRPr>
            </a:lvl1pPr>
            <a:lvl2pPr algn="l">
              <a:defRPr sz="1875" b="1">
                <a:solidFill>
                  <a:srgbClr val="38BDF8"/>
                </a:solidFill>
                <a:latin typeface="Arial"/>
                <a:ea typeface="Arial"/>
                <a:cs typeface="Arial"/>
              </a:defRPr>
            </a:lvl2pPr>
            <a:lvl3pPr algn="l">
              <a:defRPr sz="1875" b="1">
                <a:solidFill>
                  <a:srgbClr val="38BDF8"/>
                </a:solidFill>
                <a:latin typeface="Arial"/>
                <a:ea typeface="Arial"/>
                <a:cs typeface="Arial"/>
              </a:defRPr>
            </a:lvl3pPr>
            <a:lvl4pPr algn="l">
              <a:defRPr sz="1875" b="1">
                <a:solidFill>
                  <a:srgbClr val="38BDF8"/>
                </a:solidFill>
                <a:latin typeface="Arial"/>
                <a:ea typeface="Arial"/>
                <a:cs typeface="Arial"/>
              </a:defRPr>
            </a:lvl4pPr>
            <a:lvl5pPr algn="l">
              <a:defRPr sz="1875" b="1">
                <a:solidFill>
                  <a:srgbClr val="38BDF8"/>
                </a:solidFill>
                <a:latin typeface="Arial"/>
                <a:ea typeface="Arial"/>
                <a:cs typeface="Arial"/>
              </a:defRPr>
            </a:lvl5pPr>
            <a:lvl6pPr algn="l">
              <a:defRPr sz="1875" b="1">
                <a:solidFill>
                  <a:srgbClr val="38BDF8"/>
                </a:solidFill>
                <a:latin typeface="Arial"/>
                <a:ea typeface="Arial"/>
                <a:cs typeface="Arial"/>
              </a:defRPr>
            </a:lvl6pPr>
            <a:lvl7pPr algn="l">
              <a:defRPr sz="1875" b="1">
                <a:solidFill>
                  <a:srgbClr val="38BDF8"/>
                </a:solidFill>
                <a:latin typeface="Arial"/>
                <a:ea typeface="Arial"/>
                <a:cs typeface="Arial"/>
              </a:defRPr>
            </a:lvl7pPr>
            <a:lvl8pPr algn="l">
              <a:defRPr sz="1875" b="1">
                <a:solidFill>
                  <a:srgbClr val="38BDF8"/>
                </a:solidFill>
                <a:latin typeface="Arial"/>
                <a:ea typeface="Arial"/>
                <a:cs typeface="Arial"/>
              </a:defRPr>
            </a:lvl8pPr>
            <a:lvl9pPr algn="l">
              <a:defRPr sz="1875" b="1">
                <a:solidFill>
                  <a:srgbClr val="38BDF8"/>
                </a:solidFill>
                <a:latin typeface="Arial"/>
                <a:ea typeface="Arial"/>
                <a:cs typeface="Arial"/>
              </a:defRPr>
            </a:lvl9pPr>
          </a:lstStyle>
          <a:p xmlns:a="http://schemas.openxmlformats.org/drawingml/2006/main">
            <a:pPr algn="l">
              <a:defRPr sz="1875" b="1">
                <a:solidFill>
                  <a:srgbClr val="38BDF8"/>
                </a:solidFill>
                <a:latin typeface="Arial"/>
                <a:ea typeface="Arial"/>
                <a:cs typeface="Arial"/>
              </a:defRPr>
            </a:pPr>
            <a:r>
              <a:rPr sz="1875" b="1">
                <a:solidFill>
                  <a:srgbClr val="38BDF8"/>
                </a:solidFill>
                <a:latin typeface="Arial"/>
                <a:ea typeface="Arial"/>
                <a:cs typeface="Arial"/>
                <a:hlinkClick xmlns:r="http://schemas.openxmlformats.org/officeDocument/2006/relationships" r:id="Ra19f1955f8cb4f5b"/>
              </a:rPr>
              <a:t>github.com/Shofyan/chat-app</a:t>
            </a:r>
          </a:p>
        </p:txBody>
      </p:sp>
    </p:spTree>
    <p:extLst>
      <p:ext uri="{BB962C8B-B14F-4D97-AF65-F5344CB8AC3E}">
        <p14:creationId xmlns:p14="http://schemas.microsoft.com/office/powerpoint/2010/main" val="18038419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2026-10-31T04:11:02.5010000Z</dcterms:created>
  <dcterms:modified xsi:type="dcterms:W3CDTF">2026-10-31T04:11:02.5010000Z</dcterms:modified>
</coreProperties>
</file>