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0085a2c4cd40d9" /><Relationship Type="http://schemas.openxmlformats.org/officeDocument/2006/relationships/extended-properties" Target="/docProps/app.xml" Id="Rdd1d560a94bc4959" /><Relationship Type="http://schemas.openxmlformats.org/officeDocument/2006/relationships/officeDocument" Target="/ppt/presentation.xml" Id="R926067752b7e4993" /></Relationships>
</file>

<file path=ppt/presentation.xml><?xml version="1.0" encoding="utf-8"?>
<p:presentation xmlns:p="http://schemas.openxmlformats.org/presentationml/2006/main">
  <p:sldMasterIdLst>
    <p:sldMasterId xmlns:r="http://schemas.openxmlformats.org/officeDocument/2006/relationships" id="2147483648" r:id="R3996b594173346b4"/>
  </p:sldMasterIdLst>
  <p:notesMasterIdLst>
    <p:notesMasterId xmlns:r="http://schemas.openxmlformats.org/officeDocument/2006/relationships" r:id="R1f118d2acfc241d8"/>
  </p:notesMasterIdLst>
  <p:sldIdLst>
    <p:sldId xmlns:r="http://schemas.openxmlformats.org/officeDocument/2006/relationships" id="256" r:id="R88ca23fbdfa94a44"/>
    <p:sldId xmlns:r="http://schemas.openxmlformats.org/officeDocument/2006/relationships" id="257" r:id="R1e57cfab2aab4f9a"/>
    <p:sldId xmlns:r="http://schemas.openxmlformats.org/officeDocument/2006/relationships" id="258" r:id="R8481a8bde10f4ccd"/>
    <p:sldId xmlns:r="http://schemas.openxmlformats.org/officeDocument/2006/relationships" id="259" r:id="Rf05d7a9192af4f78"/>
    <p:sldId xmlns:r="http://schemas.openxmlformats.org/officeDocument/2006/relationships" id="260" r:id="R16f96f0085d64d93"/>
    <p:sldId xmlns:r="http://schemas.openxmlformats.org/officeDocument/2006/relationships" id="261" r:id="Rabd7ce6e5c584e5a"/>
    <p:sldId xmlns:r="http://schemas.openxmlformats.org/officeDocument/2006/relationships" id="262" r:id="R10b760229bb84f93"/>
    <p:sldId xmlns:r="http://schemas.openxmlformats.org/officeDocument/2006/relationships" id="263" r:id="Rdcd85672f4f14155"/>
    <p:sldId xmlns:r="http://schemas.openxmlformats.org/officeDocument/2006/relationships" id="264" r:id="R3159c06ae22049ef"/>
    <p:sldId xmlns:r="http://schemas.openxmlformats.org/officeDocument/2006/relationships" id="265" r:id="Ra71411c91906479d"/>
    <p:sldId xmlns:r="http://schemas.openxmlformats.org/officeDocument/2006/relationships" id="266" r:id="R74c6a386baac4a8f"/>
    <p:sldId xmlns:r="http://schemas.openxmlformats.org/officeDocument/2006/relationships" id="267" r:id="R8f60467883974804"/>
    <p:sldId xmlns:r="http://schemas.openxmlformats.org/officeDocument/2006/relationships" id="268" r:id="Re66426e629614b6a"/>
    <p:sldId xmlns:r="http://schemas.openxmlformats.org/officeDocument/2006/relationships" id="269" r:id="R358c9a77618b46dd"/>
    <p:sldId xmlns:r="http://schemas.openxmlformats.org/officeDocument/2006/relationships" id="270" r:id="R14e7c959f1cf4441"/>
    <p:sldId xmlns:r="http://schemas.openxmlformats.org/officeDocument/2006/relationships" id="271" r:id="R8a3345315d5d4a10"/>
    <p:sldId xmlns:r="http://schemas.openxmlformats.org/officeDocument/2006/relationships" id="272" r:id="Ree415c79e05d422a"/>
    <p:sldId xmlns:r="http://schemas.openxmlformats.org/officeDocument/2006/relationships" id="273" r:id="Re97bec1732424a0f"/>
    <p:sldId xmlns:r="http://schemas.openxmlformats.org/officeDocument/2006/relationships" id="274" r:id="R95465a6f5ff448f6"/>
    <p:sldId xmlns:r="http://schemas.openxmlformats.org/officeDocument/2006/relationships" id="275" r:id="R119701d8e1e94c97"/>
    <p:sldId xmlns:r="http://schemas.openxmlformats.org/officeDocument/2006/relationships" id="276" r:id="Re86aca0d11aa4a99"/>
    <p:sldId xmlns:r="http://schemas.openxmlformats.org/officeDocument/2006/relationships" id="277" r:id="R3832781ab7f94089"/>
    <p:sldId xmlns:r="http://schemas.openxmlformats.org/officeDocument/2006/relationships" id="278" r:id="R256a715779034f97"/>
    <p:sldId xmlns:r="http://schemas.openxmlformats.org/officeDocument/2006/relationships" id="279" r:id="R32edc3f9fb404611"/>
    <p:sldId xmlns:r="http://schemas.openxmlformats.org/officeDocument/2006/relationships" id="280" r:id="R1f2b326ccc314d83"/>
    <p:sldId xmlns:r="http://schemas.openxmlformats.org/officeDocument/2006/relationships" id="281" r:id="R10d312612ed346d2"/>
    <p:sldId xmlns:r="http://schemas.openxmlformats.org/officeDocument/2006/relationships" id="282" r:id="Raa529f63a4b64ce0"/>
    <p:sldId xmlns:r="http://schemas.openxmlformats.org/officeDocument/2006/relationships" id="283" r:id="Rb37dff6d241d4ca5"/>
    <p:sldId xmlns:r="http://schemas.openxmlformats.org/officeDocument/2006/relationships" id="284" r:id="Rc0e01ce971394893"/>
    <p:sldId xmlns:r="http://schemas.openxmlformats.org/officeDocument/2006/relationships" id="285" r:id="Rf0d1373465e846c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a5f725aac3434a" /><Relationship Type="http://schemas.openxmlformats.org/officeDocument/2006/relationships/slideMaster" Target="/ppt/slideMasters/slideMaster1.xml" Id="R3996b594173346b4" /><Relationship Type="http://schemas.openxmlformats.org/officeDocument/2006/relationships/notesMaster" Target="/ppt/notesMasters/notesMaster1.xml" Id="R1f118d2acfc241d8" /><Relationship Type="http://schemas.openxmlformats.org/officeDocument/2006/relationships/presProps" Target="/ppt/presProps.xml" Id="Rbe55c2c748354de5" /><Relationship Type="http://schemas.openxmlformats.org/officeDocument/2006/relationships/tableStyles" Target="/ppt/tableStyles.xml" Id="Rd94658a3a56f40c4" /><Relationship Type="http://schemas.openxmlformats.org/officeDocument/2006/relationships/slide" Target="/ppt/slides/slide1.xml" Id="R88ca23fbdfa94a44" /><Relationship Type="http://schemas.openxmlformats.org/officeDocument/2006/relationships/slide" Target="/ppt/slides/slide2.xml" Id="R1e57cfab2aab4f9a" /><Relationship Type="http://schemas.openxmlformats.org/officeDocument/2006/relationships/slide" Target="/ppt/slides/slide3.xml" Id="R8481a8bde10f4ccd" /><Relationship Type="http://schemas.openxmlformats.org/officeDocument/2006/relationships/slide" Target="/ppt/slides/slide4.xml" Id="Rf05d7a9192af4f78" /><Relationship Type="http://schemas.openxmlformats.org/officeDocument/2006/relationships/slide" Target="/ppt/slides/slide5.xml" Id="R16f96f0085d64d93" /><Relationship Type="http://schemas.openxmlformats.org/officeDocument/2006/relationships/slide" Target="/ppt/slides/slide6.xml" Id="Rabd7ce6e5c584e5a" /><Relationship Type="http://schemas.openxmlformats.org/officeDocument/2006/relationships/slide" Target="/ppt/slides/slide7.xml" Id="R10b760229bb84f93" /><Relationship Type="http://schemas.openxmlformats.org/officeDocument/2006/relationships/slide" Target="/ppt/slides/slide8.xml" Id="Rdcd85672f4f14155" /><Relationship Type="http://schemas.openxmlformats.org/officeDocument/2006/relationships/slide" Target="/ppt/slides/slide9.xml" Id="R3159c06ae22049ef" /><Relationship Type="http://schemas.openxmlformats.org/officeDocument/2006/relationships/slide" Target="/ppt/slides/slide10.xml" Id="Ra71411c91906479d" /><Relationship Type="http://schemas.openxmlformats.org/officeDocument/2006/relationships/slide" Target="/ppt/slides/slide11.xml" Id="R74c6a386baac4a8f" /><Relationship Type="http://schemas.openxmlformats.org/officeDocument/2006/relationships/slide" Target="/ppt/slides/slide12.xml" Id="R8f60467883974804" /><Relationship Type="http://schemas.openxmlformats.org/officeDocument/2006/relationships/slide" Target="/ppt/slides/slide13.xml" Id="Re66426e629614b6a" /><Relationship Type="http://schemas.openxmlformats.org/officeDocument/2006/relationships/slide" Target="/ppt/slides/slide14.xml" Id="R358c9a77618b46dd" /><Relationship Type="http://schemas.openxmlformats.org/officeDocument/2006/relationships/slide" Target="/ppt/slides/slide15.xml" Id="R14e7c959f1cf4441" /><Relationship Type="http://schemas.openxmlformats.org/officeDocument/2006/relationships/slide" Target="/ppt/slides/slide16.xml" Id="R8a3345315d5d4a10" /><Relationship Type="http://schemas.openxmlformats.org/officeDocument/2006/relationships/slide" Target="/ppt/slides/slide17.xml" Id="Ree415c79e05d422a" /><Relationship Type="http://schemas.openxmlformats.org/officeDocument/2006/relationships/slide" Target="/ppt/slides/slide18.xml" Id="Re97bec1732424a0f" /><Relationship Type="http://schemas.openxmlformats.org/officeDocument/2006/relationships/slide" Target="/ppt/slides/slide19.xml" Id="R95465a6f5ff448f6" /><Relationship Type="http://schemas.openxmlformats.org/officeDocument/2006/relationships/slide" Target="/ppt/slides/slide20.xml" Id="R119701d8e1e94c97" /><Relationship Type="http://schemas.openxmlformats.org/officeDocument/2006/relationships/slide" Target="/ppt/slides/slide21.xml" Id="Re86aca0d11aa4a99" /><Relationship Type="http://schemas.openxmlformats.org/officeDocument/2006/relationships/slide" Target="/ppt/slides/slide22.xml" Id="R3832781ab7f94089" /><Relationship Type="http://schemas.openxmlformats.org/officeDocument/2006/relationships/slide" Target="/ppt/slides/slide23.xml" Id="R256a715779034f97" /><Relationship Type="http://schemas.openxmlformats.org/officeDocument/2006/relationships/slide" Target="/ppt/slides/slide24.xml" Id="R32edc3f9fb404611" /><Relationship Type="http://schemas.openxmlformats.org/officeDocument/2006/relationships/slide" Target="/ppt/slides/slide25.xml" Id="R1f2b326ccc314d83" /><Relationship Type="http://schemas.openxmlformats.org/officeDocument/2006/relationships/slide" Target="/ppt/slides/slide26.xml" Id="R10d312612ed346d2" /><Relationship Type="http://schemas.openxmlformats.org/officeDocument/2006/relationships/slide" Target="/ppt/slides/slide27.xml" Id="Raa529f63a4b64ce0" /><Relationship Type="http://schemas.openxmlformats.org/officeDocument/2006/relationships/slide" Target="/ppt/slides/slide28.xml" Id="Rb37dff6d241d4ca5" /><Relationship Type="http://schemas.openxmlformats.org/officeDocument/2006/relationships/slide" Target="/ppt/slides/slide29.xml" Id="Rc0e01ce971394893" /><Relationship Type="http://schemas.openxmlformats.org/officeDocument/2006/relationships/slide" Target="/ppt/slides/slide30.xml" Id="Rf0d1373465e846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e4fb0640734b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cc5f2ff56c4746" /><Relationship Type="http://schemas.openxmlformats.org/officeDocument/2006/relationships/notesMaster" Target="/ppt/notesMasters/notesMaster1.xml" Id="R9c60a372cb1844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98fba07790488c" /><Relationship Type="http://schemas.openxmlformats.org/officeDocument/2006/relationships/notesMaster" Target="/ppt/notesMasters/notesMaster1.xml" Id="R01be96db686446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9d9f5a4f584a01" /><Relationship Type="http://schemas.openxmlformats.org/officeDocument/2006/relationships/notesMaster" Target="/ppt/notesMasters/notesMaster1.xml" Id="R1355fba5a36640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8f158469b144ad" /><Relationship Type="http://schemas.openxmlformats.org/officeDocument/2006/relationships/notesMaster" Target="/ppt/notesMasters/notesMaster1.xml" Id="R210395416a6146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01b692d8984a71" /><Relationship Type="http://schemas.openxmlformats.org/officeDocument/2006/relationships/notesMaster" Target="/ppt/notesMasters/notesMaster1.xml" Id="Rf681ac86af6d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eb175c0b92475e" /><Relationship Type="http://schemas.openxmlformats.org/officeDocument/2006/relationships/notesMaster" Target="/ppt/notesMasters/notesMaster1.xml" Id="R9dcf5428739d4e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27aed1c7924a20" /><Relationship Type="http://schemas.openxmlformats.org/officeDocument/2006/relationships/notesMaster" Target="/ppt/notesMasters/notesMaster1.xml" Id="Ra2a0c822061d41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6321cbfe1640c7" /><Relationship Type="http://schemas.openxmlformats.org/officeDocument/2006/relationships/notesMaster" Target="/ppt/notesMasters/notesMaster1.xml" Id="Re78c0a66343a40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d453e679ac4dc7" /><Relationship Type="http://schemas.openxmlformats.org/officeDocument/2006/relationships/notesMaster" Target="/ppt/notesMasters/notesMaster1.xml" Id="R24334d86b19343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3febb52bb84473" /><Relationship Type="http://schemas.openxmlformats.org/officeDocument/2006/relationships/notesMaster" Target="/ppt/notesMasters/notesMaster1.xml" Id="Rc5185d3739924a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3496525c8e474c" /><Relationship Type="http://schemas.openxmlformats.org/officeDocument/2006/relationships/notesMaster" Target="/ppt/notesMasters/notesMaster1.xml" Id="R5705267b21a24f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6b650c58c24469" /><Relationship Type="http://schemas.openxmlformats.org/officeDocument/2006/relationships/notesMaster" Target="/ppt/notesMasters/notesMaster1.xml" Id="R8f0953e288c948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32ad80fd2b41cc" /><Relationship Type="http://schemas.openxmlformats.org/officeDocument/2006/relationships/notesMaster" Target="/ppt/notesMasters/notesMaster1.xml" Id="R26da74a9ef0748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f4c6649c874a20" /><Relationship Type="http://schemas.openxmlformats.org/officeDocument/2006/relationships/notesMaster" Target="/ppt/notesMasters/notesMaster1.xml" Id="R6b4c823a0d3643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8fe00fd3f04ec2" /><Relationship Type="http://schemas.openxmlformats.org/officeDocument/2006/relationships/notesMaster" Target="/ppt/notesMasters/notesMaster1.xml" Id="R87b1d1c93b7349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7a09e09a3c4c69" /><Relationship Type="http://schemas.openxmlformats.org/officeDocument/2006/relationships/notesMaster" Target="/ppt/notesMasters/notesMaster1.xml" Id="Rcd5d765eed9746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29a7bf962141d3" /><Relationship Type="http://schemas.openxmlformats.org/officeDocument/2006/relationships/notesMaster" Target="/ppt/notesMasters/notesMaster1.xml" Id="Rfea431c69a9f43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74ce2fc7954b88" /><Relationship Type="http://schemas.openxmlformats.org/officeDocument/2006/relationships/notesMaster" Target="/ppt/notesMasters/notesMaster1.xml" Id="Rdcb2e10dcf3743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8b71dc8e324a3b" /><Relationship Type="http://schemas.openxmlformats.org/officeDocument/2006/relationships/notesMaster" Target="/ppt/notesMasters/notesMaster1.xml" Id="Re35b9cec865749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aedd20d902423c" /><Relationship Type="http://schemas.openxmlformats.org/officeDocument/2006/relationships/notesMaster" Target="/ppt/notesMasters/notesMaster1.xml" Id="Rf9ff3d8c931844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4b9af0b79e45bf" /><Relationship Type="http://schemas.openxmlformats.org/officeDocument/2006/relationships/notesMaster" Target="/ppt/notesMasters/notesMaster1.xml" Id="R03d14871b1f140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9b5a6b4341484c" /><Relationship Type="http://schemas.openxmlformats.org/officeDocument/2006/relationships/notesMaster" Target="/ppt/notesMasters/notesMaster1.xml" Id="R1553c52e40c34e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095580cf754211" /><Relationship Type="http://schemas.openxmlformats.org/officeDocument/2006/relationships/notesMaster" Target="/ppt/notesMasters/notesMaster1.xml" Id="R1430bcfc616c472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bdabfd98634b12" /><Relationship Type="http://schemas.openxmlformats.org/officeDocument/2006/relationships/notesMaster" Target="/ppt/notesMasters/notesMaster1.xml" Id="R32061030acec41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1ad65bb01d44e3" /><Relationship Type="http://schemas.openxmlformats.org/officeDocument/2006/relationships/notesMaster" Target="/ppt/notesMasters/notesMaster1.xml" Id="R3ad0a10ea81646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745f25533554680" /><Relationship Type="http://schemas.openxmlformats.org/officeDocument/2006/relationships/notesMaster" Target="/ppt/notesMasters/notesMaster1.xml" Id="Rba97c698652f40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1910fd4990a4e47" /><Relationship Type="http://schemas.openxmlformats.org/officeDocument/2006/relationships/notesMaster" Target="/ppt/notesMasters/notesMaster1.xml" Id="R2b08c63b274a42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611ba9663843bc" /><Relationship Type="http://schemas.openxmlformats.org/officeDocument/2006/relationships/notesMaster" Target="/ppt/notesMasters/notesMaster1.xml" Id="Rda09d90d578b44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7597e9fd6d54589" /><Relationship Type="http://schemas.openxmlformats.org/officeDocument/2006/relationships/notesMaster" Target="/ppt/notesMasters/notesMaster1.xml" Id="R9a5c8e9b697b451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c1721937dc34ba9" /><Relationship Type="http://schemas.openxmlformats.org/officeDocument/2006/relationships/notesMaster" Target="/ppt/notesMasters/notesMaster1.xml" Id="Rc6c0fac63e0041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membahas implementasi yang ada di repositori. Mahasiswa sebaiknya sudah memahami widget Flutter, HTTP, JSON, dan tabel relasional. Gunakan satu skenario sepanjang kelas: Rina mengirim pesan kepada Andi, lalu mencoba balasan dan lampiran. Bedakan kondisi pesan tersimpan dengan event yang sampai ke perangkat. Seluruh diagram menjelaskan satu instance backend. Pendalaman kode dapat dilakukan setelah setiap bagian dengan membuka berkas yang tercantum pada catatan. Target sesi adalah menjelaskan sebab suatu mekanisme diperlukan, bukan menghafal nama library.</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Ajak mahasiswa memilih satu fitur yang terlihat sederhana, misalnya reaksi emoji. Jelaskan bahwa fitur itu melibatkan interaksi layar, endpoint, pemeriksaan anggota, constraint database, dan event ke perangkat lain. Urutan presentasi mengikuti dependensi tersebut. Setelah bagian arsitektur, telusuri autentikasi dan percakapan. Bagian pesan menjelaskan bagaimana REST dan WebSocket bekerja bersamaan. Bagian operasional menutup pembahasan dengan pengujian dan batas sistem. Latihan akhir meminta mahasiswa memprediksi perilaku saat respons HTTP hilang setelah insert berhasil.</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batas jaringan pada diagram. Flutter tidak membawa kredensial PostgreSQL. API memperoleh DATABASE_URL dari environment. REST dan WebSocket memakai alamat dasar API yang sama, dengan jalur berbeda. Flutter berjalan di emulator atau ponsel, sementara Compose menjalankan API dan database. Database hanya tersedia di jaringan internal Compose pada konfigurasi ini. Hub WebSocket berada dalam memori proses Go sehingga status online hilang ketika proses berhenti. Data pesan tetap tersedia melalui volume database. Tanyakan komponen mana yang tetap memiliki riwayat setelah ponsel ditutup.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https://github.com/Shofyan/chat-app/blob/750cdac9ecac4614fe7593e056e1b448e07d2e83/backend/internal/chat/server.go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peta ini sebagai petunjuk penelusuran kode. Widget mengelola keadaan interaksi lokal seperti draft, pilihan balasan, dan scroll. AppController menyediakan sesi dan preferensi global. ApiClient membungkus request dan kegagalan HTTP, sedangkan Realtime mengelola kanal event. Backend memakai satu paket chat dengan beberapa berkas berdasarkan tanggung jawab. Ini adalah pemisahan berkas dalam satu layanan, bukan kumpulan microservice. Mahasiswa dapat membuka fungsi _send di chat_screen.dart lalu mencari sendMessage di messages.go untuk mengikuti satu aksi.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https://github.com/Shofyan/chat-app/blob/750cdac9ecac4614fe7593e056e1b448e07d2e83/backend/cmd/server/main.go</a:t>
            </a:r>
          </a:p>
          <a:p xmlns:a="http://schemas.openxmlformats.org/drawingml/2006/main">
            <a:r>
              <a:t>https://github.com/Shofyan/chat-app/blob/750cdac9ecac4614fe7593e056e1b448e07d2e83/backend/internal/chat/server.go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lifetime state. Token dan preferensi dapat bertahan antar pembukaan aplikasi melalui penyimpanan perangkat. Draft percakapan pada implementasi ini berada dalam state layar sehingga tidak menjadi antrean offline permanen. AppController memiliki Realtime agar koneksi dapat dipakai beberapa layar. ChatScreen mendengarkan event lalu menyaring conversation_id yang relevan. State lokal memakai mounted dan generation untuk mencegah respons lama memperbarui layar yang sudah berubah. Minta mahasiswa menyebutkan akibat stream subscription yang tidak dihentikan saat widget dibuang.</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Urutan penting karena server yang dipilih pengguna harus dipulihkan sebelum request /me. initialize memuat SharedPreferences, lalu secure storage. Jika token ada, Flutter meminta identitas ke server. Respons 401 membersihkan sesi, sedangkan kegagalan lain disimpan sebagai startupError agar gangguan jaringan tidak langsung dianggap logout. Saat token valid, Realtime.start membuka koneksi. Ketika tidak ada token, aplikasi menampilkan autentikasi. Nilai loading kembali false pada akhir proses dan notifyListeners memicu render ulang. Contoh kelas: bandingkan token kedaluwarsa dengan server yang sedang mati.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https://github.com/Shofyan/chat-app/blob/750cdac9ecac4614fe7593e056e1b448e07d2e83/mobile/lib/core/app_controller.dart</a:t>
            </a:r>
          </a:p>
          <a:p xmlns:a="http://schemas.openxmlformats.org/drawingml/2006/main">
            <a:r>
              <a:t>https://github.com/Shofyan/chat-app/blob/750cdac9ecac4614fe7593e056e1b448e07d2e83/mobile/lib/main.dart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lengkap memakai prefix /api/v1. Register menerima name, email, password. Login menerima email dan password. Server tidak menyimpan token mentah. issueSession mengembalikan token sekali dalam respons dan menyimpan hash sebagai primary key sesi. Password dan token menjalani fungsi yang berbeda: bcrypt untuk password, SHA-256 untuk token acak. Jangan mengajarkan sesi ini sebagai JWT karena token tidak membawa klaim yang diverifikasi secara mandiri. Validitas sesi selalu bergantung pada data server. Tanyakan mengapa kebocoran tabel sesi tidak langsung memberikan nilai bearer token yang dapat dipakai.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https://github.com/Shofyan/chat-app/blob/750cdac9ecac4614fe7593e056e1b448e07d2e83/mobile/lib/core/app_controller.dart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https://github.com/Shofyan/chat-app/blob/750cdac9ecac4614fe7593e056e1b448e07d2e83/docs/screenshots/02-register.png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Tegaskan dua tahap pemeriksaan. Token yang valid belum memberi akses ke semua percakapan. Handler perlu mengecek members untuk resource yang diminta. Identitas pengirim tidak berasal dari sender_id yang dikirim klien. logout server mencabut sesi dan hub.revoke memutus koneksi yang memakai hash tersebut. Flutter membersihkan secure storage setelah request logout berhasil. Jika logout gagal karena jaringan, antarmuka dapat mempertahankan status hingga pengguna memilih tindakan lain yang tersedia. Hindari menyimpulkan bahwa menghapus token di perangkat sudah mencabut sesi server.</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https://github.com/Shofyan/chat-app/blob/750cdac9ecac4614fe7593e056e1b448e07d2e83/mobile/lib/core/app_controller.dart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createConversation menerima user_id lawan bicara. Server menolak ID kosong, diri sendiri, dan pengguna yang tidak ada. Pengurutan ID membuat pasangan Rina-Andi menghasilkan kunci yang sama dengan Andi-Rina. Constraint UNIQUE(direct_key) mencegah dua percakapan untuk pasangan yang sama. Transaksi memastikan percakapan dan anggota tersimpan bersama. ON CONFLICT members DO NOTHING memungkinkan pemanggilan berulang. Setelah commit, emit memberi tahu anggota agar daftar percakapan diperbarui. Ini hanya percakapan langsung dua pengguna. Skema dan endpoint saat ini belum menyediakan pembuatan grup.</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https://github.com/Shofyan/chat-app/blob/750cdac9ecac4614fe7593e056e1b448e07d2e83/docs/screenshots/05-new-chat.png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 daftar dimulai dari anggota milik currentUser sehingga percakapan di luar keanggotaan tidak ikut tampil. Pesan terakhir membantu pengguna mengenali aktivitas terbaru. Unread count bergantung pada posisi baca anggota dibanding waktu pesan lawan. Status online berasal dari koneksi hub, bukan kolom permanen users. Layar home mendengarkan event perubahan untuk menyegarkan daftar. Jelaskan tradeoff memuat ulang ringkasan: implementasi lebih mudah dipahami, tetapi permintaan tambahan perlu dievaluasi ketika volume event meningkat. Tanyakan mengapa penerimaan event saja belum cukup untuk menghitung ringkasan secara konsisten setelah reconnect.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https://github.com/Shofyan/chat-app/blob/750cdac9ecac4614fe7593e056e1b448e07d2e83/mobile/lib/screens/home_screen.dart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https://github.com/Shofyan/chat-app/blob/750cdac9ecac4614fe7593e056e1b448e07d2e83/docs/screenshots/04-conversations.png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Minta mahasiswa membedakan identitas user dengan identitas sesi. Satu user dapat memiliki beberapa sesi dan beberapa koneksi. members memakai primary key gabungan conversation_id dan user_id. messages memakai BIGINT identity dan unique sender_id,client_id untuk retry. reply_to_id mengacu ke messages, tetapi foreign key saja tidak membuktikan bahwa balasan ada dalam percakapan yang sama. Handler memeriksa aturan tersebut. attachments terikat conversation dan owner agar tidak bisa dipasang sembarang pengirim. reactions menggunakan pasangan message,user sebagai primary key. Buka schema.sql untuk membaca constraint yang mendukung aturan bisnis.</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Nama attachment_id dan reply_to_id bersifat opsional pada pengiriman pesan. text boleh kosong apabila ada lampiran. client_id tetap wajib. Respons pesan memakai representasi yang sama dengan event real-time sehingga klien dapat memakai parser Message.fromJson yang sama. ID pesan dikirim sebagai string untuk menjaga ketepatan nilai BIGINT lintas platform. Status 204 berarti tidak ada body JSON yang perlu diparsing. Endpoint lampiran dibahas pada bagian media. Ajak mahasiswa menulis request contoh dengan ID fiktif, bukan menggunakan token nyata di slide atau repositori.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https://github.com/Shofyan/chat-app/blob/750cdac9ecac4614fe7593e056e1b448e07d2e83/docs/api.md</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https://github.com/Shofyan/chat-app/blob/750cdac9ecac4614fe7593e056e1b448e07d2e83/backend/internal/chat/messages.go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Ikuti fungsi sendMessage. Server memeriksa sesi melalui middleware lalu keanggotaan, payload, balasan, dan lampiran. INSERT mengembalikan ID. Server membaca messageJSON untuk membentuk representasi lengkap, memanggil emit, lalu mengirim respons 201. Diagram menunjukkan urutan pemanggilan pada server, bukan jaminan urutan kedatangan melalui jaringan. Pengirim juga dapat menerima event dari hub. Karena itu, Flutter menggabungkan berdasarkan ID, bukan menambah semua data secara buta. Penyimpanan database dan pengiriman event belum memakai transactional outbox sehingga kegagalan proses sesudah insert dapat menyebabkan event terlewat. REST saat reconnect memulihkan tampilan.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batas payload JSON dengan batas panjang teks. decode membatasi keseluruhan body hingga 16 KiB, menolak Content-Encoding, memeriksa objek JSON tunggal, field duplikat, dan field tidak dikenal. sendMessage melakukan TrimSpace lalu menghitung rune Unicode sehingga batas karakter bukan sekadar jumlah byte teks. Empty text hanya sah jika attachment_id terisi. Server mengambil sender dari sesi. Representasi hasil memudahkan Flutter memakai satu model untuk HTTP dan WebSocket. Tanyakan perbedaan tanggung jawab pemeriksaan form Flutter dengan validasi backend yang tetap wajib untuk semua klien.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https://github.com/Shofyan/chat-app/blob/750cdac9ecac4614fe7593e056e1b448e07d2e83/backend/internal/chat/messages.go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skenario: server menyimpan pesan tetapi koneksi terputus sebelum respons diterima. Flutter masih menyimpan draft karena blok sukses belum berjalan. Saat pengguna mengirim ulang isi yang sama, signature tidak berubah sehingga client_id tetap sama. SQL ON CONFLICT hanya mengembalikan ID bila conversation,text,attachment,reply identik. Jika isi berbeda, query tidak mengembalikan baris dan server merespons 409. Setelah sukses, Flutter membersihkan draft ID. Mekanisme ini menjaga satu record pesan, tetapi event dapat muncul ulang dan perlu di-upsert. Jangan menyamakan ini dengan jaminan exactly-once delivery menyeluruh.</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Pagination menggunakan cursor ID agar klien tidak perlu menghitung offset yang mudah bergeser saat pesan baru masuk. Request pertama tidak memerlukan before. Ketika memuat riwayat lama, Flutter mengirim ID pertama di daftar kronologis. Server mengambil 51 untuk mengetahui apakah masih ada halaman berikutnya, memangkas menjadi 50, lalu membalik urutan. Indeks messages_conversation pada conversation_id,id DESC mendukung pola ini. _upsert mengganti pesan dengan ID yang sudah ada untuk mencegah duplikasi antara respons REST dan event. Tanyakan mengapa string ID tidak boleh diurutkan secara leksikografis.</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https://github.com/Shofyan/chat-app/blob/750cdac9ecac4614fe7593e056e1b448e07d2e83/mobile/lib/screens/chat_screen.dart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https://github.com/Shofyan/chat-app/blob/750cdac9ecac4614fe7593e056e1b448e07d2e83/docs/screenshots/07-chat.png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membuka WebSocket dengan skema ws untuk HTTP dan wss untuk HTTPS. Token berada pada frame autentikasi, bukan query URL. Backend memeriksa origin di handler luar sebelum upgrade. Read limit frame 16 KiB menjaga ukuran pesan masuk. Hub menyimpan koneksi per user sehingga satu akun bisa memiliki beberapa koneksi. send queue memiliki kapasitas 64. Writer mencegah beberapa penulis bersamaan pada koneksi yang sama. Ping dan pemeriksaan sesi berkala membantu mendeteksi koneksi mati atau sesi berakhir. Buka realtime.go untuk melihat defer yang menutup koneksi dan menghapus client dari hub.</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https://github.com/Shofyan/chat-app/blob/750cdac9ecac4614fe7593e056e1b448e07d2e83/mobile/lib/core/realtime.dart</a:t>
            </a:r>
          </a:p>
          <a:p xmlns:a="http://schemas.openxmlformats.org/drawingml/2006/main">
            <a:r>
              <a:t>https://github.com/Shofyan/chat-app/blob/750cdac9ecac4614fe7593e056e1b448e07d2e83/backend/internal/chat/realtime.go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 adalah pemberitahuan perubahan. REST tetap menyediakan snapshot yang dapat diminta kembali. ChatScreen memproses presence berdasarkan peer.id, lalu menyaring conversation_id untuk event percakapan. Event reaction menghapus reaksi lama user yang sama sebelum menambah nilai baru. emoji kosong menandakan penghapusan. Event read dari pengguna sendiri tidak dianggap sebagai bukti lawan membaca. Pesan yang datang melalui event dapat lebih cepat daripada respons HTTP sehingga _upsert wajib menangani keduanya. Jelaskan bahwa ready juga muncul setelah reconnect, maka pemuatan ulang data adalah bagian pemulihan.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https://github.com/Shofyan/chat-app/blob/750cdac9ecac4614fe7593e056e1b448e07d2e83/mobile/lib/screens/home_screen.dart</a:t>
            </a:r>
          </a:p>
          <a:p xmlns:a="http://schemas.openxmlformats.org/drawingml/2006/main">
            <a:r>
              <a:t>https://github.com/Shofyan/chat-app/blob/750cdac9ecac4614fe7593e056e1b448e07d2e83/backend/internal/chat/realtime.go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Pada Realtime, _generation bertambah untuk setiap percobaan baru. Callback dari koneksi lama tidak boleh menjadwalkan reconnect atau menimpa status koneksi baru. Nilai attempt kembali nol setelah ready. ChatScreen juga memiliki loadGeneration agar request yang lebih lama tidak menggantikan hasil request baru. Saat snapshot diterima, pesan dengan ID lebih baru yang sudah masuk selama request dipertahankan. Pemulihan ini tidak berarti semua riwayat lama selalu tersimpan lokal. Tanyakan bagaimana snapshot REST menolong ketika event gagal terkirim setelah database berhasil menyimpan pesan.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https://github.com/Shofyan/chat-app/blob/750cdac9ecac4614fe7593e056e1b448e07d2e83/mobile/lib/core/realtime.dart</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https://github.com/Shofyan/chat-app/blob/750cdac9ecac4614fe7593e056e1b448e07d2e83/backend/internal/chat/realtime.go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Presence menyebar kepada kontak yang terhubung melalui percakapan. Hub menambahkan dan menghapus client saat koneksi berubah. Typing merupakan event sementara yang tidak disimpan pada tabel. Server mengabaikan jenis pesan masuk selain typing setelah fase autentikasi. Pengecekan membership mencegah user menyebarkan indikator ke conversation lain. UI menghapus indikator setelah timer agar status tidak menggantung ketika frame typing=false hilang. Tanyakan mengapa typing tidak perlu menjadi riwayat permanen, sedangkan read position perlu bertahan ketika aplikasi dimulai ulang.</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Membuka koneksi atau menerima event tidak otomatis membuat pesan terbaca. _markRead memiliki beberapa guard termasuk _reading dan _readThrough agar request tidak berulang tanpa perubahan. Server memastikan message_id berada di percakapan tersebut. UPDATE mengambil created_at pesan untuk last_read_at. GREATEST melindungi posisi baca dari request yang datang tidak berurutan. Setelah update, server memancarkan user_id dan message_id. Tanyakan perilaku yang diharapkan ketika pengguna sedang membaca pesan lama dan pesan baru masuk. Status baca pada UI adalah hasil kebijakan aplikasi, bukan bukti bahwa manusia memahami isi pesan.</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Balasan tidak perlu menggandakan seluruh pesan asal dalam request klien. Klien mengirim ID, lalu server mengambil representasi yang sesuai. Foreign key reply_to_id menjaga referensi mengarah ke record pesan, sementara validasi conversation_id memastikan relasi berada dalam chat yang sama. Ini contoh aturan bisnis yang tidak selesai hanya dengan foreign key sederhana. Jika pengiriman gagal, pilihan balasan masih berada pada draft aktif. Minta mahasiswa menjelaskan kemungkinan serangan jika server hanya mempercayai ID balasan dari klien tanpa memeriksa conversation_id.</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https://github.com/Shofyan/chat-app/blob/750cdac9ecac4614fe7593e056e1b448e07d2e83/docs/screenshots/13-reply.png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terlebih dahulu menemukan conversation dari message_id dan memeriksa membership. Daftar emoji yang diizinkan mencakup enam pilihan pada implementasi. String kosong menjalankan DELETE, sedangkan nilai lain memakai ON CONFLICT DO UPDATE. Setelah sukses respons 204 tidak memiliki body. Event membawa message_id,user_id,emoji. Klien harus memakai user_id untuk mengganti reaksi pengguna tersebut tanpa menghapus pilihan anggota lain. Tanyakan mengapa primary key yang hanya berisi message_id akan merusak fitur reaksi dua pengguna.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https://github.com/Shofyan/chat-app/blob/750cdac9ecac4614fe7593e056e1b448e07d2e83/backend/internal/chat/messages.go</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https://github.com/Shofyan/chat-app/blob/750cdac9ecac4614fe7593e056e1b448e07d2e83/mobile/lib/screens/chat_screen.dart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https://github.com/Shofyan/chat-app/blob/750cdac9ecac4614fe7593e056e1b448e07d2e83/docs/screenshots/12-reactions.png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dan send message merupakan dua request terpisah. Server menyimpan lampiran lebih dahulu agar pengiriman pesan dapat mengacu pada ID yang valid. Flutter menyimpan pilihan lampiran pada draft sampai send sukses. Jika upload sukses tetapi pesan tidak pernah dikirim, record lampiran dapat tersisa karena implementasi belum menyediakan proses pembersihan orphan terjadwal. Jangan mengajarkan keduanya sebagai satu transaksi lintas request. Untuk latihan, minta mahasiswa menggambar kondisi gagal sebelum upload, setelah upload, dan setelah pesan tersimpan, lalu menentukan tindakan UI pada masing-masing kondisi.</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https://github.com/Shofyan/chat-app/blob/750cdac9ecac4614fe7593e056e1b448e07d2e83/mobile/lib/core/api.dart</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https://github.com/Shofyan/chat-app/blob/750cdac9ecac4614fe7593e056e1b448e07d2e83/backend/internal/chat/messages.go</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https://github.com/Shofyan/chat-app/blob/750cdac9ecac4614fe7593e056e1b448e07d2e83/docs/screenshots/11-attachments.png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Batas konstan maxFile adalah 8&lt;&lt;20 yaitu 8.388.608 byte atau 8 MiB, walaupun pesan UI memakai istilah MB. Body multipart mendapat tambahan toleransi metadata 64 KiB. DetectContentType menggunakan isi byte sehingga ekstensi file saja tidak menentukan izin. Data tersimpan di BYTEA bersama metadata. download memuat file lalu memastikan pengguna adalah owner atau anggota conversation sebelum ServeContent. Content-Disposition memakai attachment dan nama yang diformat aman. Pilihan menyimpan byte di database menyederhanakan proyek, tetapi ukuran backup dan penggunaan memori perlu dipertimbangkan untuk skala lebih besar.</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https://github.com/Shofyan/chat-app/blob/750cdac9ecac4614fe7593e056e1b448e07d2e83/backend/internal/chat/schema.sql</a:t>
            </a:r>
          </a:p>
          <a:p xmlns:a="http://schemas.openxmlformats.org/drawingml/2006/main">
            <a:r>
              <a:t>https://github.com/Shofyan/chat-app/blob/750cdac9ecac4614fe7593e056e1b448e07d2e83/mobile/lib/core/api.dart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https://github.com/Shofyan/chat-app/blob/750cdac9ecac4614fe7593e056e1b448e07d2e83/docs/screenshots/10-image-viewer.png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bahwa pencarian lokal belum menjadi pencarian server atas seluruh arsip. Kata yang tidak muncul pada halaman pesan yang sudah dimuat dapat memberi hasil kosong meskipun ada pada riwayat lama. Preferensi tema memakai ThemeMode system,light,dark. setServer memvalidasi skema http/https, host, serta menolak userInfo, query, fragment, dan path tambahan. Penyimpanan token menggunakan secure storage karena merupakan kredensial akses. SharedPreferences dipakai untuk nilai konfigurasi yang tidak rahasia. Tanyakan perubahan API dan indeks yang mungkin dibutuhkan jika pencarian harus meliputi seluruh riwayat.</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https://github.com/Shofyan/chat-app/blob/750cdac9ecac4614fe7593e056e1b448e07d2e83/mobile/lib/screens/chat_screen.dart</a:t>
            </a:r>
          </a:p>
          <a:p xmlns:a="http://schemas.openxmlformats.org/drawingml/2006/main">
            <a:r>
              <a:t>https://github.com/Shofyan/chat-app/blob/750cdac9ecac4614fe7593e056e1b448e07d2e83/mobile/lib/screens/profile_screen.dart</a:t>
            </a:r>
          </a:p>
          <a:p xmlns:a="http://schemas.openxmlformats.org/drawingml/2006/main">
            <a:r>
              <a:t>https://github.com/Shofyan/chat-app/blob/750cdac9ecac4614fe7593e056e1b448e07d2e83/mobile/lib/core/app_controller.dart</a:t>
            </a:r>
          </a:p>
          <a:p xmlns:a="http://schemas.openxmlformats.org/drawingml/2006/main">
            <a:r>
              <a:t/>
            </a:r>
          </a:p>
          <a:p xmlns:a="http://schemas.openxmlformats.org/drawingml/2006/main">
            <a:r>
              <a:t>Sumber screenshot:</a:t>
            </a:r>
          </a:p>
          <a:p xmlns:a="http://schemas.openxmlformats.org/drawingml/2006/main">
            <a:r>
              <a:t>https://github.com/Shofyan/chat-app/blob/750cdac9ecac4614fe7593e056e1b448e07d2e83/docs/screenshots/14-search.png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Gunakan satu contoh per kelas kesalahan: client_id terlalu pendek menghasilkan input invalid, token tidak sah menghasilkan 401, akses chat orang lain menghasilkan 403, dan pengulangan ID dengan isi berbeda menghasilkan 409. Origin allowlist mengendalikan permintaan browser yang membawa Origin, sementara autentikasi tetap diperlukan. Error internal dicatat oleh slog dan respons tidak memaparkan detail SQL. Backend memberi header nosniff dan no-store. Jangan menyebut aplikasi sudah siap produksi hanya karena beberapa kontrol dasar tersedia. Pembahasan produksi perlu memasukkan rahasia, TLS, monitoring, backup, serta pengelolaan data.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https://github.com/Shofyan/chat-app/blob/750cdac9ecac4614fe7593e056e1b448e07d2e83/backend/internal/chat/server.go</a:t>
            </a:r>
          </a:p>
          <a:p xmlns:a="http://schemas.openxmlformats.org/drawingml/2006/main">
            <a:r>
              <a:t>https://github.com/Shofyan/chat-app/blob/750cdac9ecac4614fe7593e056e1b448e07d2e83/backend/internal/chat/auth.go</a:t>
            </a:r>
          </a:p>
          <a:p xmlns:a="http://schemas.openxmlformats.org/drawingml/2006/main">
            <a:r>
              <a:t>https://github.com/Shofyan/chat-app/blob/750cdac9ecac4614fe7593e056e1b448e07d2e83/backend/internal/chat/media.go</a:t>
            </a:r>
          </a:p>
          <a:p xmlns:a="http://schemas.openxmlformats.org/drawingml/2006/main">
            <a:r>
              <a:t>https://github.com/Shofyan/chat-app/blob/750cdac9ecac4614fe7593e056e1b448e07d2e83/backend/cmd/server/main.go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Dockerfile memakai golang:1.25-alpine untuk kompilasi CGO_ENABLED=0, lalu menyalin executable ke Alpine runtime dengan user UID 10001. Compose menerbitkan port API, tanpa menerbitkan port database. DATABASE_URL menggunakan hostname db yang hanya bermakna dalam jaringan Compose. depends_on service_healthy menunggu pg_isready. API juga memiliki /health yang memeriksa DB. Volume postgres_data bertahan saat container dibuat ulang, tetapi docker compose down -v menghapus volume. Pada ponsel fisik gunakan IP komputer di Wi-Fi yang sama. Port 18081 di beberapa screenshot berasal dari backend pengujian, bukan default Compose.</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https://github.com/Shofyan/chat-app/blob/750cdac9ecac4614fe7593e056e1b448e07d2e83/backend/Dockerfile</a:t>
            </a:r>
          </a:p>
          <a:p xmlns:a="http://schemas.openxmlformats.org/drawingml/2006/main">
            <a:r>
              <a:t>https://github.com/Shofyan/chat-app/blob/750cdac9ecac4614fe7593e056e1b448e07d2e83/compose.yaml</a:t>
            </a:r>
          </a:p>
          <a:p xmlns:a="http://schemas.openxmlformats.org/drawingml/2006/main">
            <a:r>
              <a:t>https://github.com/Shofyan/chat-app/blob/750cdac9ecac4614fe7593e056e1b448e07d2e83/mobile/lib/core/app_controller.dart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Bedakan test yang sudah tersedia dengan eksperimen kelas yang perlu dijalankan. Repositori memuat backend integration tests, Flutter widget tests, serta alur Android screenshot end-to-end. Workflow CI adalah konfigurasi yang tersedia dan bukan bukti bahwa semua run GitHub terbaru sukses. Untuk demo kegagalan, hentikan jaringan setelah pesan tersimpan dan amati retry dengan client_id tetap. Uji izin memakai user ketiga yang bukan anggota chat. Jangan hanya memeriksa status HTTP sukses, periksa juga record dan efek pada UI lawan. Local Go race tests dan build yang pernah dijalankan memberi bukti pada revisi saat pengujian, bukan jaminan untuk semua perubahan berikutnya.</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https://github.com/Shofyan/chat-app/blob/750cdac9ecac4614fe7593e056e1b448e07d2e83/backend/internal/chat/server_test.go</a:t>
            </a:r>
          </a:p>
          <a:p xmlns:a="http://schemas.openxmlformats.org/drawingml/2006/main">
            <a:r>
              <a:t>https://github.com/Shofyan/chat-app/blob/750cdac9ecac4614fe7593e056e1b448e07d2e83/mobile/test/widget_test.dart</a:t>
            </a:r>
          </a:p>
          <a:p xmlns:a="http://schemas.openxmlformats.org/drawingml/2006/main">
            <a:r>
              <a:t>https://github.com/Shofyan/chat-app/blob/750cdac9ecac4614fe7593e056e1b448e07d2e83/mobile/integration_test/chat_test.dart</a:t>
            </a:r>
          </a:p>
          <a:p xmlns:a="http://schemas.openxmlformats.org/drawingml/2006/main">
            <a:r>
              <a:t>https://github.com/Shofyan/chat-app/blob/750cdac9ecac4614fe7593e056e1b448e07d2e83/.github/workflows/ci.yml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Jawaban kasus pertama: draft aktif mempertahankan identitas bila signature tetap sama. Server mengembalikan record yang sama untuk payload identik dan Flutter menggabungkan ID tanpa duplikasi. Jawaban kedua: token mengidentifikasi user, sedangkan kepemilikan dan membership menentukan hak mengakses file. Tugas dapat dikerjakan berkelompok tetapi implementasi perlu dinilai berdasarkan perilaku ketika gagal, bukan hanya demo sukses. Pencarian server memerlukan endpoint dan strategi query. Antrean offline memerlukan penyimpanan durable, status pengiriman, dan retry. Repositori github.com/Shofyan/chat-app bersifat private sehingga akses mahasiswa memerlukan izin pemilik.</a:t>
            </a:r>
          </a:p>
          <a:p xmlns:a="http://schemas.openxmlformats.org/drawingml/2006/main">
            <a:r>
              <a:t/>
            </a:r>
          </a:p>
          <a:p xmlns:a="http://schemas.openxmlformats.org/drawingml/2006/main">
            <a:r>
              <a:t>Sumber proyek:</a:t>
            </a:r>
          </a:p>
          <a:p xmlns:a="http://schemas.openxmlformats.org/drawingml/2006/main">
            <a:r>
              <a:t>https://github.com/Shofyan/chat-app/blob/750cdac9ecac4614fe7593e056e1b448e07d2e83/README.md</a:t>
            </a:r>
          </a:p>
          <a:p xmlns:a="http://schemas.openxmlformats.org/drawingml/2006/main">
            <a:r>
              <a:t>https://github.com/Shofyan/chat-app/blob/750cdac9ecac4614fe7593e056e1b448e07d2e83/backend/internal/chat/realtime.go</a:t>
            </a:r>
          </a:p>
          <a:p xmlns:a="http://schemas.openxmlformats.org/drawingml/2006/main">
            <a:r>
              <a:t>https://github.com/Shofyan/chat-app/blob/750cdac9ecac4614fe7593e056e1b448e07d2e83/mobile/lib/screens/chat_screen.dart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12dee5c5fb46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fb0955d7e64a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67a764942640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cb6d9943244c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6e55e8c0b34a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57a6902c624c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167555-6C2C-46AF-AFD8-63CB0511470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A3296C-CD02-4395-830E-754C62E0747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9D7779-CF0D-4FC1-B087-1DDD3C1C265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EE4C4D-1EDA-4160-AE0D-6884A05B00B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83BA04-7DC6-4AF5-8C02-099018A3072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034C92F-E023-4F38-B994-6D55B30A61F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368EB5-3DBF-4564-8172-4445D6C1BD5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85B2C9-9E54-4039-9BE8-798F4EC3158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14F432-001D-41C7-B335-B402F90B3B4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B37E1F-76FA-47F1-90BF-FB015C1B357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286b21e8fd4fb8" /><Relationship Type="http://schemas.openxmlformats.org/officeDocument/2006/relationships/slideLayout" Target="/ppt/slideLayouts/slideLayout1.xml" Id="R775341b99bd34286" /><Relationship Type="http://schemas.openxmlformats.org/officeDocument/2006/relationships/slideLayout" Target="/ppt/slideLayouts/slideLayout2.xml" Id="Re453e895f2794222" /><Relationship Type="http://schemas.openxmlformats.org/officeDocument/2006/relationships/slideLayout" Target="/ppt/slideLayouts/slideLayout3.xml" Id="R32b13484921b4a59" /><Relationship Type="http://schemas.openxmlformats.org/officeDocument/2006/relationships/slideLayout" Target="/ppt/slideLayouts/slideLayout4.xml" Id="R611caeab3a23413c" /><Relationship Type="http://schemas.openxmlformats.org/officeDocument/2006/relationships/slideLayout" Target="/ppt/slideLayouts/slideLayout5.xml" Id="Rfa8d39f926dc4994" /><Relationship Type="http://schemas.openxmlformats.org/officeDocument/2006/relationships/slideLayout" Target="/ppt/slideLayouts/slideLayout6.xml" Id="R3dfa4f65c1754f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5341b99bd34286"/>
    <p:sldLayoutId xmlns:r="http://schemas.openxmlformats.org/officeDocument/2006/relationships" id="2147483650" r:id="Re453e895f2794222"/>
    <p:sldLayoutId xmlns:r="http://schemas.openxmlformats.org/officeDocument/2006/relationships" id="2147483651" r:id="R32b13484921b4a59"/>
    <p:sldLayoutId xmlns:r="http://schemas.openxmlformats.org/officeDocument/2006/relationships" id="2147483652" r:id="R611caeab3a23413c"/>
    <p:sldLayoutId xmlns:r="http://schemas.openxmlformats.org/officeDocument/2006/relationships" id="2147483653" r:id="Rfa8d39f926dc4994"/>
    <p:sldLayoutId xmlns:r="http://schemas.openxmlformats.org/officeDocument/2006/relationships" id="2147483654" r:id="R3dfa4f65c1754f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af14199ba1423a" /><Relationship Type="http://schemas.openxmlformats.org/officeDocument/2006/relationships/image" Target="/ppt/media/image.png" Id="Rb25427b39ec44762" /><Relationship Type="http://schemas.openxmlformats.org/officeDocument/2006/relationships/notesSlide" Target="/ppt/notesSlides/notesSlide1.xml" Id="R0c6449d7529e4d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3a29a108134e4e" /><Relationship Type="http://schemas.openxmlformats.org/officeDocument/2006/relationships/notesSlide" Target="/ppt/notesSlides/notesSlide2.xml" Id="Rc89ea09be0be44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6357073c254c84" /><Relationship Type="http://schemas.openxmlformats.org/officeDocument/2006/relationships/notesSlide" Target="/ppt/notesSlides/notesSlide3.xml" Id="Rb338a01a991b42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70715a86554947" /><Relationship Type="http://schemas.openxmlformats.org/officeDocument/2006/relationships/notesSlide" Target="/ppt/notesSlides/notesSlide4.xml" Id="Rf5110c42eb9b45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001e8db58c44f34" /><Relationship Type="http://schemas.openxmlformats.org/officeDocument/2006/relationships/notesSlide" Target="/ppt/notesSlides/notesSlide5.xml" Id="Rabb89fb4df5247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b82ef5e5f64bd2" /><Relationship Type="http://schemas.openxmlformats.org/officeDocument/2006/relationships/notesSlide" Target="/ppt/notesSlides/notesSlide6.xml" Id="R6e78a1b7398e4a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0a279ddde44a97" /><Relationship Type="http://schemas.openxmlformats.org/officeDocument/2006/relationships/image" Target="/ppt/media/image2.png" Id="R62cab2fb62bc4e91" /><Relationship Type="http://schemas.openxmlformats.org/officeDocument/2006/relationships/notesSlide" Target="/ppt/notesSlides/notesSlide7.xml" Id="R91458e6b4f774a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5bf89e1ffe4ad4" /><Relationship Type="http://schemas.openxmlformats.org/officeDocument/2006/relationships/notesSlide" Target="/ppt/notesSlides/notesSlide8.xml" Id="R2f7e795cc20c4f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ce83c4876e40a7" /><Relationship Type="http://schemas.openxmlformats.org/officeDocument/2006/relationships/image" Target="/ppt/media/image3.png" Id="R20f3b66b0ebc48c5" /><Relationship Type="http://schemas.openxmlformats.org/officeDocument/2006/relationships/notesSlide" Target="/ppt/notesSlides/notesSlide9.xml" Id="R23fc253a26d645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6c9e19bc474354" /><Relationship Type="http://schemas.openxmlformats.org/officeDocument/2006/relationships/image" Target="/ppt/media/image4.png" Id="R5dc81611fc8f443b" /><Relationship Type="http://schemas.openxmlformats.org/officeDocument/2006/relationships/notesSlide" Target="/ppt/notesSlides/notesSlide10.xml" Id="R5e96dbb112dd46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f17024b5584650" /><Relationship Type="http://schemas.openxmlformats.org/officeDocument/2006/relationships/notesSlide" Target="/ppt/notesSlides/notesSlide11.xml" Id="R70983b6a5f254e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b1f7ced3f64f92" /><Relationship Type="http://schemas.openxmlformats.org/officeDocument/2006/relationships/notesSlide" Target="/ppt/notesSlides/notesSlide12.xml" Id="R2e2fe63a059046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7ba9bd1e51467a" /><Relationship Type="http://schemas.openxmlformats.org/officeDocument/2006/relationships/notesSlide" Target="/ppt/notesSlides/notesSlide13.xml" Id="Ra490ac1fbe774d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78250a2da74beb" /><Relationship Type="http://schemas.openxmlformats.org/officeDocument/2006/relationships/notesSlide" Target="/ppt/notesSlides/notesSlide14.xml" Id="R376190cbe99741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888f964c2c241fb" /><Relationship Type="http://schemas.openxmlformats.org/officeDocument/2006/relationships/notesSlide" Target="/ppt/notesSlides/notesSlide15.xml" Id="Ra395fdb2828c45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3128aaf2c8c4f37" /><Relationship Type="http://schemas.openxmlformats.org/officeDocument/2006/relationships/image" Target="/ppt/media/image5.png" Id="R6093378cc9834071" /><Relationship Type="http://schemas.openxmlformats.org/officeDocument/2006/relationships/notesSlide" Target="/ppt/notesSlides/notesSlide16.xml" Id="Ra97bbb2750dd4d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5fc2816f9b4437e" /><Relationship Type="http://schemas.openxmlformats.org/officeDocument/2006/relationships/notesSlide" Target="/ppt/notesSlides/notesSlide17.xml" Id="R3b9b6caf02a346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7223ded5945423e" /><Relationship Type="http://schemas.openxmlformats.org/officeDocument/2006/relationships/notesSlide" Target="/ppt/notesSlides/notesSlide18.xml" Id="R7967661157f646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144a979788e4cdb" /><Relationship Type="http://schemas.openxmlformats.org/officeDocument/2006/relationships/notesSlide" Target="/ppt/notesSlides/notesSlide19.xml" Id="Rca17a8a459764f2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7eb2febd0454b39" /><Relationship Type="http://schemas.openxmlformats.org/officeDocument/2006/relationships/notesSlide" Target="/ppt/notesSlides/notesSlide20.xml" Id="R98bf02bb3ef743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1d43c38ce274d6b" /><Relationship Type="http://schemas.openxmlformats.org/officeDocument/2006/relationships/notesSlide" Target="/ppt/notesSlides/notesSlide21.xml" Id="Re30b86c38a3140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fbb999e05584700" /><Relationship Type="http://schemas.openxmlformats.org/officeDocument/2006/relationships/image" Target="/ppt/media/image6.png" Id="Rfcd547b3fd5f4a5a" /><Relationship Type="http://schemas.openxmlformats.org/officeDocument/2006/relationships/notesSlide" Target="/ppt/notesSlides/notesSlide22.xml" Id="R70027be2b71e4d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c3379ccb70048c0" /><Relationship Type="http://schemas.openxmlformats.org/officeDocument/2006/relationships/image" Target="/ppt/media/image7.png" Id="Ra717a42480b440a7" /><Relationship Type="http://schemas.openxmlformats.org/officeDocument/2006/relationships/notesSlide" Target="/ppt/notesSlides/notesSlide23.xml" Id="Ref7c946d2b1941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920ed2a2e614e87" /><Relationship Type="http://schemas.openxmlformats.org/officeDocument/2006/relationships/image" Target="/ppt/media/image8.png" Id="Rfbfec4173b234ad7" /><Relationship Type="http://schemas.openxmlformats.org/officeDocument/2006/relationships/notesSlide" Target="/ppt/notesSlides/notesSlide24.xml" Id="R99a181bd5f054e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d7d7f6c1ba9408e" /><Relationship Type="http://schemas.openxmlformats.org/officeDocument/2006/relationships/image" Target="/ppt/media/image9.png" Id="R83ffb29c4fe34faa" /><Relationship Type="http://schemas.openxmlformats.org/officeDocument/2006/relationships/notesSlide" Target="/ppt/notesSlides/notesSlide25.xml" Id="R17edc8243d5f4b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eca2afa08274dff" /><Relationship Type="http://schemas.openxmlformats.org/officeDocument/2006/relationships/image" Target="/ppt/media/image10.png" Id="Rb269b12b76b04409" /><Relationship Type="http://schemas.openxmlformats.org/officeDocument/2006/relationships/notesSlide" Target="/ppt/notesSlides/notesSlide26.xml" Id="Rc39e15da938845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0da4e9a6aed425e" /><Relationship Type="http://schemas.openxmlformats.org/officeDocument/2006/relationships/notesSlide" Target="/ppt/notesSlides/notesSlide27.xml" Id="R8d7b169cadc148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af9b29ee3d34965" /><Relationship Type="http://schemas.openxmlformats.org/officeDocument/2006/relationships/notesSlide" Target="/ppt/notesSlides/notesSlide28.xml" Id="Rc66908c5148f44f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8d72be27f1948ee" /><Relationship Type="http://schemas.openxmlformats.org/officeDocument/2006/relationships/notesSlide" Target="/ppt/notesSlides/notesSlide29.xml" Id="R5c66833a9d4941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9c88bf2af804c8e" /><Relationship Type="http://schemas.openxmlformats.org/officeDocument/2006/relationships/notesSlide" Target="/ppt/notesSlides/notesSlide30.xml" Id="R505c2d44cbea40ed"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ECD46AEA-763B-45E1-BDD1-B9B5EEC2F592}"/>
              </a:ext>
            </a:extLst>
          </p:cNvPr>
          <p:cNvSpPr>
            <a:spLocks xmlns:a="http://schemas.openxmlformats.org/drawingml/2006/main" noGrp="1"/>
          </p:cNvSpPr>
          <p:nvPr/>
        </p:nvSpPr>
        <p:spPr>
          <a:xfrm xmlns:a="http://schemas.openxmlformats.org/drawingml/2006/main">
            <a:off x="914400" y="1790700"/>
            <a:ext cx="1047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defRPr sz="7500" b="1">
                <a:solidFill>
                  <a:srgbClr val="FFFFFF"/>
                </a:solidFill>
                <a:latin typeface="Arial"/>
                <a:ea typeface="Arial"/>
                <a:cs typeface="Arial"/>
              </a:defRPr>
            </a:lvl1pPr>
            <a:lvl2pPr algn="l">
              <a:defRPr sz="7500" b="1">
                <a:solidFill>
                  <a:srgbClr val="FFFFFF"/>
                </a:solidFill>
                <a:latin typeface="Arial"/>
                <a:ea typeface="Arial"/>
                <a:cs typeface="Arial"/>
              </a:defRPr>
            </a:lvl2pPr>
            <a:lvl3pPr algn="l">
              <a:defRPr sz="7500" b="1">
                <a:solidFill>
                  <a:srgbClr val="FFFFFF"/>
                </a:solidFill>
                <a:latin typeface="Arial"/>
                <a:ea typeface="Arial"/>
                <a:cs typeface="Arial"/>
              </a:defRPr>
            </a:lvl3pPr>
            <a:lvl4pPr algn="l">
              <a:defRPr sz="7500" b="1">
                <a:solidFill>
                  <a:srgbClr val="FFFFFF"/>
                </a:solidFill>
                <a:latin typeface="Arial"/>
                <a:ea typeface="Arial"/>
                <a:cs typeface="Arial"/>
              </a:defRPr>
            </a:lvl4pPr>
            <a:lvl5pPr algn="l">
              <a:defRPr sz="7500" b="1">
                <a:solidFill>
                  <a:srgbClr val="FFFFFF"/>
                </a:solidFill>
                <a:latin typeface="Arial"/>
                <a:ea typeface="Arial"/>
                <a:cs typeface="Arial"/>
              </a:defRPr>
            </a:lvl5pPr>
            <a:lvl6pPr algn="l">
              <a:defRPr sz="7500" b="1">
                <a:solidFill>
                  <a:srgbClr val="FFFFFF"/>
                </a:solidFill>
                <a:latin typeface="Arial"/>
                <a:ea typeface="Arial"/>
                <a:cs typeface="Arial"/>
              </a:defRPr>
            </a:lvl6pPr>
            <a:lvl7pPr algn="l">
              <a:defRPr sz="7500" b="1">
                <a:solidFill>
                  <a:srgbClr val="FFFFFF"/>
                </a:solidFill>
                <a:latin typeface="Arial"/>
                <a:ea typeface="Arial"/>
                <a:cs typeface="Arial"/>
              </a:defRPr>
            </a:lvl7pPr>
            <a:lvl8pPr algn="l">
              <a:defRPr sz="7500" b="1">
                <a:solidFill>
                  <a:srgbClr val="FFFFFF"/>
                </a:solidFill>
                <a:latin typeface="Arial"/>
                <a:ea typeface="Arial"/>
                <a:cs typeface="Arial"/>
              </a:defRPr>
            </a:lvl8pPr>
            <a:lvl9pPr algn="l">
              <a:defRPr sz="7500" b="1">
                <a:solidFill>
                  <a:srgbClr val="FFFFFF"/>
                </a:solidFill>
                <a:latin typeface="Arial"/>
                <a:ea typeface="Arial"/>
                <a:cs typeface="Arial"/>
              </a:defRPr>
            </a:lvl9pPr>
          </a:lstStyle>
          <a:p xmlns:a="http://schemas.openxmlformats.org/drawingml/2006/main">
            <a:pPr algn="l">
              <a:defRPr sz="7500" b="1">
                <a:solidFill>
                  <a:srgbClr val="FFFFFF"/>
                </a:solidFill>
                <a:latin typeface="Arial"/>
                <a:ea typeface="Arial"/>
                <a:cs typeface="Arial"/>
              </a:defRPr>
            </a:pPr>
            <a:r>
              <a:rPr sz="7500" b="1">
                <a:solidFill>
                  <a:srgbClr val="FFFFFF"/>
                </a:solidFill>
                <a:latin typeface="Arial"/>
                <a:ea typeface="Arial"/>
                <a:cs typeface="Arial"/>
              </a:rPr>
              <a:t>Ruang Chat</a:t>
            </a:r>
          </a:p>
        </p:txBody>
      </p:sp>
      <p:sp>
        <p:nvSpPr>
          <p:cNvPr id="2" name="text-2">
            <a:extLst xmlns:a="http://schemas.openxmlformats.org/drawingml/2006/main">
              <a:ext uri="{FF2B5EF4-FFF2-40B4-BE49-F238E27FC236}">
                <a16:creationId xmlns:a16="http://schemas.microsoft.com/office/drawing/2014/main" id="{869236B2-B1F2-490F-A57E-D1DA4568784A}"/>
              </a:ext>
            </a:extLst>
          </p:cNvPr>
          <p:cNvSpPr>
            <a:spLocks xmlns:a="http://schemas.openxmlformats.org/drawingml/2006/main" noGrp="1"/>
          </p:cNvSpPr>
          <p:nvPr/>
        </p:nvSpPr>
        <p:spPr>
          <a:xfrm xmlns:a="http://schemas.openxmlformats.org/drawingml/2006/main">
            <a:off x="952500" y="3476625"/>
            <a:ext cx="1238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CBD5E1"/>
                </a:solidFill>
                <a:latin typeface="Arial"/>
                <a:ea typeface="Arial"/>
                <a:cs typeface="Arial"/>
              </a:defRPr>
            </a:defPPr>
            <a:lvl1pPr algn="l">
              <a:defRPr sz="3450" b="0">
                <a:solidFill>
                  <a:srgbClr val="CBD5E1"/>
                </a:solidFill>
                <a:latin typeface="Arial"/>
                <a:ea typeface="Arial"/>
                <a:cs typeface="Arial"/>
              </a:defRPr>
            </a:lvl1pPr>
            <a:lvl2pPr algn="l">
              <a:defRPr sz="3450" b="0">
                <a:solidFill>
                  <a:srgbClr val="CBD5E1"/>
                </a:solidFill>
                <a:latin typeface="Arial"/>
                <a:ea typeface="Arial"/>
                <a:cs typeface="Arial"/>
              </a:defRPr>
            </a:lvl2pPr>
            <a:lvl3pPr algn="l">
              <a:defRPr sz="3450" b="0">
                <a:solidFill>
                  <a:srgbClr val="CBD5E1"/>
                </a:solidFill>
                <a:latin typeface="Arial"/>
                <a:ea typeface="Arial"/>
                <a:cs typeface="Arial"/>
              </a:defRPr>
            </a:lvl3pPr>
            <a:lvl4pPr algn="l">
              <a:defRPr sz="3450" b="0">
                <a:solidFill>
                  <a:srgbClr val="CBD5E1"/>
                </a:solidFill>
                <a:latin typeface="Arial"/>
                <a:ea typeface="Arial"/>
                <a:cs typeface="Arial"/>
              </a:defRPr>
            </a:lvl4pPr>
            <a:lvl5pPr algn="l">
              <a:defRPr sz="3450" b="0">
                <a:solidFill>
                  <a:srgbClr val="CBD5E1"/>
                </a:solidFill>
                <a:latin typeface="Arial"/>
                <a:ea typeface="Arial"/>
                <a:cs typeface="Arial"/>
              </a:defRPr>
            </a:lvl5pPr>
            <a:lvl6pPr algn="l">
              <a:defRPr sz="3450" b="0">
                <a:solidFill>
                  <a:srgbClr val="CBD5E1"/>
                </a:solidFill>
                <a:latin typeface="Arial"/>
                <a:ea typeface="Arial"/>
                <a:cs typeface="Arial"/>
              </a:defRPr>
            </a:lvl6pPr>
            <a:lvl7pPr algn="l">
              <a:defRPr sz="3450" b="0">
                <a:solidFill>
                  <a:srgbClr val="CBD5E1"/>
                </a:solidFill>
                <a:latin typeface="Arial"/>
                <a:ea typeface="Arial"/>
                <a:cs typeface="Arial"/>
              </a:defRPr>
            </a:lvl7pPr>
            <a:lvl8pPr algn="l">
              <a:defRPr sz="3450" b="0">
                <a:solidFill>
                  <a:srgbClr val="CBD5E1"/>
                </a:solidFill>
                <a:latin typeface="Arial"/>
                <a:ea typeface="Arial"/>
                <a:cs typeface="Arial"/>
              </a:defRPr>
            </a:lvl8pPr>
            <a:lvl9pPr algn="l">
              <a:defRPr sz="3450" b="0">
                <a:solidFill>
                  <a:srgbClr val="CBD5E1"/>
                </a:solidFill>
                <a:latin typeface="Arial"/>
                <a:ea typeface="Arial"/>
                <a:cs typeface="Arial"/>
              </a:defRPr>
            </a:lvl9pPr>
          </a:lstStyle>
          <a:p xmlns:a="http://schemas.openxmlformats.org/drawingml/2006/main">
            <a:pPr algn="l">
              <a:defRPr sz="3450" b="0">
                <a:solidFill>
                  <a:srgbClr val="CBD5E1"/>
                </a:solidFill>
                <a:latin typeface="Arial"/>
                <a:ea typeface="Arial"/>
                <a:cs typeface="Arial"/>
              </a:defRPr>
            </a:pPr>
            <a:r>
              <a:rPr sz="3450" b="0">
                <a:solidFill>
                  <a:srgbClr val="CBD5E1"/>
                </a:solidFill>
                <a:latin typeface="Arial"/>
                <a:ea typeface="Arial"/>
                <a:cs typeface="Arial"/>
              </a:rPr>
              <a:t>Arsitektur dan implementasi detail</a:t>
            </a:r>
          </a:p>
        </p:txBody>
      </p:sp>
      <p:sp>
        <p:nvSpPr>
          <p:cNvPr id="3" name="text-3">
            <a:extLst xmlns:a="http://schemas.openxmlformats.org/drawingml/2006/main">
              <a:ext uri="{FF2B5EF4-FFF2-40B4-BE49-F238E27FC236}">
                <a16:creationId xmlns:a16="http://schemas.microsoft.com/office/drawing/2014/main" id="{9A44D51F-29F2-4BFD-A748-AD76ACFF9B5D}"/>
              </a:ext>
            </a:extLst>
          </p:cNvPr>
          <p:cNvSpPr>
            <a:spLocks xmlns:a="http://schemas.openxmlformats.org/drawingml/2006/main" noGrp="1"/>
          </p:cNvSpPr>
          <p:nvPr/>
        </p:nvSpPr>
        <p:spPr>
          <a:xfrm xmlns:a="http://schemas.openxmlformats.org/drawingml/2006/main">
            <a:off x="952500" y="455295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8BDF8"/>
                </a:solidFill>
                <a:latin typeface="Arial"/>
                <a:ea typeface="Arial"/>
                <a:cs typeface="Arial"/>
              </a:defRPr>
            </a:defPPr>
            <a:lvl1pPr algn="l">
              <a:defRPr sz="2400" b="0">
                <a:solidFill>
                  <a:srgbClr val="38BDF8"/>
                </a:solidFill>
                <a:latin typeface="Arial"/>
                <a:ea typeface="Arial"/>
                <a:cs typeface="Arial"/>
              </a:defRPr>
            </a:lvl1pPr>
            <a:lvl2pPr algn="l">
              <a:defRPr sz="2400" b="0">
                <a:solidFill>
                  <a:srgbClr val="38BDF8"/>
                </a:solidFill>
                <a:latin typeface="Arial"/>
                <a:ea typeface="Arial"/>
                <a:cs typeface="Arial"/>
              </a:defRPr>
            </a:lvl2pPr>
            <a:lvl3pPr algn="l">
              <a:defRPr sz="2400" b="0">
                <a:solidFill>
                  <a:srgbClr val="38BDF8"/>
                </a:solidFill>
                <a:latin typeface="Arial"/>
                <a:ea typeface="Arial"/>
                <a:cs typeface="Arial"/>
              </a:defRPr>
            </a:lvl3pPr>
            <a:lvl4pPr algn="l">
              <a:defRPr sz="2400" b="0">
                <a:solidFill>
                  <a:srgbClr val="38BDF8"/>
                </a:solidFill>
                <a:latin typeface="Arial"/>
                <a:ea typeface="Arial"/>
                <a:cs typeface="Arial"/>
              </a:defRPr>
            </a:lvl4pPr>
            <a:lvl5pPr algn="l">
              <a:defRPr sz="2400" b="0">
                <a:solidFill>
                  <a:srgbClr val="38BDF8"/>
                </a:solidFill>
                <a:latin typeface="Arial"/>
                <a:ea typeface="Arial"/>
                <a:cs typeface="Arial"/>
              </a:defRPr>
            </a:lvl5pPr>
            <a:lvl6pPr algn="l">
              <a:defRPr sz="2400" b="0">
                <a:solidFill>
                  <a:srgbClr val="38BDF8"/>
                </a:solidFill>
                <a:latin typeface="Arial"/>
                <a:ea typeface="Arial"/>
                <a:cs typeface="Arial"/>
              </a:defRPr>
            </a:lvl6pPr>
            <a:lvl7pPr algn="l">
              <a:defRPr sz="2400" b="0">
                <a:solidFill>
                  <a:srgbClr val="38BDF8"/>
                </a:solidFill>
                <a:latin typeface="Arial"/>
                <a:ea typeface="Arial"/>
                <a:cs typeface="Arial"/>
              </a:defRPr>
            </a:lvl7pPr>
            <a:lvl8pPr algn="l">
              <a:defRPr sz="2400" b="0">
                <a:solidFill>
                  <a:srgbClr val="38BDF8"/>
                </a:solidFill>
                <a:latin typeface="Arial"/>
                <a:ea typeface="Arial"/>
                <a:cs typeface="Arial"/>
              </a:defRPr>
            </a:lvl8pPr>
            <a:lvl9pPr algn="l">
              <a:defRPr sz="2400" b="0">
                <a:solidFill>
                  <a:srgbClr val="38BDF8"/>
                </a:solidFill>
                <a:latin typeface="Arial"/>
                <a:ea typeface="Arial"/>
                <a:cs typeface="Arial"/>
              </a:defRPr>
            </a:lvl9pPr>
          </a:lstStyle>
          <a:p xmlns:a="http://schemas.openxmlformats.org/drawingml/2006/main">
            <a:pPr algn="l">
              <a:defRPr sz="2400" b="0">
                <a:solidFill>
                  <a:srgbClr val="38BDF8"/>
                </a:solidFill>
                <a:latin typeface="Arial"/>
                <a:ea typeface="Arial"/>
                <a:cs typeface="Arial"/>
              </a:defRPr>
            </a:pPr>
            <a:r>
              <a:rPr sz="2400" b="0">
                <a:solidFill>
                  <a:srgbClr val="38BDF8"/>
                </a:solidFill>
                <a:latin typeface="Arial"/>
                <a:ea typeface="Arial"/>
                <a:cs typeface="Arial"/>
              </a:rPr>
              <a:t>Flutter mobile dengan backend Go dan Docker</a:t>
            </a:r>
          </a:p>
        </p:txBody>
      </p:sp>
      <p:sp>
        <p:nvSpPr>
          <p:cNvPr id="4" name="text-4">
            <a:extLst xmlns:a="http://schemas.openxmlformats.org/drawingml/2006/main">
              <a:ext uri="{FF2B5EF4-FFF2-40B4-BE49-F238E27FC236}">
                <a16:creationId xmlns:a16="http://schemas.microsoft.com/office/drawing/2014/main" id="{B83E6A4A-6759-4AE5-BF79-D7E142A20AAB}"/>
              </a:ext>
            </a:extLst>
          </p:cNvPr>
          <p:cNvSpPr>
            <a:spLocks xmlns:a="http://schemas.openxmlformats.org/drawingml/2006/main" noGrp="1"/>
          </p:cNvSpPr>
          <p:nvPr/>
        </p:nvSpPr>
        <p:spPr>
          <a:xfrm xmlns:a="http://schemas.openxmlformats.org/drawingml/2006/main">
            <a:off x="952500" y="7143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BD5E1"/>
                </a:solidFill>
                <a:latin typeface="Arial"/>
                <a:ea typeface="Arial"/>
                <a:cs typeface="Arial"/>
              </a:defRPr>
            </a:defPPr>
            <a:lvl1pPr algn="l">
              <a:defRPr sz="2100" b="0">
                <a:solidFill>
                  <a:srgbClr val="CBD5E1"/>
                </a:solidFill>
                <a:latin typeface="Arial"/>
                <a:ea typeface="Arial"/>
                <a:cs typeface="Arial"/>
              </a:defRPr>
            </a:lvl1pPr>
            <a:lvl2pPr algn="l">
              <a:defRPr sz="2100" b="0">
                <a:solidFill>
                  <a:srgbClr val="CBD5E1"/>
                </a:solidFill>
                <a:latin typeface="Arial"/>
                <a:ea typeface="Arial"/>
                <a:cs typeface="Arial"/>
              </a:defRPr>
            </a:lvl2pPr>
            <a:lvl3pPr algn="l">
              <a:defRPr sz="2100" b="0">
                <a:solidFill>
                  <a:srgbClr val="CBD5E1"/>
                </a:solidFill>
                <a:latin typeface="Arial"/>
                <a:ea typeface="Arial"/>
                <a:cs typeface="Arial"/>
              </a:defRPr>
            </a:lvl3pPr>
            <a:lvl4pPr algn="l">
              <a:defRPr sz="2100" b="0">
                <a:solidFill>
                  <a:srgbClr val="CBD5E1"/>
                </a:solidFill>
                <a:latin typeface="Arial"/>
                <a:ea typeface="Arial"/>
                <a:cs typeface="Arial"/>
              </a:defRPr>
            </a:lvl4pPr>
            <a:lvl5pPr algn="l">
              <a:defRPr sz="2100" b="0">
                <a:solidFill>
                  <a:srgbClr val="CBD5E1"/>
                </a:solidFill>
                <a:latin typeface="Arial"/>
                <a:ea typeface="Arial"/>
                <a:cs typeface="Arial"/>
              </a:defRPr>
            </a:lvl5pPr>
            <a:lvl6pPr algn="l">
              <a:defRPr sz="2100" b="0">
                <a:solidFill>
                  <a:srgbClr val="CBD5E1"/>
                </a:solidFill>
                <a:latin typeface="Arial"/>
                <a:ea typeface="Arial"/>
                <a:cs typeface="Arial"/>
              </a:defRPr>
            </a:lvl6pPr>
            <a:lvl7pPr algn="l">
              <a:defRPr sz="2100" b="0">
                <a:solidFill>
                  <a:srgbClr val="CBD5E1"/>
                </a:solidFill>
                <a:latin typeface="Arial"/>
                <a:ea typeface="Arial"/>
                <a:cs typeface="Arial"/>
              </a:defRPr>
            </a:lvl7pPr>
            <a:lvl8pPr algn="l">
              <a:defRPr sz="2100" b="0">
                <a:solidFill>
                  <a:srgbClr val="CBD5E1"/>
                </a:solidFill>
                <a:latin typeface="Arial"/>
                <a:ea typeface="Arial"/>
                <a:cs typeface="Arial"/>
              </a:defRPr>
            </a:lvl8pPr>
            <a:lvl9pPr algn="l">
              <a:defRPr sz="2100" b="0">
                <a:solidFill>
                  <a:srgbClr val="CBD5E1"/>
                </a:solidFill>
                <a:latin typeface="Arial"/>
                <a:ea typeface="Arial"/>
                <a:cs typeface="Arial"/>
              </a:defRPr>
            </a:lvl9pPr>
          </a:lstStyle>
          <a:p xmlns:a="http://schemas.openxmlformats.org/drawingml/2006/main">
            <a:pPr algn="l">
              <a:defRPr sz="2100" b="0">
                <a:solidFill>
                  <a:srgbClr val="CBD5E1"/>
                </a:solidFill>
                <a:latin typeface="Arial"/>
                <a:ea typeface="Arial"/>
                <a:cs typeface="Arial"/>
              </a:defRPr>
            </a:pPr>
            <a:r>
              <a:rPr sz="2100" b="0">
                <a:solidFill>
                  <a:srgbClr val="CBD5E1"/>
                </a:solidFill>
                <a:latin typeface="Arial"/>
                <a:ea typeface="Arial"/>
                <a:cs typeface="Arial"/>
              </a:rPr>
              <a:t>Materi lanjutan untuk mahasiswa</a:t>
            </a:r>
          </a:p>
        </p:txBody>
      </p:sp>
      <p:pic>
        <p:nvPicPr>
          <p:cNvPr id="5" name="">
            <a:extLst xmlns:a="http://schemas.openxmlformats.org/drawingml/2006/main">
              <a:ext uri="{FF2B5EF4-FFF2-40B4-BE49-F238E27FC236}">
                <a16:creationId xmlns:a16="http://schemas.microsoft.com/office/drawing/2014/main" id="{9BC1F5F9-2530-4CDF-BEBC-67CB3A27FBB0}"/>
              </a:ext>
            </a:extLst>
          </p:cNvPr>
          <p:cNvPicPr>
            <a:picLocks xmlns:a="http://schemas.openxmlformats.org/drawingml/2006/main" noChangeAspect="1"/>
          </p:cNvPicPr>
          <p:nvPr/>
        </p:nvPicPr>
        <p:blipFill>
          <a:blip xmlns:r="http://schemas.openxmlformats.org/officeDocument/2006/relationships" xmlns:a="http://schemas.openxmlformats.org/drawingml/2006/main" r:embed="Rb25427b39ec44762"/>
          <a:stretch xmlns:a="http://schemas.openxmlformats.org/drawingml/2006/main"/>
        </p:blipFill>
        <p:spPr>
          <a:xfrm xmlns:a="http://schemas.openxmlformats.org/drawingml/2006/main">
            <a:off x="11811000" y="1952625"/>
            <a:ext cx="2000250" cy="2000250"/>
          </a:xfrm>
          <a:prstGeom xmlns:a="http://schemas.openxmlformats.org/drawingml/2006/main" prst="rect">
            <a:avLst/>
          </a:prstGeom>
        </p:spPr>
      </p:pic>
    </p:spTree>
    <p:extLst>
      <p:ext uri="{BB962C8B-B14F-4D97-AF65-F5344CB8AC3E}">
        <p14:creationId xmlns:p14="http://schemas.microsoft.com/office/powerpoint/2010/main" val="138764063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text-6">
            <a:extLst xmlns:a="http://schemas.openxmlformats.org/drawingml/2006/main">
              <a:ext uri="{FF2B5EF4-FFF2-40B4-BE49-F238E27FC236}">
                <a16:creationId xmlns:a16="http://schemas.microsoft.com/office/drawing/2014/main" id="{8DE0CF24-DE1C-4DE0-8680-DFB7A0DE0A7F}"/>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Peta pembelajaran detail</a:t>
            </a:r>
          </a:p>
        </p:txBody>
      </p:sp>
      <p:sp>
        <p:nvSpPr>
          <p:cNvPr id="2" name="text-7">
            <a:extLst xmlns:a="http://schemas.openxmlformats.org/drawingml/2006/main">
              <a:ext uri="{FF2B5EF4-FFF2-40B4-BE49-F238E27FC236}">
                <a16:creationId xmlns:a16="http://schemas.microsoft.com/office/drawing/2014/main" id="{EBE03A70-83C1-4260-8ED9-9F822D52F8C2}"/>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Satu fitur ditelusuri dari aksi pengguna sampai perubahan data.</a:t>
            </a:r>
          </a:p>
        </p:txBody>
      </p:sp>
      <p:sp>
        <p:nvSpPr>
          <p:cNvPr id="3" name="text-8">
            <a:extLst xmlns:a="http://schemas.openxmlformats.org/drawingml/2006/main">
              <a:ext uri="{FF2B5EF4-FFF2-40B4-BE49-F238E27FC236}">
                <a16:creationId xmlns:a16="http://schemas.microsoft.com/office/drawing/2014/main" id="{096D7063-BB5D-4F69-9FBD-6987B6661918}"/>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a:t>
            </a:r>
          </a:p>
        </p:txBody>
      </p:sp>
      <p:sp>
        <p:nvSpPr>
          <p:cNvPr id="4" name="text-9">
            <a:extLst xmlns:a="http://schemas.openxmlformats.org/drawingml/2006/main">
              <a:ext uri="{FF2B5EF4-FFF2-40B4-BE49-F238E27FC236}">
                <a16:creationId xmlns:a16="http://schemas.microsoft.com/office/drawing/2014/main" id="{F4963F19-2BA1-4D08-9437-B5D508C9D884}"/>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0">
            <a:extLst xmlns:a="http://schemas.openxmlformats.org/drawingml/2006/main">
              <a:ext uri="{FF2B5EF4-FFF2-40B4-BE49-F238E27FC236}">
                <a16:creationId xmlns:a16="http://schemas.microsoft.com/office/drawing/2014/main" id="{2FA341CA-C79B-4C29-BC12-977391B59ADB}"/>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Struktur sistem</a:t>
            </a:r>
          </a:p>
        </p:txBody>
      </p:sp>
      <p:sp>
        <p:nvSpPr>
          <p:cNvPr id="6" name="text-11">
            <a:extLst xmlns:a="http://schemas.openxmlformats.org/drawingml/2006/main">
              <a:ext uri="{FF2B5EF4-FFF2-40B4-BE49-F238E27FC236}">
                <a16:creationId xmlns:a16="http://schemas.microsoft.com/office/drawing/2014/main" id="{B5D38A0B-213F-4F02-BB83-7889805F0615}"/>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Hubungan layar Flutter, state aplikasi, REST, WebSocket, dan PostgreSQL.</a:t>
            </a:r>
          </a:p>
        </p:txBody>
      </p:sp>
      <p:sp>
        <p:nvSpPr>
          <p:cNvPr id="7" name="text-12">
            <a:extLst xmlns:a="http://schemas.openxmlformats.org/drawingml/2006/main">
              <a:ext uri="{FF2B5EF4-FFF2-40B4-BE49-F238E27FC236}">
                <a16:creationId xmlns:a16="http://schemas.microsoft.com/office/drawing/2014/main" id="{E162F1FD-8BCE-4CEE-944E-B76DB0253FD5}"/>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3">
            <a:extLst xmlns:a="http://schemas.openxmlformats.org/drawingml/2006/main">
              <a:ext uri="{FF2B5EF4-FFF2-40B4-BE49-F238E27FC236}">
                <a16:creationId xmlns:a16="http://schemas.microsoft.com/office/drawing/2014/main" id="{CBE6A077-8324-4FD6-9FB3-4B7E92DE7F77}"/>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Kontrak dan konsistensi</a:t>
            </a:r>
          </a:p>
        </p:txBody>
      </p:sp>
      <p:sp>
        <p:nvSpPr>
          <p:cNvPr id="9" name="text-14">
            <a:extLst xmlns:a="http://schemas.openxmlformats.org/drawingml/2006/main">
              <a:ext uri="{FF2B5EF4-FFF2-40B4-BE49-F238E27FC236}">
                <a16:creationId xmlns:a16="http://schemas.microsoft.com/office/drawing/2014/main" id="{1AE4BD3D-CD6C-47F7-A576-0C64840031AB}"/>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Format request, validasi server, identitas pesan, serta pemulihan koneksi.</a:t>
            </a:r>
          </a:p>
        </p:txBody>
      </p:sp>
      <p:sp>
        <p:nvSpPr>
          <p:cNvPr id="10" name="text-15">
            <a:extLst xmlns:a="http://schemas.openxmlformats.org/drawingml/2006/main">
              <a:ext uri="{FF2B5EF4-FFF2-40B4-BE49-F238E27FC236}">
                <a16:creationId xmlns:a16="http://schemas.microsoft.com/office/drawing/2014/main" id="{3AC4B5CE-3339-4965-A4D7-49B23D69F6DB}"/>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6">
            <a:extLst xmlns:a="http://schemas.openxmlformats.org/drawingml/2006/main">
              <a:ext uri="{FF2B5EF4-FFF2-40B4-BE49-F238E27FC236}">
                <a16:creationId xmlns:a16="http://schemas.microsoft.com/office/drawing/2014/main" id="{395D4F29-DC7F-405B-9345-0FA54E7266D6}"/>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Implementasi dan evaluasi</a:t>
            </a:r>
          </a:p>
        </p:txBody>
      </p:sp>
      <p:sp>
        <p:nvSpPr>
          <p:cNvPr id="12" name="text-17">
            <a:extLst xmlns:a="http://schemas.openxmlformats.org/drawingml/2006/main">
              <a:ext uri="{FF2B5EF4-FFF2-40B4-BE49-F238E27FC236}">
                <a16:creationId xmlns:a16="http://schemas.microsoft.com/office/drawing/2014/main" id="{CC7CC7DE-C09E-4660-B908-E88533BD73EF}"/>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Balasan, reaksi, media, keamanan, lingkungan Docker, dan skenario uji.</a:t>
            </a:r>
          </a:p>
        </p:txBody>
      </p:sp>
    </p:spTree>
    <p:extLst>
      <p:ext uri="{BB962C8B-B14F-4D97-AF65-F5344CB8AC3E}">
        <p14:creationId xmlns:p14="http://schemas.microsoft.com/office/powerpoint/2010/main" val="1503242987"/>
      </p:ext>
    </p:extLst>
  </p:cSld>
</p:sld>
</file>

<file path=ppt/slides/slide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D1762BD8-8142-4BBB-AAA3-AF23938480C5}"/>
              </a:ext>
            </a:extLst>
          </p:cNvPr>
          <p:cNvCxnSpPr>
            <a:stCxn xmlns:a="http://schemas.openxmlformats.org/drawingml/2006/main" id="5" idx="3"/>
            <a:endCxn xmlns:a="http://schemas.openxmlformats.org/drawingml/2006/main" id="6" idx="1"/>
          </p:cNvCxnSpPr>
          <p:nvPr/>
        </p:nvCxnSpPr>
        <p:spPr>
          <a:xfrm xmlns:a="http://schemas.openxmlformats.org/drawingml/2006/main">
            <a:off x="9525000" y="4200525"/>
            <a:ext cx="990600" cy="0"/>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7" name="">
            <a:extLst xmlns:a="http://schemas.openxmlformats.org/drawingml/2006/main">
              <a:ext uri="{FF2B5EF4-FFF2-40B4-BE49-F238E27FC236}">
                <a16:creationId xmlns:a16="http://schemas.microsoft.com/office/drawing/2014/main" id="{B9BAC925-B863-436B-B808-0B6D0FDF5968}"/>
              </a:ext>
            </a:extLst>
          </p:cNvPr>
          <p:cNvCxnSpPr>
            <a:stCxn xmlns:a="http://schemas.openxmlformats.org/drawingml/2006/main" id="4" idx="3"/>
            <a:endCxn xmlns:a="http://schemas.openxmlformats.org/drawingml/2006/main" id="5" idx="1"/>
          </p:cNvCxnSpPr>
          <p:nvPr/>
        </p:nvCxnSpPr>
        <p:spPr>
          <a:xfrm xmlns:a="http://schemas.openxmlformats.org/drawingml/2006/main">
            <a:off x="4724400" y="4200525"/>
            <a:ext cx="9906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0" name="text-18">
            <a:extLst xmlns:a="http://schemas.openxmlformats.org/drawingml/2006/main">
              <a:ext uri="{FF2B5EF4-FFF2-40B4-BE49-F238E27FC236}">
                <a16:creationId xmlns:a16="http://schemas.microsoft.com/office/drawing/2014/main" id="{C9F21B0C-D284-4E5C-A6BB-B082B1F64E7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Arsitektur runtime</a:t>
            </a:r>
          </a:p>
        </p:txBody>
      </p:sp>
      <p:sp>
        <p:nvSpPr>
          <p:cNvPr id="2" name="text-19">
            <a:extLst xmlns:a="http://schemas.openxmlformats.org/drawingml/2006/main">
              <a:ext uri="{FF2B5EF4-FFF2-40B4-BE49-F238E27FC236}">
                <a16:creationId xmlns:a16="http://schemas.microsoft.com/office/drawing/2014/main" id="{2802353C-93C7-40BA-AE7E-601C8B250D88}"/>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Flutter mengakses Go melalui jaringan. Hanya Go yang mengakses PostgreSQL.</a:t>
            </a:r>
          </a:p>
        </p:txBody>
      </p:sp>
      <p:sp>
        <p:nvSpPr>
          <p:cNvPr id="3" name="text-20">
            <a:extLst xmlns:a="http://schemas.openxmlformats.org/drawingml/2006/main">
              <a:ext uri="{FF2B5EF4-FFF2-40B4-BE49-F238E27FC236}">
                <a16:creationId xmlns:a16="http://schemas.microsoft.com/office/drawing/2014/main" id="{13A72889-1E90-4433-9EC4-95A17D6BDE6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3</a:t>
            </a:r>
          </a:p>
        </p:txBody>
      </p:sp>
      <p:sp>
        <p:nvSpPr>
          <p:cNvPr id="4" name="diagram-node-21">
            <a:extLst xmlns:a="http://schemas.openxmlformats.org/drawingml/2006/main">
              <a:ext uri="{FF2B5EF4-FFF2-40B4-BE49-F238E27FC236}">
                <a16:creationId xmlns:a16="http://schemas.microsoft.com/office/drawing/2014/main" id="{45BA1BB8-20FD-4AC6-8F72-3BE9EE9B3B67}"/>
              </a:ext>
            </a:extLst>
          </p:cNvPr>
          <p:cNvSpPr>
            <a:spLocks xmlns:a="http://schemas.openxmlformats.org/drawingml/2006/main" noGrp="1"/>
          </p:cNvSpPr>
          <p:nvPr/>
        </p:nvSpPr>
        <p:spPr>
          <a:xfrm xmlns:a="http://schemas.openxmlformats.org/drawingml/2006/main">
            <a:off x="914400" y="3105150"/>
            <a:ext cx="3810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Flutter mobile</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Layar, state, secure storage</a:t>
            </a:r>
            <a:br>
              <a:rPr sz="2025">
                <a:solidFill>
                  <a:srgbClr val="FFFFFF"/>
                </a:solidFill>
                <a:latin typeface="Arial"/>
                <a:ea typeface="Arial"/>
                <a:cs typeface="Arial"/>
              </a:rPr>
            </a:br>
            <a:r>
              <a:rPr sz="2025">
                <a:solidFill>
                  <a:srgbClr val="FFFFFF"/>
                </a:solidFill>
                <a:latin typeface="Arial"/>
                <a:ea typeface="Arial"/>
                <a:cs typeface="Arial"/>
              </a:rPr>
              <a:t>REST dan koneksi WebSocket</a:t>
            </a:r>
          </a:p>
        </p:txBody>
      </p:sp>
      <p:sp>
        <p:nvSpPr>
          <p:cNvPr id="5" name="diagram-node-22">
            <a:extLst xmlns:a="http://schemas.openxmlformats.org/drawingml/2006/main">
              <a:ext uri="{FF2B5EF4-FFF2-40B4-BE49-F238E27FC236}">
                <a16:creationId xmlns:a16="http://schemas.microsoft.com/office/drawing/2014/main" id="{D651AAFD-29FF-4A4F-8FD3-9F05A61DBD0D}"/>
              </a:ext>
            </a:extLst>
          </p:cNvPr>
          <p:cNvSpPr>
            <a:spLocks xmlns:a="http://schemas.openxmlformats.org/drawingml/2006/main" noGrp="1"/>
          </p:cNvSpPr>
          <p:nvPr/>
        </p:nvSpPr>
        <p:spPr>
          <a:xfrm xmlns:a="http://schemas.openxmlformats.org/drawingml/2006/main">
            <a:off x="5715000" y="3105150"/>
            <a:ext cx="3810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Go API</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Validasi, sesi, otorisasi</a:t>
            </a:r>
            <a:br>
              <a:rPr sz="2025">
                <a:solidFill>
                  <a:srgbClr val="FFFFFF"/>
                </a:solidFill>
                <a:latin typeface="Arial"/>
                <a:ea typeface="Arial"/>
                <a:cs typeface="Arial"/>
              </a:rPr>
            </a:br>
            <a:r>
              <a:rPr sz="2025">
                <a:solidFill>
                  <a:srgbClr val="FFFFFF"/>
                </a:solidFill>
                <a:latin typeface="Arial"/>
                <a:ea typeface="Arial"/>
                <a:cs typeface="Arial"/>
              </a:rPr>
              <a:t>SQL dan hub event</a:t>
            </a:r>
          </a:p>
        </p:txBody>
      </p:sp>
      <p:sp>
        <p:nvSpPr>
          <p:cNvPr id="6" name="diagram-node-23">
            <a:extLst xmlns:a="http://schemas.openxmlformats.org/drawingml/2006/main">
              <a:ext uri="{FF2B5EF4-FFF2-40B4-BE49-F238E27FC236}">
                <a16:creationId xmlns:a16="http://schemas.microsoft.com/office/drawing/2014/main" id="{F5B0EFFF-7ED2-40B5-98DA-063FA936BC76}"/>
              </a:ext>
            </a:extLst>
          </p:cNvPr>
          <p:cNvSpPr>
            <a:spLocks xmlns:a="http://schemas.openxmlformats.org/drawingml/2006/main" noGrp="1"/>
          </p:cNvSpPr>
          <p:nvPr/>
        </p:nvSpPr>
        <p:spPr>
          <a:xfrm xmlns:a="http://schemas.openxmlformats.org/drawingml/2006/main">
            <a:off x="10515600" y="3105150"/>
            <a:ext cx="3810000" cy="219075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PostgreSQL 17</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Data persisten</a:t>
            </a:r>
            <a:br>
              <a:rPr sz="2025">
                <a:solidFill>
                  <a:srgbClr val="FFFFFF"/>
                </a:solidFill>
                <a:latin typeface="Arial"/>
                <a:ea typeface="Arial"/>
                <a:cs typeface="Arial"/>
              </a:rPr>
            </a:br>
            <a:r>
              <a:rPr sz="2025">
                <a:solidFill>
                  <a:srgbClr val="FFFFFF"/>
                </a:solidFill>
                <a:latin typeface="Arial"/>
                <a:ea typeface="Arial"/>
                <a:cs typeface="Arial"/>
              </a:rPr>
              <a:t>Constraint dan indeks</a:t>
            </a:r>
          </a:p>
        </p:txBody>
      </p:sp>
      <p:sp>
        <p:nvSpPr>
          <p:cNvPr id="9" name="text-24">
            <a:extLst xmlns:a="http://schemas.openxmlformats.org/drawingml/2006/main">
              <a:ext uri="{FF2B5EF4-FFF2-40B4-BE49-F238E27FC236}">
                <a16:creationId xmlns:a16="http://schemas.microsoft.com/office/drawing/2014/main" id="{A045D0A4-4794-4387-A957-E40A16CC8155}"/>
              </a:ext>
            </a:extLst>
          </p:cNvPr>
          <p:cNvSpPr>
            <a:spLocks xmlns:a="http://schemas.openxmlformats.org/drawingml/2006/main" noGrp="1"/>
          </p:cNvSpPr>
          <p:nvPr/>
        </p:nvSpPr>
        <p:spPr>
          <a:xfrm xmlns:a="http://schemas.openxmlformats.org/drawingml/2006/main">
            <a:off x="914400" y="6381750"/>
            <a:ext cx="1323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BD5E1"/>
                </a:solidFill>
                <a:latin typeface="Arial"/>
                <a:ea typeface="Arial"/>
                <a:cs typeface="Arial"/>
              </a:defRPr>
            </a:defPPr>
            <a:lvl1pPr algn="l">
              <a:defRPr sz="2325" b="0">
                <a:solidFill>
                  <a:srgbClr val="CBD5E1"/>
                </a:solidFill>
                <a:latin typeface="Arial"/>
                <a:ea typeface="Arial"/>
                <a:cs typeface="Arial"/>
              </a:defRPr>
            </a:lvl1pPr>
            <a:lvl2pPr algn="l">
              <a:defRPr sz="2325" b="0">
                <a:solidFill>
                  <a:srgbClr val="CBD5E1"/>
                </a:solidFill>
                <a:latin typeface="Arial"/>
                <a:ea typeface="Arial"/>
                <a:cs typeface="Arial"/>
              </a:defRPr>
            </a:lvl2pPr>
            <a:lvl3pPr algn="l">
              <a:defRPr sz="2325" b="0">
                <a:solidFill>
                  <a:srgbClr val="CBD5E1"/>
                </a:solidFill>
                <a:latin typeface="Arial"/>
                <a:ea typeface="Arial"/>
                <a:cs typeface="Arial"/>
              </a:defRPr>
            </a:lvl3pPr>
            <a:lvl4pPr algn="l">
              <a:defRPr sz="2325" b="0">
                <a:solidFill>
                  <a:srgbClr val="CBD5E1"/>
                </a:solidFill>
                <a:latin typeface="Arial"/>
                <a:ea typeface="Arial"/>
                <a:cs typeface="Arial"/>
              </a:defRPr>
            </a:lvl4pPr>
            <a:lvl5pPr algn="l">
              <a:defRPr sz="2325" b="0">
                <a:solidFill>
                  <a:srgbClr val="CBD5E1"/>
                </a:solidFill>
                <a:latin typeface="Arial"/>
                <a:ea typeface="Arial"/>
                <a:cs typeface="Arial"/>
              </a:defRPr>
            </a:lvl5pPr>
            <a:lvl6pPr algn="l">
              <a:defRPr sz="2325" b="0">
                <a:solidFill>
                  <a:srgbClr val="CBD5E1"/>
                </a:solidFill>
                <a:latin typeface="Arial"/>
                <a:ea typeface="Arial"/>
                <a:cs typeface="Arial"/>
              </a:defRPr>
            </a:lvl6pPr>
            <a:lvl7pPr algn="l">
              <a:defRPr sz="2325" b="0">
                <a:solidFill>
                  <a:srgbClr val="CBD5E1"/>
                </a:solidFill>
                <a:latin typeface="Arial"/>
                <a:ea typeface="Arial"/>
                <a:cs typeface="Arial"/>
              </a:defRPr>
            </a:lvl7pPr>
            <a:lvl8pPr algn="l">
              <a:defRPr sz="2325" b="0">
                <a:solidFill>
                  <a:srgbClr val="CBD5E1"/>
                </a:solidFill>
                <a:latin typeface="Arial"/>
                <a:ea typeface="Arial"/>
                <a:cs typeface="Arial"/>
              </a:defRPr>
            </a:lvl8pPr>
            <a:lvl9pPr algn="l">
              <a:defRPr sz="2325" b="0">
                <a:solidFill>
                  <a:srgbClr val="CBD5E1"/>
                </a:solidFill>
                <a:latin typeface="Arial"/>
                <a:ea typeface="Arial"/>
                <a:cs typeface="Arial"/>
              </a:defRPr>
            </a:lvl9pPr>
          </a:lstStyle>
          <a:p xmlns:a="http://schemas.openxmlformats.org/drawingml/2006/main">
            <a:pPr algn="l">
              <a:defRPr sz="2325" b="0">
                <a:solidFill>
                  <a:srgbClr val="CBD5E1"/>
                </a:solidFill>
                <a:latin typeface="Arial"/>
                <a:ea typeface="Arial"/>
                <a:cs typeface="Arial"/>
              </a:defRPr>
            </a:pPr>
            <a:r>
              <a:rPr sz="2325" b="0">
                <a:solidFill>
                  <a:srgbClr val="CBD5E1"/>
                </a:solidFill>
                <a:latin typeface="Arial"/>
                <a:ea typeface="Arial"/>
                <a:cs typeface="Arial"/>
              </a:rPr>
              <a:t>HTTP membawa request dan respons. WebSocket membawa event ke klien yang terhubung.</a:t>
            </a:r>
          </a:p>
        </p:txBody>
      </p:sp>
    </p:spTree>
    <p:extLst>
      <p:ext uri="{BB962C8B-B14F-4D97-AF65-F5344CB8AC3E}">
        <p14:creationId xmlns:p14="http://schemas.microsoft.com/office/powerpoint/2010/main" val="75806113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25">
            <a:extLst xmlns:a="http://schemas.openxmlformats.org/drawingml/2006/main">
              <a:ext uri="{FF2B5EF4-FFF2-40B4-BE49-F238E27FC236}">
                <a16:creationId xmlns:a16="http://schemas.microsoft.com/office/drawing/2014/main" id="{7A818603-4D1F-4B5B-BAD4-ED6283EA793E}"/>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Peta kode dan tanggung jawab</a:t>
            </a:r>
          </a:p>
        </p:txBody>
      </p:sp>
      <p:sp>
        <p:nvSpPr>
          <p:cNvPr id="2" name="text-26">
            <a:extLst xmlns:a="http://schemas.openxmlformats.org/drawingml/2006/main">
              <a:ext uri="{FF2B5EF4-FFF2-40B4-BE49-F238E27FC236}">
                <a16:creationId xmlns:a16="http://schemas.microsoft.com/office/drawing/2014/main" id="{C514B9C1-9528-4FFF-9474-69B2F95706A7}"/>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Pembagian berkas memisahkan tampilan, transport, dan aturan server.</a:t>
            </a:r>
          </a:p>
        </p:txBody>
      </p:sp>
      <p:sp>
        <p:nvSpPr>
          <p:cNvPr id="3" name="text-27">
            <a:extLst xmlns:a="http://schemas.openxmlformats.org/drawingml/2006/main">
              <a:ext uri="{FF2B5EF4-FFF2-40B4-BE49-F238E27FC236}">
                <a16:creationId xmlns:a16="http://schemas.microsoft.com/office/drawing/2014/main" id="{28EC6018-BC63-44F4-B182-6CC3D4840114}"/>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05526975-2B4E-40E8-B656-AD4621B04652}"/>
              </a:ext>
            </a:extLst>
          </p:cNvPr>
          <p:cNvGraphicFramePr/>
          <p:nvPr/>
        </p:nvGraphicFramePr>
        <p:xfrm>
          <a:off xmlns:a="http://schemas.openxmlformats.org/drawingml/2006/main" x="914400" y="2524125"/>
          <a:ext xmlns:a="http://schemas.openxmlformats.org/drawingml/2006/main" cx="13411200" cy="4686300"/>
        </p:xfrm>
        <a:graphic xmlns:a="http://schemas.openxmlformats.org/drawingml/2006/main">
          <a:graphicData uri="http://schemas.openxmlformats.org/drawingml/2006/table">
            <a:tbl>
              <a:tblPr firstRow="0" bandRow="0"/>
              <a:tblGrid>
                <a:gridCol w="3286125"/>
                <a:gridCol w="5381625"/>
                <a:gridCol w="4743450"/>
              </a:tblGrid>
              <a:tr h="781050">
                <a:tc>
                  <a:txBody>
                    <a:bodyPr wrap="square" lIns="152400" tIns="152400" rIns="152400" bIns="152400">
                      <a:noAutofit/>
                    </a:bodyPr>
                    <a:lstStyle/>
                    <a:p>
                      <a:pPr algn="l"/>
                      <a:r>
                        <a:rPr sz="1875" b="1">
                          <a:solidFill>
                            <a:srgbClr val="FFFFFF"/>
                          </a:solidFill>
                          <a:latin typeface="Arial"/>
                          <a:ea typeface="Arial"/>
                          <a:cs typeface="Arial"/>
                        </a:rPr>
                        <a:t>Lokasi</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Tanggung jawab</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Contoh yang dibaca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81050">
                <a:tc>
                  <a:txBody>
                    <a:bodyPr wrap="square" lIns="152400" tIns="152400" rIns="152400" bIns="152400">
                      <a:noAutofit/>
                    </a:bodyPr>
                    <a:lstStyle/>
                    <a:p>
                      <a:pPr algn="l"/>
                      <a:r>
                        <a:rPr sz="1875" b="1">
                          <a:solidFill>
                            <a:srgbClr val="0F172A"/>
                          </a:solidFill>
                          <a:latin typeface="Arial"/>
                          <a:ea typeface="Arial"/>
                          <a:cs typeface="Arial"/>
                        </a:rPr>
                        <a:t>mobile/lib/screens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Navigasi dan state layar</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chat_screen.dart, home_screen.dart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mobile/lib/core</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Sesi, HTTP, event, model</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app_controller.dart, api.dart, realtime.dart</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backend/internal/chat</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Handler dan aturan domain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auth.go, messages.go, media.go</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backend/cmd/server</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Startup dan shutdown</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main.go mengatur DB dan HTTP server</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compose.yaml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Lingkungan layanan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API, database, healthcheck, volume</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Tree>
    <p:extLst>
      <p:ext uri="{BB962C8B-B14F-4D97-AF65-F5344CB8AC3E}">
        <p14:creationId xmlns:p14="http://schemas.microsoft.com/office/powerpoint/2010/main" val="47796091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28">
            <a:extLst xmlns:a="http://schemas.openxmlformats.org/drawingml/2006/main">
              <a:ext uri="{FF2B5EF4-FFF2-40B4-BE49-F238E27FC236}">
                <a16:creationId xmlns:a16="http://schemas.microsoft.com/office/drawing/2014/main" id="{E49C4444-F919-4076-8250-9A14C509676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State dan siklus hidup Flutter</a:t>
            </a:r>
          </a:p>
        </p:txBody>
      </p:sp>
      <p:sp>
        <p:nvSpPr>
          <p:cNvPr id="2" name="text-29">
            <a:extLst xmlns:a="http://schemas.openxmlformats.org/drawingml/2006/main">
              <a:ext uri="{FF2B5EF4-FFF2-40B4-BE49-F238E27FC236}">
                <a16:creationId xmlns:a16="http://schemas.microsoft.com/office/drawing/2014/main" id="{47264D7F-8015-4DA0-9347-8C108479806E}"/>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AppController menjadi penghubung sesi, preferensi, dan koneksi real-time.</a:t>
            </a:r>
          </a:p>
        </p:txBody>
      </p:sp>
      <p:sp>
        <p:nvSpPr>
          <p:cNvPr id="3" name="text-30">
            <a:extLst xmlns:a="http://schemas.openxmlformats.org/drawingml/2006/main">
              <a:ext uri="{FF2B5EF4-FFF2-40B4-BE49-F238E27FC236}">
                <a16:creationId xmlns:a16="http://schemas.microsoft.com/office/drawing/2014/main" id="{355B39D9-69D2-4BBA-96F9-1283CB1922B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5</a:t>
            </a:r>
          </a:p>
        </p:txBody>
      </p:sp>
      <p:sp>
        <p:nvSpPr>
          <p:cNvPr id="4" name="text-31">
            <a:extLst xmlns:a="http://schemas.openxmlformats.org/drawingml/2006/main">
              <a:ext uri="{FF2B5EF4-FFF2-40B4-BE49-F238E27FC236}">
                <a16:creationId xmlns:a16="http://schemas.microsoft.com/office/drawing/2014/main" id="{A2A26AEE-44CE-4DF1-B76C-E06877293502}"/>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32">
            <a:extLst xmlns:a="http://schemas.openxmlformats.org/drawingml/2006/main">
              <a:ext uri="{FF2B5EF4-FFF2-40B4-BE49-F238E27FC236}">
                <a16:creationId xmlns:a16="http://schemas.microsoft.com/office/drawing/2014/main" id="{E5255BC8-98CA-4467-8F6E-FE56216A808F}"/>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State global dengan ChangeNotifier</a:t>
            </a:r>
          </a:p>
        </p:txBody>
      </p:sp>
      <p:sp>
        <p:nvSpPr>
          <p:cNvPr id="6" name="text-33">
            <a:extLst xmlns:a="http://schemas.openxmlformats.org/drawingml/2006/main">
              <a:ext uri="{FF2B5EF4-FFF2-40B4-BE49-F238E27FC236}">
                <a16:creationId xmlns:a16="http://schemas.microsoft.com/office/drawing/2014/main" id="{73A42046-B578-4DF9-9486-840DBBF5D711}"/>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user, loading, startupError, themeMode, ApiClient, dan Realtime.</a:t>
            </a:r>
          </a:p>
        </p:txBody>
      </p:sp>
      <p:sp>
        <p:nvSpPr>
          <p:cNvPr id="7" name="text-34">
            <a:extLst xmlns:a="http://schemas.openxmlformats.org/drawingml/2006/main">
              <a:ext uri="{FF2B5EF4-FFF2-40B4-BE49-F238E27FC236}">
                <a16:creationId xmlns:a16="http://schemas.microsoft.com/office/drawing/2014/main" id="{9918FD8D-87DE-4333-B978-AE275C43E06A}"/>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35">
            <a:extLst xmlns:a="http://schemas.openxmlformats.org/drawingml/2006/main">
              <a:ext uri="{FF2B5EF4-FFF2-40B4-BE49-F238E27FC236}">
                <a16:creationId xmlns:a16="http://schemas.microsoft.com/office/drawing/2014/main" id="{A8E94342-4A25-4103-ADFA-C07948374238}"/>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State lokal pada layar chat</a:t>
            </a:r>
          </a:p>
        </p:txBody>
      </p:sp>
      <p:sp>
        <p:nvSpPr>
          <p:cNvPr id="9" name="text-36">
            <a:extLst xmlns:a="http://schemas.openxmlformats.org/drawingml/2006/main">
              <a:ext uri="{FF2B5EF4-FFF2-40B4-BE49-F238E27FC236}">
                <a16:creationId xmlns:a16="http://schemas.microsoft.com/office/drawing/2014/main" id="{E4A5954B-CB53-46ED-BAEB-23BC8A1104C3}"/>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Daftar pesan, draft, lampiran, balasan, status kirim, dan posisi baca.</a:t>
            </a:r>
          </a:p>
        </p:txBody>
      </p:sp>
      <p:sp>
        <p:nvSpPr>
          <p:cNvPr id="10" name="text-37">
            <a:extLst xmlns:a="http://schemas.openxmlformats.org/drawingml/2006/main">
              <a:ext uri="{FF2B5EF4-FFF2-40B4-BE49-F238E27FC236}">
                <a16:creationId xmlns:a16="http://schemas.microsoft.com/office/drawing/2014/main" id="{B437222C-35A2-4AAF-8118-7A56DB0CDD8A}"/>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38">
            <a:extLst xmlns:a="http://schemas.openxmlformats.org/drawingml/2006/main">
              <a:ext uri="{FF2B5EF4-FFF2-40B4-BE49-F238E27FC236}">
                <a16:creationId xmlns:a16="http://schemas.microsoft.com/office/drawing/2014/main" id="{3742A07C-5EAF-4C4B-B9B8-2C8F5D327A5C}"/>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tampilan</a:t>
            </a:r>
          </a:p>
        </p:txBody>
      </p:sp>
      <p:sp>
        <p:nvSpPr>
          <p:cNvPr id="12" name="text-39">
            <a:extLst xmlns:a="http://schemas.openxmlformats.org/drawingml/2006/main">
              <a:ext uri="{FF2B5EF4-FFF2-40B4-BE49-F238E27FC236}">
                <a16:creationId xmlns:a16="http://schemas.microsoft.com/office/drawing/2014/main" id="{E383BFE9-874B-428C-B97B-BED6448E3F05}"/>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notifyListeners memperbarui konsumen state global. setState memperbarui layar aktif.</a:t>
            </a:r>
          </a:p>
        </p:txBody>
      </p:sp>
      <p:sp>
        <p:nvSpPr>
          <p:cNvPr id="13" name="text-40">
            <a:extLst xmlns:a="http://schemas.openxmlformats.org/drawingml/2006/main">
              <a:ext uri="{FF2B5EF4-FFF2-40B4-BE49-F238E27FC236}">
                <a16:creationId xmlns:a16="http://schemas.microsoft.com/office/drawing/2014/main" id="{9CC018E1-B35B-4EB6-BC4E-1B808CA5BED6}"/>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41">
            <a:extLst xmlns:a="http://schemas.openxmlformats.org/drawingml/2006/main">
              <a:ext uri="{FF2B5EF4-FFF2-40B4-BE49-F238E27FC236}">
                <a16:creationId xmlns:a16="http://schemas.microsoft.com/office/drawing/2014/main" id="{A0FEA77F-2B8E-4907-8B76-DCD59041ECD7}"/>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Pembersihan resource</a:t>
            </a:r>
          </a:p>
        </p:txBody>
      </p:sp>
      <p:sp>
        <p:nvSpPr>
          <p:cNvPr id="15" name="text-42">
            <a:extLst xmlns:a="http://schemas.openxmlformats.org/drawingml/2006/main">
              <a:ext uri="{FF2B5EF4-FFF2-40B4-BE49-F238E27FC236}">
                <a16:creationId xmlns:a16="http://schemas.microsoft.com/office/drawing/2014/main" id="{59D474F6-9206-4592-AC12-45D642B5CB79}"/>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dispose menutup HTTP client, stream, subscription, dan timer yang terkait.</a:t>
            </a:r>
          </a:p>
        </p:txBody>
      </p:sp>
    </p:spTree>
    <p:extLst>
      <p:ext uri="{BB962C8B-B14F-4D97-AF65-F5344CB8AC3E}">
        <p14:creationId xmlns:p14="http://schemas.microsoft.com/office/powerpoint/2010/main" val="1759913906"/>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65F435C2-ED6F-48B1-B547-C7469926C727}"/>
              </a:ext>
            </a:extLst>
          </p:cNvPr>
          <p:cNvCxnSpPr>
            <a:stCxn xmlns:a="http://schemas.openxmlformats.org/drawingml/2006/main" id="6" idx="3"/>
            <a:endCxn xmlns:a="http://schemas.openxmlformats.org/drawingml/2006/main" id="7" idx="1"/>
          </p:cNvCxnSpPr>
          <p:nvPr/>
        </p:nvCxnSpPr>
        <p:spPr>
          <a:xfrm xmlns:a="http://schemas.openxmlformats.org/drawingml/2006/main">
            <a:off x="10744200" y="385762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9" name="">
            <a:extLst xmlns:a="http://schemas.openxmlformats.org/drawingml/2006/main">
              <a:ext uri="{FF2B5EF4-FFF2-40B4-BE49-F238E27FC236}">
                <a16:creationId xmlns:a16="http://schemas.microsoft.com/office/drawing/2014/main" id="{6367CD0C-F42A-4633-94DF-9FC040B89597}"/>
              </a:ext>
            </a:extLst>
          </p:cNvPr>
          <p:cNvCxnSpPr>
            <a:stCxn xmlns:a="http://schemas.openxmlformats.org/drawingml/2006/main" id="5" idx="3"/>
            <a:endCxn xmlns:a="http://schemas.openxmlformats.org/drawingml/2006/main" id="6" idx="1"/>
          </p:cNvCxnSpPr>
          <p:nvPr/>
        </p:nvCxnSpPr>
        <p:spPr>
          <a:xfrm xmlns:a="http://schemas.openxmlformats.org/drawingml/2006/main">
            <a:off x="7162800" y="385762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cxnSp>
        <p:nvCxnSpPr>
          <p:cNvPr id="8" name="">
            <a:extLst xmlns:a="http://schemas.openxmlformats.org/drawingml/2006/main">
              <a:ext uri="{FF2B5EF4-FFF2-40B4-BE49-F238E27FC236}">
                <a16:creationId xmlns:a16="http://schemas.microsoft.com/office/drawing/2014/main" id="{8B80FCC1-66A2-40C9-AB2E-A7E82CF208E9}"/>
              </a:ext>
            </a:extLst>
          </p:cNvPr>
          <p:cNvCxnSpPr>
            <a:stCxn xmlns:a="http://schemas.openxmlformats.org/drawingml/2006/main" id="4" idx="3"/>
            <a:endCxn xmlns:a="http://schemas.openxmlformats.org/drawingml/2006/main" id="5" idx="1"/>
          </p:cNvCxnSpPr>
          <p:nvPr/>
        </p:nvCxnSpPr>
        <p:spPr>
          <a:xfrm xmlns:a="http://schemas.openxmlformats.org/drawingml/2006/main">
            <a:off x="3581400" y="3857625"/>
            <a:ext cx="914400" cy="0"/>
          </a:xfrm>
          <a:prstGeom xmlns:a="http://schemas.openxmlformats.org/drawingml/2006/main" prst="straightConnector1">
            <a:avLst/>
          </a:prstGeom>
          <a:ln xmlns:a="http://schemas.openxmlformats.org/drawingml/2006/main" w="28575">
            <a:solidFill>
              <a:srgbClr val="0284C7"/>
            </a:solidFill>
            <a:tailEnd type="triangle" w="med" len="med"/>
          </a:ln>
        </p:spPr>
      </p:cxnSp>
      <p:sp>
        <p:nvSpPr>
          <p:cNvPr id="13" name="text-43">
            <a:extLst xmlns:a="http://schemas.openxmlformats.org/drawingml/2006/main">
              <a:ext uri="{FF2B5EF4-FFF2-40B4-BE49-F238E27FC236}">
                <a16:creationId xmlns:a16="http://schemas.microsoft.com/office/drawing/2014/main" id="{B239972F-5388-4B95-9315-BE0947EF02E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Flow startup dan pemulihan sesi</a:t>
            </a:r>
          </a:p>
        </p:txBody>
      </p:sp>
      <p:sp>
        <p:nvSpPr>
          <p:cNvPr id="2" name="text-44">
            <a:extLst xmlns:a="http://schemas.openxmlformats.org/drawingml/2006/main">
              <a:ext uri="{FF2B5EF4-FFF2-40B4-BE49-F238E27FC236}">
                <a16:creationId xmlns:a16="http://schemas.microsoft.com/office/drawing/2014/main" id="{2682BFB4-1484-4994-85C9-BD5A3F4B44B4}"/>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initialize memuat preferensi terlebih dahulu, lalu memeriksa token yang tersimpan.</a:t>
            </a:r>
          </a:p>
        </p:txBody>
      </p:sp>
      <p:sp>
        <p:nvSpPr>
          <p:cNvPr id="3" name="text-45">
            <a:extLst xmlns:a="http://schemas.openxmlformats.org/drawingml/2006/main">
              <a:ext uri="{FF2B5EF4-FFF2-40B4-BE49-F238E27FC236}">
                <a16:creationId xmlns:a16="http://schemas.microsoft.com/office/drawing/2014/main" id="{44F1017C-6779-4CA8-9C2A-A1DD6FECC0F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6</a:t>
            </a:r>
          </a:p>
        </p:txBody>
      </p:sp>
      <p:sp>
        <p:nvSpPr>
          <p:cNvPr id="4" name="diagram-node-46">
            <a:extLst xmlns:a="http://schemas.openxmlformats.org/drawingml/2006/main">
              <a:ext uri="{FF2B5EF4-FFF2-40B4-BE49-F238E27FC236}">
                <a16:creationId xmlns:a16="http://schemas.microsoft.com/office/drawing/2014/main" id="{3FBB8F11-93D3-4CC4-AACF-4C4B0FC3A441}"/>
              </a:ext>
            </a:extLst>
          </p:cNvPr>
          <p:cNvSpPr>
            <a:spLocks xmlns:a="http://schemas.openxmlformats.org/drawingml/2006/main" noGrp="1"/>
          </p:cNvSpPr>
          <p:nvPr/>
        </p:nvSpPr>
        <p:spPr>
          <a:xfrm xmlns:a="http://schemas.openxmlformats.org/drawingml/2006/main">
            <a:off x="914400" y="3048000"/>
            <a:ext cx="2667000" cy="1619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Preferensi</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Server dan tema</a:t>
            </a:r>
          </a:p>
        </p:txBody>
      </p:sp>
      <p:sp>
        <p:nvSpPr>
          <p:cNvPr id="5" name="diagram-node-47">
            <a:extLst xmlns:a="http://schemas.openxmlformats.org/drawingml/2006/main">
              <a:ext uri="{FF2B5EF4-FFF2-40B4-BE49-F238E27FC236}">
                <a16:creationId xmlns:a16="http://schemas.microsoft.com/office/drawing/2014/main" id="{09E8C327-BC28-4443-81C7-7A790FD243B9}"/>
              </a:ext>
            </a:extLst>
          </p:cNvPr>
          <p:cNvSpPr>
            <a:spLocks xmlns:a="http://schemas.openxmlformats.org/drawingml/2006/main" noGrp="1"/>
          </p:cNvSpPr>
          <p:nvPr/>
        </p:nvSpPr>
        <p:spPr>
          <a:xfrm xmlns:a="http://schemas.openxmlformats.org/drawingml/2006/main">
            <a:off x="4495800" y="3048000"/>
            <a:ext cx="2667000" cy="1619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Secure storage</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Baca token sesi</a:t>
            </a:r>
          </a:p>
        </p:txBody>
      </p:sp>
      <p:sp>
        <p:nvSpPr>
          <p:cNvPr id="6" name="diagram-node-48">
            <a:extLst xmlns:a="http://schemas.openxmlformats.org/drawingml/2006/main">
              <a:ext uri="{FF2B5EF4-FFF2-40B4-BE49-F238E27FC236}">
                <a16:creationId xmlns:a16="http://schemas.microsoft.com/office/drawing/2014/main" id="{8D12E6F7-DEDC-43AD-BDDB-C7C371AFD557}"/>
              </a:ext>
            </a:extLst>
          </p:cNvPr>
          <p:cNvSpPr>
            <a:spLocks xmlns:a="http://schemas.openxmlformats.org/drawingml/2006/main" noGrp="1"/>
          </p:cNvSpPr>
          <p:nvPr/>
        </p:nvSpPr>
        <p:spPr>
          <a:xfrm xmlns:a="http://schemas.openxmlformats.org/drawingml/2006/main">
            <a:off x="8077200" y="3048000"/>
            <a:ext cx="2667000" cy="1619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GET /me</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Periksa sesi server</a:t>
            </a:r>
          </a:p>
        </p:txBody>
      </p:sp>
      <p:sp>
        <p:nvSpPr>
          <p:cNvPr id="7" name="diagram-node-49">
            <a:extLst xmlns:a="http://schemas.openxmlformats.org/drawingml/2006/main">
              <a:ext uri="{FF2B5EF4-FFF2-40B4-BE49-F238E27FC236}">
                <a16:creationId xmlns:a16="http://schemas.microsoft.com/office/drawing/2014/main" id="{1A0066EB-8494-4FB7-9D4F-0B9860C47BE3}"/>
              </a:ext>
            </a:extLst>
          </p:cNvPr>
          <p:cNvSpPr>
            <a:spLocks xmlns:a="http://schemas.openxmlformats.org/drawingml/2006/main" noGrp="1"/>
          </p:cNvSpPr>
          <p:nvPr/>
        </p:nvSpPr>
        <p:spPr>
          <a:xfrm xmlns:a="http://schemas.openxmlformats.org/drawingml/2006/main">
            <a:off x="11658600" y="3048000"/>
            <a:ext cx="2667000" cy="1619250"/>
          </a:xfrm>
          <a:prstGeom xmlns:a="http://schemas.openxmlformats.org/drawingml/2006/main" prst="rect">
            <a:avLst/>
          </a:prstGeom>
          <a:solidFill xmlns:a="http://schemas.openxmlformats.org/drawingml/2006/main">
            <a:srgbClr val="FFFFFF"/>
          </a:solidFill>
          <a:ln xmlns:a="http://schemas.openxmlformats.org/drawingml/2006/main" w="19050">
            <a:solidFill>
              <a:srgbClr val="0284C7"/>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0F172A"/>
                </a:solidFill>
                <a:latin typeface="Arial"/>
                <a:ea typeface="Arial"/>
                <a:cs typeface="Arial"/>
              </a:defRPr>
            </a:defPPr>
            <a:lvl1pPr algn="ctr">
              <a:defRPr sz="2025">
                <a:solidFill>
                  <a:srgbClr val="0F172A"/>
                </a:solidFill>
                <a:latin typeface="Arial"/>
                <a:ea typeface="Arial"/>
                <a:cs typeface="Arial"/>
              </a:defRPr>
            </a:lvl1pPr>
            <a:lvl2pPr algn="ctr">
              <a:defRPr sz="2025">
                <a:solidFill>
                  <a:srgbClr val="0F172A"/>
                </a:solidFill>
                <a:latin typeface="Arial"/>
                <a:ea typeface="Arial"/>
                <a:cs typeface="Arial"/>
              </a:defRPr>
            </a:lvl2pPr>
            <a:lvl3pPr algn="ctr">
              <a:defRPr sz="2025">
                <a:solidFill>
                  <a:srgbClr val="0F172A"/>
                </a:solidFill>
                <a:latin typeface="Arial"/>
                <a:ea typeface="Arial"/>
                <a:cs typeface="Arial"/>
              </a:defRPr>
            </a:lvl3pPr>
            <a:lvl4pPr algn="ctr">
              <a:defRPr sz="2025">
                <a:solidFill>
                  <a:srgbClr val="0F172A"/>
                </a:solidFill>
                <a:latin typeface="Arial"/>
                <a:ea typeface="Arial"/>
                <a:cs typeface="Arial"/>
              </a:defRPr>
            </a:lvl4pPr>
            <a:lvl5pPr algn="ctr">
              <a:defRPr sz="2025">
                <a:solidFill>
                  <a:srgbClr val="0F172A"/>
                </a:solidFill>
                <a:latin typeface="Arial"/>
                <a:ea typeface="Arial"/>
                <a:cs typeface="Arial"/>
              </a:defRPr>
            </a:lvl5pPr>
            <a:lvl6pPr algn="ctr">
              <a:defRPr sz="2025">
                <a:solidFill>
                  <a:srgbClr val="0F172A"/>
                </a:solidFill>
                <a:latin typeface="Arial"/>
                <a:ea typeface="Arial"/>
                <a:cs typeface="Arial"/>
              </a:defRPr>
            </a:lvl6pPr>
            <a:lvl7pPr algn="ctr">
              <a:defRPr sz="2025">
                <a:solidFill>
                  <a:srgbClr val="0F172A"/>
                </a:solidFill>
                <a:latin typeface="Arial"/>
                <a:ea typeface="Arial"/>
                <a:cs typeface="Arial"/>
              </a:defRPr>
            </a:lvl7pPr>
            <a:lvl8pPr algn="ctr">
              <a:defRPr sz="2025">
                <a:solidFill>
                  <a:srgbClr val="0F172A"/>
                </a:solidFill>
                <a:latin typeface="Arial"/>
                <a:ea typeface="Arial"/>
                <a:cs typeface="Arial"/>
              </a:defRPr>
            </a:lvl8pPr>
            <a:lvl9pPr algn="ctr">
              <a:defRPr sz="2025">
                <a:solidFill>
                  <a:srgbClr val="0F172A"/>
                </a:solidFill>
                <a:latin typeface="Arial"/>
                <a:ea typeface="Arial"/>
                <a:cs typeface="Arial"/>
              </a:defRPr>
            </a:lvl9pPr>
          </a:lstStyle>
          <a:p xmlns:a="http://schemas.openxmlformats.org/drawingml/2006/main">
            <a:pPr algn="ctr">
              <a:spcAft>
                <a:spcPts val="1000"/>
              </a:spcAft>
              <a:defRPr sz="2025">
                <a:solidFill>
                  <a:srgbClr val="0F172A"/>
                </a:solidFill>
                <a:latin typeface="Arial"/>
                <a:ea typeface="Arial"/>
                <a:cs typeface="Arial"/>
              </a:defRPr>
            </a:pPr>
            <a:r>
              <a:rPr sz="2025" b="1">
                <a:solidFill>
                  <a:srgbClr val="0F172A"/>
                </a:solidFill>
                <a:latin typeface="Arial"/>
                <a:ea typeface="Arial"/>
                <a:cs typeface="Arial"/>
              </a:rPr>
              <a:t>Tampilan</a:t>
            </a:r>
          </a:p>
          <a:p xmlns:a="http://schemas.openxmlformats.org/drawingml/2006/main">
            <a:pPr algn="ctr">
              <a:defRPr sz="2025">
                <a:solidFill>
                  <a:srgbClr val="0F172A"/>
                </a:solidFill>
                <a:latin typeface="Arial"/>
                <a:ea typeface="Arial"/>
                <a:cs typeface="Arial"/>
              </a:defRPr>
            </a:pPr>
            <a:r>
              <a:rPr sz="2025">
                <a:solidFill>
                  <a:srgbClr val="0F172A"/>
                </a:solidFill>
                <a:latin typeface="Arial"/>
                <a:ea typeface="Arial"/>
                <a:cs typeface="Arial"/>
              </a:rPr>
              <a:t>User atau login</a:t>
            </a:r>
          </a:p>
        </p:txBody>
      </p:sp>
      <p:sp>
        <p:nvSpPr>
          <p:cNvPr id="11" name="text-50">
            <a:extLst xmlns:a="http://schemas.openxmlformats.org/drawingml/2006/main">
              <a:ext uri="{FF2B5EF4-FFF2-40B4-BE49-F238E27FC236}">
                <a16:creationId xmlns:a16="http://schemas.microsoft.com/office/drawing/2014/main" id="{D0FA336A-0D71-417E-8236-A763FD5E18D1}"/>
              </a:ext>
            </a:extLst>
          </p:cNvPr>
          <p:cNvSpPr>
            <a:spLocks xmlns:a="http://schemas.openxmlformats.org/drawingml/2006/main" noGrp="1"/>
          </p:cNvSpPr>
          <p:nvPr/>
        </p:nvSpPr>
        <p:spPr>
          <a:xfrm xmlns:a="http://schemas.openxmlformats.org/drawingml/2006/main">
            <a:off x="914400" y="5600700"/>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Token valid: user tersedia dan Realtime mulai terhubung.</a:t>
            </a:r>
          </a:p>
        </p:txBody>
      </p:sp>
      <p:sp>
        <p:nvSpPr>
          <p:cNvPr id="12" name="text-51">
            <a:extLst xmlns:a="http://schemas.openxmlformats.org/drawingml/2006/main">
              <a:ext uri="{FF2B5EF4-FFF2-40B4-BE49-F238E27FC236}">
                <a16:creationId xmlns:a16="http://schemas.microsoft.com/office/drawing/2014/main" id="{5BE78138-A005-4D78-8CE9-6C8B900B4235}"/>
              </a:ext>
            </a:extLst>
          </p:cNvPr>
          <p:cNvSpPr>
            <a:spLocks xmlns:a="http://schemas.openxmlformats.org/drawingml/2006/main" noGrp="1"/>
          </p:cNvSpPr>
          <p:nvPr/>
        </p:nvSpPr>
        <p:spPr>
          <a:xfrm xmlns:a="http://schemas.openxmlformats.org/drawingml/2006/main">
            <a:off x="914400" y="6419850"/>
            <a:ext cx="1333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475569"/>
                </a:solidFill>
                <a:latin typeface="Arial"/>
                <a:ea typeface="Arial"/>
                <a:cs typeface="Arial"/>
              </a:defRPr>
            </a:defPPr>
            <a:lvl1pPr algn="l">
              <a:defRPr sz="2250" b="0">
                <a:solidFill>
                  <a:srgbClr val="475569"/>
                </a:solidFill>
                <a:latin typeface="Arial"/>
                <a:ea typeface="Arial"/>
                <a:cs typeface="Arial"/>
              </a:defRPr>
            </a:lvl1pPr>
            <a:lvl2pPr algn="l">
              <a:defRPr sz="2250" b="0">
                <a:solidFill>
                  <a:srgbClr val="475569"/>
                </a:solidFill>
                <a:latin typeface="Arial"/>
                <a:ea typeface="Arial"/>
                <a:cs typeface="Arial"/>
              </a:defRPr>
            </a:lvl2pPr>
            <a:lvl3pPr algn="l">
              <a:defRPr sz="2250" b="0">
                <a:solidFill>
                  <a:srgbClr val="475569"/>
                </a:solidFill>
                <a:latin typeface="Arial"/>
                <a:ea typeface="Arial"/>
                <a:cs typeface="Arial"/>
              </a:defRPr>
            </a:lvl3pPr>
            <a:lvl4pPr algn="l">
              <a:defRPr sz="2250" b="0">
                <a:solidFill>
                  <a:srgbClr val="475569"/>
                </a:solidFill>
                <a:latin typeface="Arial"/>
                <a:ea typeface="Arial"/>
                <a:cs typeface="Arial"/>
              </a:defRPr>
            </a:lvl4pPr>
            <a:lvl5pPr algn="l">
              <a:defRPr sz="2250" b="0">
                <a:solidFill>
                  <a:srgbClr val="475569"/>
                </a:solidFill>
                <a:latin typeface="Arial"/>
                <a:ea typeface="Arial"/>
                <a:cs typeface="Arial"/>
              </a:defRPr>
            </a:lvl5pPr>
            <a:lvl6pPr algn="l">
              <a:defRPr sz="2250" b="0">
                <a:solidFill>
                  <a:srgbClr val="475569"/>
                </a:solidFill>
                <a:latin typeface="Arial"/>
                <a:ea typeface="Arial"/>
                <a:cs typeface="Arial"/>
              </a:defRPr>
            </a:lvl6pPr>
            <a:lvl7pPr algn="l">
              <a:defRPr sz="2250" b="0">
                <a:solidFill>
                  <a:srgbClr val="475569"/>
                </a:solidFill>
                <a:latin typeface="Arial"/>
                <a:ea typeface="Arial"/>
                <a:cs typeface="Arial"/>
              </a:defRPr>
            </a:lvl7pPr>
            <a:lvl8pPr algn="l">
              <a:defRPr sz="2250" b="0">
                <a:solidFill>
                  <a:srgbClr val="475569"/>
                </a:solidFill>
                <a:latin typeface="Arial"/>
                <a:ea typeface="Arial"/>
                <a:cs typeface="Arial"/>
              </a:defRPr>
            </a:lvl8pPr>
            <a:lvl9pPr algn="l">
              <a:defRPr sz="2250" b="0">
                <a:solidFill>
                  <a:srgbClr val="475569"/>
                </a:solidFill>
                <a:latin typeface="Arial"/>
                <a:ea typeface="Arial"/>
                <a:cs typeface="Arial"/>
              </a:defRPr>
            </a:lvl9pPr>
          </a:lstStyle>
          <a:p xmlns:a="http://schemas.openxmlformats.org/drawingml/2006/main">
            <a:pPr algn="l">
              <a:defRPr sz="2250" b="0">
                <a:solidFill>
                  <a:srgbClr val="475569"/>
                </a:solidFill>
                <a:latin typeface="Arial"/>
                <a:ea typeface="Arial"/>
                <a:cs typeface="Arial"/>
              </a:defRPr>
            </a:pPr>
            <a:r>
              <a:rPr sz="2250" b="0">
                <a:solidFill>
                  <a:srgbClr val="475569"/>
                </a:solidFill>
                <a:latin typeface="Arial"/>
                <a:ea typeface="Arial"/>
                <a:cs typeface="Arial"/>
              </a:rPr>
              <a:t>401: hapus sesi lokal. Kegagalan server lain: tampilkan startupError.</a:t>
            </a:r>
          </a:p>
        </p:txBody>
      </p:sp>
    </p:spTree>
    <p:extLst>
      <p:ext uri="{BB962C8B-B14F-4D97-AF65-F5344CB8AC3E}">
        <p14:creationId xmlns:p14="http://schemas.microsoft.com/office/powerpoint/2010/main" val="1833853234"/>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52">
            <a:extLst xmlns:a="http://schemas.openxmlformats.org/drawingml/2006/main">
              <a:ext uri="{FF2B5EF4-FFF2-40B4-BE49-F238E27FC236}">
                <a16:creationId xmlns:a16="http://schemas.microsoft.com/office/drawing/2014/main" id="{6ED3F58F-2363-409A-AEB3-DF577D28EFB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Registrasi dan login</a:t>
            </a:r>
          </a:p>
        </p:txBody>
      </p:sp>
      <p:sp>
        <p:nvSpPr>
          <p:cNvPr id="2" name="text-53">
            <a:extLst xmlns:a="http://schemas.openxmlformats.org/drawingml/2006/main">
              <a:ext uri="{FF2B5EF4-FFF2-40B4-BE49-F238E27FC236}">
                <a16:creationId xmlns:a16="http://schemas.microsoft.com/office/drawing/2014/main" id="{03A80142-F8A1-4A36-8C65-865B36864FF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7</a:t>
            </a:r>
          </a:p>
        </p:txBody>
      </p:sp>
      <p:sp>
        <p:nvSpPr>
          <p:cNvPr id="3" name="text-54">
            <a:extLst xmlns:a="http://schemas.openxmlformats.org/drawingml/2006/main">
              <a:ext uri="{FF2B5EF4-FFF2-40B4-BE49-F238E27FC236}">
                <a16:creationId xmlns:a16="http://schemas.microsoft.com/office/drawing/2014/main" id="{39F7D21A-0584-4B66-A773-60D08F257C39}"/>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POST /auth/register atau /auth/login menghasilkan token dan data user.</a:t>
            </a:r>
          </a:p>
        </p:txBody>
      </p:sp>
      <p:sp>
        <p:nvSpPr>
          <p:cNvPr id="4" name="text-55">
            <a:extLst xmlns:a="http://schemas.openxmlformats.org/drawingml/2006/main">
              <a:ext uri="{FF2B5EF4-FFF2-40B4-BE49-F238E27FC236}">
                <a16:creationId xmlns:a16="http://schemas.microsoft.com/office/drawing/2014/main" id="{84559660-169C-4985-9A9C-759B65495138}"/>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56">
            <a:extLst xmlns:a="http://schemas.openxmlformats.org/drawingml/2006/main">
              <a:ext uri="{FF2B5EF4-FFF2-40B4-BE49-F238E27FC236}">
                <a16:creationId xmlns:a16="http://schemas.microsoft.com/office/drawing/2014/main" id="{B21A6033-3028-4E58-956C-482E65A12713}"/>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Validasi input dan password</a:t>
            </a:r>
          </a:p>
        </p:txBody>
      </p:sp>
      <p:sp>
        <p:nvSpPr>
          <p:cNvPr id="6" name="text-57">
            <a:extLst xmlns:a="http://schemas.openxmlformats.org/drawingml/2006/main">
              <a:ext uri="{FF2B5EF4-FFF2-40B4-BE49-F238E27FC236}">
                <a16:creationId xmlns:a16="http://schemas.microsoft.com/office/drawing/2014/main" id="{CB019B6E-8B73-4A66-9142-C73B1C8D8200}"/>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memeriksa payload. Registrasi menyimpan password sebagai hash bcrypt.</a:t>
            </a:r>
          </a:p>
        </p:txBody>
      </p:sp>
      <p:sp>
        <p:nvSpPr>
          <p:cNvPr id="7" name="text-58">
            <a:extLst xmlns:a="http://schemas.openxmlformats.org/drawingml/2006/main">
              <a:ext uri="{FF2B5EF4-FFF2-40B4-BE49-F238E27FC236}">
                <a16:creationId xmlns:a16="http://schemas.microsoft.com/office/drawing/2014/main" id="{5D8F8B6A-0F41-4534-9C9A-3DE34F8B2A9E}"/>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59">
            <a:extLst xmlns:a="http://schemas.openxmlformats.org/drawingml/2006/main">
              <a:ext uri="{FF2B5EF4-FFF2-40B4-BE49-F238E27FC236}">
                <a16:creationId xmlns:a16="http://schemas.microsoft.com/office/drawing/2014/main" id="{F0B86752-1BED-416C-B934-1E7CCAB1FBE5}"/>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Pembentukan sesi</a:t>
            </a:r>
          </a:p>
        </p:txBody>
      </p:sp>
      <p:sp>
        <p:nvSpPr>
          <p:cNvPr id="9" name="text-60">
            <a:extLst xmlns:a="http://schemas.openxmlformats.org/drawingml/2006/main">
              <a:ext uri="{FF2B5EF4-FFF2-40B4-BE49-F238E27FC236}">
                <a16:creationId xmlns:a16="http://schemas.microsoft.com/office/drawing/2014/main" id="{2F657C7F-0A20-4329-9B64-11454CDDF0F5}"/>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membuat token acak dan menyimpan hash SHA-256 dengan kedaluwarsa 30 hari.</a:t>
            </a:r>
          </a:p>
        </p:txBody>
      </p:sp>
      <p:sp>
        <p:nvSpPr>
          <p:cNvPr id="10" name="text-61">
            <a:extLst xmlns:a="http://schemas.openxmlformats.org/drawingml/2006/main">
              <a:ext uri="{FF2B5EF4-FFF2-40B4-BE49-F238E27FC236}">
                <a16:creationId xmlns:a16="http://schemas.microsoft.com/office/drawing/2014/main" id="{1C3AA96C-9F24-48CE-AC76-686117290B7D}"/>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62">
            <a:extLst xmlns:a="http://schemas.openxmlformats.org/drawingml/2006/main">
              <a:ext uri="{FF2B5EF4-FFF2-40B4-BE49-F238E27FC236}">
                <a16:creationId xmlns:a16="http://schemas.microsoft.com/office/drawing/2014/main" id="{5F11E2D7-C020-486D-A3A3-1D2550904D36}"/>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Penerimaan pada Flutter</a:t>
            </a:r>
          </a:p>
        </p:txBody>
      </p:sp>
      <p:sp>
        <p:nvSpPr>
          <p:cNvPr id="12" name="text-63">
            <a:extLst xmlns:a="http://schemas.openxmlformats.org/drawingml/2006/main">
              <a:ext uri="{FF2B5EF4-FFF2-40B4-BE49-F238E27FC236}">
                <a16:creationId xmlns:a16="http://schemas.microsoft.com/office/drawing/2014/main" id="{81C8F86B-3B1E-4A20-8A83-BD1D52567FF6}"/>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authenticate menyimpan token di secure storage, mengisi user, lalu memulai Realtime.</a:t>
            </a:r>
          </a:p>
        </p:txBody>
      </p:sp>
      <p:pic>
        <p:nvPicPr>
          <p:cNvPr id="13" name="">
            <a:extLst xmlns:a="http://schemas.openxmlformats.org/drawingml/2006/main">
              <a:ext uri="{FF2B5EF4-FFF2-40B4-BE49-F238E27FC236}">
                <a16:creationId xmlns:a16="http://schemas.microsoft.com/office/drawing/2014/main" id="{B4F83FCE-704A-4627-A983-A9872FDA2731}"/>
              </a:ext>
            </a:extLst>
          </p:cNvPr>
          <p:cNvPicPr>
            <a:picLocks xmlns:a="http://schemas.openxmlformats.org/drawingml/2006/main" noChangeAspect="1"/>
          </p:cNvPicPr>
          <p:nvPr/>
        </p:nvPicPr>
        <p:blipFill>
          <a:blip xmlns:r="http://schemas.openxmlformats.org/officeDocument/2006/relationships" xmlns:a="http://schemas.openxmlformats.org/drawingml/2006/main" r:embed="R62cab2fb62bc4e91"/>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69738498"/>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65">
            <a:extLst xmlns:a="http://schemas.openxmlformats.org/drawingml/2006/main">
              <a:ext uri="{FF2B5EF4-FFF2-40B4-BE49-F238E27FC236}">
                <a16:creationId xmlns:a16="http://schemas.microsoft.com/office/drawing/2014/main" id="{DFA6EF06-2425-419A-8593-987596C9382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Autentikasi request dan logout</a:t>
            </a:r>
          </a:p>
        </p:txBody>
      </p:sp>
      <p:sp>
        <p:nvSpPr>
          <p:cNvPr id="2" name="text-66">
            <a:extLst xmlns:a="http://schemas.openxmlformats.org/drawingml/2006/main">
              <a:ext uri="{FF2B5EF4-FFF2-40B4-BE49-F238E27FC236}">
                <a16:creationId xmlns:a16="http://schemas.microsoft.com/office/drawing/2014/main" id="{7D14D149-1E24-40A0-AD0D-62807C144E8F}"/>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Token mengidentifikasi pengguna. Keanggotaan percakapan menentukan hak akses.</a:t>
            </a:r>
          </a:p>
        </p:txBody>
      </p:sp>
      <p:sp>
        <p:nvSpPr>
          <p:cNvPr id="3" name="text-67">
            <a:extLst xmlns:a="http://schemas.openxmlformats.org/drawingml/2006/main">
              <a:ext uri="{FF2B5EF4-FFF2-40B4-BE49-F238E27FC236}">
                <a16:creationId xmlns:a16="http://schemas.microsoft.com/office/drawing/2014/main" id="{84788141-041F-497D-BCD1-01C98FE995E1}"/>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8</a:t>
            </a:r>
          </a:p>
        </p:txBody>
      </p:sp>
      <p:sp>
        <p:nvSpPr>
          <p:cNvPr id="4" name="text-68">
            <a:extLst xmlns:a="http://schemas.openxmlformats.org/drawingml/2006/main">
              <a:ext uri="{FF2B5EF4-FFF2-40B4-BE49-F238E27FC236}">
                <a16:creationId xmlns:a16="http://schemas.microsoft.com/office/drawing/2014/main" id="{EFCFB78B-D1C5-4618-9247-D6F13D04BCEB}"/>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69">
            <a:extLst xmlns:a="http://schemas.openxmlformats.org/drawingml/2006/main">
              <a:ext uri="{FF2B5EF4-FFF2-40B4-BE49-F238E27FC236}">
                <a16:creationId xmlns:a16="http://schemas.microsoft.com/office/drawing/2014/main" id="{D17E4523-F4FC-4C14-8B9D-A742A0B92686}"/>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Request privat</a:t>
            </a:r>
          </a:p>
        </p:txBody>
      </p:sp>
      <p:sp>
        <p:nvSpPr>
          <p:cNvPr id="6" name="text-70">
            <a:extLst xmlns:a="http://schemas.openxmlformats.org/drawingml/2006/main">
              <a:ext uri="{FF2B5EF4-FFF2-40B4-BE49-F238E27FC236}">
                <a16:creationId xmlns:a16="http://schemas.microsoft.com/office/drawing/2014/main" id="{6E83919D-2DC3-4358-B430-9413627FEAD5}"/>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ApiClient mengirim Authorization: Bearer &lt;token&gt;. Middleware mencari hash sesi yang valid.</a:t>
            </a:r>
          </a:p>
        </p:txBody>
      </p:sp>
      <p:sp>
        <p:nvSpPr>
          <p:cNvPr id="7" name="text-71">
            <a:extLst xmlns:a="http://schemas.openxmlformats.org/drawingml/2006/main">
              <a:ext uri="{FF2B5EF4-FFF2-40B4-BE49-F238E27FC236}">
                <a16:creationId xmlns:a16="http://schemas.microsoft.com/office/drawing/2014/main" id="{B3BE050D-6124-4FCE-9850-0E2585F3982D}"/>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72">
            <a:extLst xmlns:a="http://schemas.openxmlformats.org/drawingml/2006/main">
              <a:ext uri="{FF2B5EF4-FFF2-40B4-BE49-F238E27FC236}">
                <a16:creationId xmlns:a16="http://schemas.microsoft.com/office/drawing/2014/main" id="{B74DFDA5-2103-4264-91E8-A75AFF94CAFE}"/>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Identitas tepercaya</a:t>
            </a:r>
          </a:p>
        </p:txBody>
      </p:sp>
      <p:sp>
        <p:nvSpPr>
          <p:cNvPr id="9" name="text-73">
            <a:extLst xmlns:a="http://schemas.openxmlformats.org/drawingml/2006/main">
              <a:ext uri="{FF2B5EF4-FFF2-40B4-BE49-F238E27FC236}">
                <a16:creationId xmlns:a16="http://schemas.microsoft.com/office/drawing/2014/main" id="{25A9D320-FC14-4A37-9064-78D32A64A5CB}"/>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memasukkan user dari sesi ke context, lalu handler memakai currentUser.</a:t>
            </a:r>
          </a:p>
        </p:txBody>
      </p:sp>
      <p:sp>
        <p:nvSpPr>
          <p:cNvPr id="10" name="text-74">
            <a:extLst xmlns:a="http://schemas.openxmlformats.org/drawingml/2006/main">
              <a:ext uri="{FF2B5EF4-FFF2-40B4-BE49-F238E27FC236}">
                <a16:creationId xmlns:a16="http://schemas.microsoft.com/office/drawing/2014/main" id="{38AC0FC9-C9D0-4136-9489-2697DA68091B}"/>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75">
            <a:extLst xmlns:a="http://schemas.openxmlformats.org/drawingml/2006/main">
              <a:ext uri="{FF2B5EF4-FFF2-40B4-BE49-F238E27FC236}">
                <a16:creationId xmlns:a16="http://schemas.microsoft.com/office/drawing/2014/main" id="{5B167D95-57B0-4EF9-BB8A-1E482321C83B}"/>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Logout</a:t>
            </a:r>
          </a:p>
        </p:txBody>
      </p:sp>
      <p:sp>
        <p:nvSpPr>
          <p:cNvPr id="12" name="text-76">
            <a:extLst xmlns:a="http://schemas.openxmlformats.org/drawingml/2006/main">
              <a:ext uri="{FF2B5EF4-FFF2-40B4-BE49-F238E27FC236}">
                <a16:creationId xmlns:a16="http://schemas.microsoft.com/office/drawing/2014/main" id="{87ADA4B0-3AB5-4E51-90E2-ACA10B6450E0}"/>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POST /auth/logout menghapus sesi dan mencabut koneksi WebSocket untuk token tersebut.</a:t>
            </a:r>
          </a:p>
        </p:txBody>
      </p:sp>
      <p:sp>
        <p:nvSpPr>
          <p:cNvPr id="13" name="text-77">
            <a:extLst xmlns:a="http://schemas.openxmlformats.org/drawingml/2006/main">
              <a:ext uri="{FF2B5EF4-FFF2-40B4-BE49-F238E27FC236}">
                <a16:creationId xmlns:a16="http://schemas.microsoft.com/office/drawing/2014/main" id="{15B9BA25-B284-4409-98FC-E313A8C8C155}"/>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78">
            <a:extLst xmlns:a="http://schemas.openxmlformats.org/drawingml/2006/main">
              <a:ext uri="{FF2B5EF4-FFF2-40B4-BE49-F238E27FC236}">
                <a16:creationId xmlns:a16="http://schemas.microsoft.com/office/drawing/2014/main" id="{FAA65C9D-ABD6-4532-8766-287E47B601B6}"/>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Sesi berakhir</a:t>
            </a:r>
          </a:p>
        </p:txBody>
      </p:sp>
      <p:sp>
        <p:nvSpPr>
          <p:cNvPr id="15" name="text-79">
            <a:extLst xmlns:a="http://schemas.openxmlformats.org/drawingml/2006/main">
              <a:ext uri="{FF2B5EF4-FFF2-40B4-BE49-F238E27FC236}">
                <a16:creationId xmlns:a16="http://schemas.microsoft.com/office/drawing/2014/main" id="{95CE83C5-EF92-4FAF-B403-ABEDAF11491D}"/>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HTTP 401 memicu expireSession. WebSocket policy violation juga memicu pembersihan sesi.</a:t>
            </a:r>
          </a:p>
        </p:txBody>
      </p:sp>
    </p:spTree>
    <p:extLst>
      <p:ext uri="{BB962C8B-B14F-4D97-AF65-F5344CB8AC3E}">
        <p14:creationId xmlns:p14="http://schemas.microsoft.com/office/powerpoint/2010/main" val="1584173933"/>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80">
            <a:extLst xmlns:a="http://schemas.openxmlformats.org/drawingml/2006/main">
              <a:ext uri="{FF2B5EF4-FFF2-40B4-BE49-F238E27FC236}">
                <a16:creationId xmlns:a16="http://schemas.microsoft.com/office/drawing/2014/main" id="{16E20184-7CFE-4F3A-9070-F6200340FD5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Pembuatan percakapan langsung</a:t>
            </a:r>
          </a:p>
        </p:txBody>
      </p:sp>
      <p:sp>
        <p:nvSpPr>
          <p:cNvPr id="2" name="text-81">
            <a:extLst xmlns:a="http://schemas.openxmlformats.org/drawingml/2006/main">
              <a:ext uri="{FF2B5EF4-FFF2-40B4-BE49-F238E27FC236}">
                <a16:creationId xmlns:a16="http://schemas.microsoft.com/office/drawing/2014/main" id="{9FD4F327-F51F-4CA3-8505-324404F09FE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9</a:t>
            </a:r>
          </a:p>
        </p:txBody>
      </p:sp>
      <p:sp>
        <p:nvSpPr>
          <p:cNvPr id="3" name="text-82">
            <a:extLst xmlns:a="http://schemas.openxmlformats.org/drawingml/2006/main">
              <a:ext uri="{FF2B5EF4-FFF2-40B4-BE49-F238E27FC236}">
                <a16:creationId xmlns:a16="http://schemas.microsoft.com/office/drawing/2014/main" id="{0B59F762-DE91-4AEC-9DC2-D4F7E187E7CF}"/>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Satu pasangan pengguna memakai satu percakapan meskipun tombol mulai ditekan berulang.</a:t>
            </a:r>
          </a:p>
        </p:txBody>
      </p:sp>
      <p:sp>
        <p:nvSpPr>
          <p:cNvPr id="4" name="text-83">
            <a:extLst xmlns:a="http://schemas.openxmlformats.org/drawingml/2006/main">
              <a:ext uri="{FF2B5EF4-FFF2-40B4-BE49-F238E27FC236}">
                <a16:creationId xmlns:a16="http://schemas.microsoft.com/office/drawing/2014/main" id="{26F12B74-3A27-419E-BA06-63B8497CEF62}"/>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84">
            <a:extLst xmlns:a="http://schemas.openxmlformats.org/drawingml/2006/main">
              <a:ext uri="{FF2B5EF4-FFF2-40B4-BE49-F238E27FC236}">
                <a16:creationId xmlns:a16="http://schemas.microsoft.com/office/drawing/2014/main" id="{BCE2426F-3D85-47A0-BA16-B1206BF60E75}"/>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pengguna</a:t>
            </a:r>
          </a:p>
        </p:txBody>
      </p:sp>
      <p:sp>
        <p:nvSpPr>
          <p:cNvPr id="6" name="text-85">
            <a:extLst xmlns:a="http://schemas.openxmlformats.org/drawingml/2006/main">
              <a:ext uri="{FF2B5EF4-FFF2-40B4-BE49-F238E27FC236}">
                <a16:creationId xmlns:a16="http://schemas.microsoft.com/office/drawing/2014/main" id="{232ABAB0-CA51-418A-A7DC-8A0011DD2BFB}"/>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GET /users?q=... mencari nama, mengecualikan diri sendiri, maksimal 30 hasil.</a:t>
            </a:r>
          </a:p>
        </p:txBody>
      </p:sp>
      <p:sp>
        <p:nvSpPr>
          <p:cNvPr id="7" name="text-86">
            <a:extLst xmlns:a="http://schemas.openxmlformats.org/drawingml/2006/main">
              <a:ext uri="{FF2B5EF4-FFF2-40B4-BE49-F238E27FC236}">
                <a16:creationId xmlns:a16="http://schemas.microsoft.com/office/drawing/2014/main" id="{FFDC66E1-9024-4D52-9DAF-90880BA03A5D}"/>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87">
            <a:extLst xmlns:a="http://schemas.openxmlformats.org/drawingml/2006/main">
              <a:ext uri="{FF2B5EF4-FFF2-40B4-BE49-F238E27FC236}">
                <a16:creationId xmlns:a16="http://schemas.microsoft.com/office/drawing/2014/main" id="{E0E0BB55-FE0C-443A-87B3-92662C2158C7}"/>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Identitas pasangan</a:t>
            </a:r>
          </a:p>
        </p:txBody>
      </p:sp>
      <p:sp>
        <p:nvSpPr>
          <p:cNvPr id="9" name="text-88">
            <a:extLst xmlns:a="http://schemas.openxmlformats.org/drawingml/2006/main">
              <a:ext uri="{FF2B5EF4-FFF2-40B4-BE49-F238E27FC236}">
                <a16:creationId xmlns:a16="http://schemas.microsoft.com/office/drawing/2014/main" id="{05BC4A35-9C6A-49DA-B620-4440103D9E79}"/>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mengurutkan dua ID lalu menggabungkannya sebagai direct_key yang unik.</a:t>
            </a:r>
          </a:p>
        </p:txBody>
      </p:sp>
      <p:sp>
        <p:nvSpPr>
          <p:cNvPr id="10" name="text-89">
            <a:extLst xmlns:a="http://schemas.openxmlformats.org/drawingml/2006/main">
              <a:ext uri="{FF2B5EF4-FFF2-40B4-BE49-F238E27FC236}">
                <a16:creationId xmlns:a16="http://schemas.microsoft.com/office/drawing/2014/main" id="{3A92DA51-5797-49EB-8354-6CFC0B9A893D}"/>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90">
            <a:extLst xmlns:a="http://schemas.openxmlformats.org/drawingml/2006/main">
              <a:ext uri="{FF2B5EF4-FFF2-40B4-BE49-F238E27FC236}">
                <a16:creationId xmlns:a16="http://schemas.microsoft.com/office/drawing/2014/main" id="{6D53D2B1-F9A4-4390-AB0C-E8D45A18E87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Transaksi database</a:t>
            </a:r>
          </a:p>
        </p:txBody>
      </p:sp>
      <p:sp>
        <p:nvSpPr>
          <p:cNvPr id="12" name="text-91">
            <a:extLst xmlns:a="http://schemas.openxmlformats.org/drawingml/2006/main">
              <a:ext uri="{FF2B5EF4-FFF2-40B4-BE49-F238E27FC236}">
                <a16:creationId xmlns:a16="http://schemas.microsoft.com/office/drawing/2014/main" id="{FE22FA0F-A0DC-43EE-937F-B9F1A603F8D5}"/>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Upsert conversation dan dua members berlangsung dalam transaksi, lalu server mengirim event.</a:t>
            </a:r>
          </a:p>
        </p:txBody>
      </p:sp>
      <p:pic>
        <p:nvPicPr>
          <p:cNvPr id="13" name="">
            <a:extLst xmlns:a="http://schemas.openxmlformats.org/drawingml/2006/main">
              <a:ext uri="{FF2B5EF4-FFF2-40B4-BE49-F238E27FC236}">
                <a16:creationId xmlns:a16="http://schemas.microsoft.com/office/drawing/2014/main" id="{88E198F1-F6B8-4775-BA4F-A7D92F07C9A0}"/>
              </a:ext>
            </a:extLst>
          </p:cNvPr>
          <p:cNvPicPr>
            <a:picLocks xmlns:a="http://schemas.openxmlformats.org/drawingml/2006/main" noChangeAspect="1"/>
          </p:cNvPicPr>
          <p:nvPr/>
        </p:nvPicPr>
        <p:blipFill>
          <a:blip xmlns:r="http://schemas.openxmlformats.org/officeDocument/2006/relationships" xmlns:a="http://schemas.openxmlformats.org/drawingml/2006/main" r:embed="R20f3b66b0ebc48c5"/>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50640805"/>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93">
            <a:extLst xmlns:a="http://schemas.openxmlformats.org/drawingml/2006/main">
              <a:ext uri="{FF2B5EF4-FFF2-40B4-BE49-F238E27FC236}">
                <a16:creationId xmlns:a16="http://schemas.microsoft.com/office/drawing/2014/main" id="{EB6029B2-85DE-4DEB-A89B-2E006987AC0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Daftar percakapan dan ringkasan</a:t>
            </a:r>
          </a:p>
        </p:txBody>
      </p:sp>
      <p:sp>
        <p:nvSpPr>
          <p:cNvPr id="2" name="text-94">
            <a:extLst xmlns:a="http://schemas.openxmlformats.org/drawingml/2006/main">
              <a:ext uri="{FF2B5EF4-FFF2-40B4-BE49-F238E27FC236}">
                <a16:creationId xmlns:a16="http://schemas.microsoft.com/office/drawing/2014/main" id="{51333A2E-E0A5-4453-A3D7-ACCA84D7AA3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10</a:t>
            </a:r>
          </a:p>
        </p:txBody>
      </p:sp>
      <p:sp>
        <p:nvSpPr>
          <p:cNvPr id="3" name="text-95">
            <a:extLst xmlns:a="http://schemas.openxmlformats.org/drawingml/2006/main">
              <a:ext uri="{FF2B5EF4-FFF2-40B4-BE49-F238E27FC236}">
                <a16:creationId xmlns:a16="http://schemas.microsoft.com/office/drawing/2014/main" id="{3E383B4B-3E8A-4F4F-83D7-69FC89D2745B}"/>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GET /conversations menggabungkan identitas lawan bicara dengan aktivitas percakapan.</a:t>
            </a:r>
          </a:p>
        </p:txBody>
      </p:sp>
      <p:sp>
        <p:nvSpPr>
          <p:cNvPr id="4" name="text-96">
            <a:extLst xmlns:a="http://schemas.openxmlformats.org/drawingml/2006/main">
              <a:ext uri="{FF2B5EF4-FFF2-40B4-BE49-F238E27FC236}">
                <a16:creationId xmlns:a16="http://schemas.microsoft.com/office/drawing/2014/main" id="{7AE429F0-03A1-4335-B4D0-58B9D36AC2DA}"/>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97">
            <a:extLst xmlns:a="http://schemas.openxmlformats.org/drawingml/2006/main">
              <a:ext uri="{FF2B5EF4-FFF2-40B4-BE49-F238E27FC236}">
                <a16:creationId xmlns:a16="http://schemas.microsoft.com/office/drawing/2014/main" id="{DE0F182F-EBBF-48B0-BA24-8DF3F77FBB92}"/>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Data per baris</a:t>
            </a:r>
          </a:p>
        </p:txBody>
      </p:sp>
      <p:sp>
        <p:nvSpPr>
          <p:cNvPr id="6" name="text-98">
            <a:extLst xmlns:a="http://schemas.openxmlformats.org/drawingml/2006/main">
              <a:ext uri="{FF2B5EF4-FFF2-40B4-BE49-F238E27FC236}">
                <a16:creationId xmlns:a16="http://schemas.microsoft.com/office/drawing/2014/main" id="{E37343C0-A8DF-45A1-970B-48CF9E19E6B3}"/>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ID percakapan, peer, pesan terakhir, waktu, dan jumlah belum dibaca.</a:t>
            </a:r>
          </a:p>
        </p:txBody>
      </p:sp>
      <p:sp>
        <p:nvSpPr>
          <p:cNvPr id="7" name="text-99">
            <a:extLst xmlns:a="http://schemas.openxmlformats.org/drawingml/2006/main">
              <a:ext uri="{FF2B5EF4-FFF2-40B4-BE49-F238E27FC236}">
                <a16:creationId xmlns:a16="http://schemas.microsoft.com/office/drawing/2014/main" id="{F694AFFA-A9B5-4ADF-B609-BB9DD69EBBC1}"/>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00">
            <a:extLst xmlns:a="http://schemas.openxmlformats.org/drawingml/2006/main">
              <a:ext uri="{FF2B5EF4-FFF2-40B4-BE49-F238E27FC236}">
                <a16:creationId xmlns:a16="http://schemas.microsoft.com/office/drawing/2014/main" id="{478C06A2-B722-4C51-9844-E83E8257506E}"/>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Status online</a:t>
            </a:r>
          </a:p>
        </p:txBody>
      </p:sp>
      <p:sp>
        <p:nvSpPr>
          <p:cNvPr id="9" name="text-101">
            <a:extLst xmlns:a="http://schemas.openxmlformats.org/drawingml/2006/main">
              <a:ext uri="{FF2B5EF4-FFF2-40B4-BE49-F238E27FC236}">
                <a16:creationId xmlns:a16="http://schemas.microsoft.com/office/drawing/2014/main" id="{166E8942-888A-4F7B-919A-E9255E126ED0}"/>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mengambil kondisi koneksi dari hub saat membentuk respons.</a:t>
            </a:r>
          </a:p>
        </p:txBody>
      </p:sp>
      <p:sp>
        <p:nvSpPr>
          <p:cNvPr id="10" name="text-102">
            <a:extLst xmlns:a="http://schemas.openxmlformats.org/drawingml/2006/main">
              <a:ext uri="{FF2B5EF4-FFF2-40B4-BE49-F238E27FC236}">
                <a16:creationId xmlns:a16="http://schemas.microsoft.com/office/drawing/2014/main" id="{77A0EB7B-0853-42D7-9C17-E8C5DDFA5245}"/>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03">
            <a:extLst xmlns:a="http://schemas.openxmlformats.org/drawingml/2006/main">
              <a:ext uri="{FF2B5EF4-FFF2-40B4-BE49-F238E27FC236}">
                <a16:creationId xmlns:a16="http://schemas.microsoft.com/office/drawing/2014/main" id="{5EF6A04A-5CCD-4097-9D0F-71D4E3AF2B33}"/>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daftar</a:t>
            </a:r>
          </a:p>
        </p:txBody>
      </p:sp>
      <p:sp>
        <p:nvSpPr>
          <p:cNvPr id="12" name="text-104">
            <a:extLst xmlns:a="http://schemas.openxmlformats.org/drawingml/2006/main">
              <a:ext uri="{FF2B5EF4-FFF2-40B4-BE49-F238E27FC236}">
                <a16:creationId xmlns:a16="http://schemas.microsoft.com/office/drawing/2014/main" id="{68984459-D6A1-4134-B0C9-E11A99E8ECCB}"/>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Layar merespons event dan memuat ulang ringkasan agar cocok dengan data server.</a:t>
            </a:r>
          </a:p>
        </p:txBody>
      </p:sp>
      <p:pic>
        <p:nvPicPr>
          <p:cNvPr id="13" name="">
            <a:extLst xmlns:a="http://schemas.openxmlformats.org/drawingml/2006/main">
              <a:ext uri="{FF2B5EF4-FFF2-40B4-BE49-F238E27FC236}">
                <a16:creationId xmlns:a16="http://schemas.microsoft.com/office/drawing/2014/main" id="{9785C686-7DA0-4135-823F-3BDA135BDA1E}"/>
              </a:ext>
            </a:extLst>
          </p:cNvPr>
          <p:cNvPicPr>
            <a:picLocks xmlns:a="http://schemas.openxmlformats.org/drawingml/2006/main" noChangeAspect="1"/>
          </p:cNvPicPr>
          <p:nvPr/>
        </p:nvPicPr>
        <p:blipFill>
          <a:blip xmlns:r="http://schemas.openxmlformats.org/officeDocument/2006/relationships" xmlns:a="http://schemas.openxmlformats.org/drawingml/2006/main" r:embed="R5dc81611fc8f443b"/>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570738965"/>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106">
            <a:extLst xmlns:a="http://schemas.openxmlformats.org/drawingml/2006/main">
              <a:ext uri="{FF2B5EF4-FFF2-40B4-BE49-F238E27FC236}">
                <a16:creationId xmlns:a16="http://schemas.microsoft.com/office/drawing/2014/main" id="{929702D1-FB23-466F-A3FF-AAF83B378FDA}"/>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Model data dan relasi</a:t>
            </a:r>
          </a:p>
        </p:txBody>
      </p:sp>
      <p:sp>
        <p:nvSpPr>
          <p:cNvPr id="2" name="text-107">
            <a:extLst xmlns:a="http://schemas.openxmlformats.org/drawingml/2006/main">
              <a:ext uri="{FF2B5EF4-FFF2-40B4-BE49-F238E27FC236}">
                <a16:creationId xmlns:a16="http://schemas.microsoft.com/office/drawing/2014/main" id="{7819213B-2C95-4C0E-B2B8-83E98D8BD5A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Foreign key menjaga hubungan data. Primary key dan unique constraint menjaga identitas.</a:t>
            </a:r>
          </a:p>
        </p:txBody>
      </p:sp>
      <p:sp>
        <p:nvSpPr>
          <p:cNvPr id="3" name="text-108">
            <a:extLst xmlns:a="http://schemas.openxmlformats.org/drawingml/2006/main">
              <a:ext uri="{FF2B5EF4-FFF2-40B4-BE49-F238E27FC236}">
                <a16:creationId xmlns:a16="http://schemas.microsoft.com/office/drawing/2014/main" id="{29493D7B-8118-4AE2-A42D-8CC3FA023E21}"/>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CFB1E7DD-3682-4DE2-8082-637BB1B04648}"/>
              </a:ext>
            </a:extLst>
          </p:cNvPr>
          <p:cNvGraphicFramePr/>
          <p:nvPr/>
        </p:nvGraphicFramePr>
        <p:xfrm>
          <a:off xmlns:a="http://schemas.openxmlformats.org/drawingml/2006/main" x="914400" y="2524125"/>
          <a:ext xmlns:a="http://schemas.openxmlformats.org/drawingml/2006/main" cx="13411200" cy="4686300"/>
        </p:xfrm>
        <a:graphic xmlns:a="http://schemas.openxmlformats.org/drawingml/2006/main">
          <a:graphicData uri="http://schemas.openxmlformats.org/drawingml/2006/table">
            <a:tbl>
              <a:tblPr firstRow="0" bandRow="0"/>
              <a:tblGrid>
                <a:gridCol w="3429000"/>
                <a:gridCol w="4953000"/>
                <a:gridCol w="5029200"/>
              </a:tblGrid>
              <a:tr h="781050">
                <a:tc>
                  <a:txBody>
                    <a:bodyPr wrap="square" lIns="152400" tIns="152400" rIns="152400" bIns="152400">
                      <a:noAutofit/>
                    </a:bodyPr>
                    <a:lstStyle/>
                    <a:p>
                      <a:pPr algn="l"/>
                      <a:r>
                        <a:rPr sz="1875" b="1">
                          <a:solidFill>
                            <a:srgbClr val="FFFFFF"/>
                          </a:solidFill>
                          <a:latin typeface="Arial"/>
                          <a:ea typeface="Arial"/>
                          <a:cs typeface="Arial"/>
                        </a:rPr>
                        <a:t>Entitas</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Relasi utama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Peran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81050">
                <a:tc>
                  <a:txBody>
                    <a:bodyPr wrap="square" lIns="152400" tIns="152400" rIns="152400" bIns="152400">
                      <a:noAutofit/>
                    </a:bodyPr>
                    <a:lstStyle/>
                    <a:p>
                      <a:pPr algn="l"/>
                      <a:r>
                        <a:rPr sz="1875" b="1">
                          <a:solidFill>
                            <a:srgbClr val="0F172A"/>
                          </a:solidFill>
                          <a:latin typeface="Arial"/>
                          <a:ea typeface="Arial"/>
                          <a:cs typeface="Arial"/>
                        </a:rPr>
                        <a:t>users dan sessions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sessions.user_id ke users</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Akun dan token sesi berumur terbatas</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conversations dan members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members ke user dan conversation</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Pasangan chat dan last_read_at per anggota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messages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Ke conversation dan sender</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Teks, lampiran, referensi balasan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attachments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Ke conversation dan owner</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Metadata serta byte file pada BYTEA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reactions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Ke message dan user</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Satu pilihan emoji per user per pesan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Tree>
    <p:extLst>
      <p:ext uri="{BB962C8B-B14F-4D97-AF65-F5344CB8AC3E}">
        <p14:creationId xmlns:p14="http://schemas.microsoft.com/office/powerpoint/2010/main" val="146539451"/>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109">
            <a:extLst xmlns:a="http://schemas.openxmlformats.org/drawingml/2006/main">
              <a:ext uri="{FF2B5EF4-FFF2-40B4-BE49-F238E27FC236}">
                <a16:creationId xmlns:a16="http://schemas.microsoft.com/office/drawing/2014/main" id="{709E6718-9F36-40BF-B8D5-4BBC7DC65C2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Kontrak REST inti</a:t>
            </a:r>
          </a:p>
        </p:txBody>
      </p:sp>
      <p:sp>
        <p:nvSpPr>
          <p:cNvPr id="2" name="text-110">
            <a:extLst xmlns:a="http://schemas.openxmlformats.org/drawingml/2006/main">
              <a:ext uri="{FF2B5EF4-FFF2-40B4-BE49-F238E27FC236}">
                <a16:creationId xmlns:a16="http://schemas.microsoft.com/office/drawing/2014/main" id="{8AE633D4-0A6A-4296-B9D2-26F98B5FD7F4}"/>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Semua jalur berikut memakai prefix /api/v1. Request privat membutuhkan Bearer token.</a:t>
            </a:r>
          </a:p>
        </p:txBody>
      </p:sp>
      <p:sp>
        <p:nvSpPr>
          <p:cNvPr id="3" name="text-111">
            <a:extLst xmlns:a="http://schemas.openxmlformats.org/drawingml/2006/main">
              <a:ext uri="{FF2B5EF4-FFF2-40B4-BE49-F238E27FC236}">
                <a16:creationId xmlns:a16="http://schemas.microsoft.com/office/drawing/2014/main" id="{BC7A97AC-7AF8-4876-8007-772E0D1E168C}"/>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C7A31F4D-8F6B-4862-9544-D4A75C9F6969}"/>
              </a:ext>
            </a:extLst>
          </p:cNvPr>
          <p:cNvGraphicFramePr/>
          <p:nvPr/>
        </p:nvGraphicFramePr>
        <p:xfrm>
          <a:off xmlns:a="http://schemas.openxmlformats.org/drawingml/2006/main" x="914400" y="2524125"/>
          <a:ext xmlns:a="http://schemas.openxmlformats.org/drawingml/2006/main" cx="13411200" cy="4686300"/>
        </p:xfrm>
        <a:graphic xmlns:a="http://schemas.openxmlformats.org/drawingml/2006/main">
          <a:graphicData uri="http://schemas.openxmlformats.org/drawingml/2006/table">
            <a:tbl>
              <a:tblPr firstRow="0" bandRow="0"/>
              <a:tblGrid>
                <a:gridCol w="5334000"/>
                <a:gridCol w="4524375"/>
                <a:gridCol w="3552825"/>
              </a:tblGrid>
              <a:tr h="781050">
                <a:tc>
                  <a:txBody>
                    <a:bodyPr wrap="square" lIns="152400" tIns="152400" rIns="152400" bIns="152400">
                      <a:noAutofit/>
                    </a:bodyPr>
                    <a:lstStyle/>
                    <a:p>
                      <a:pPr algn="l"/>
                      <a:r>
                        <a:rPr sz="1875" b="1">
                          <a:solidFill>
                            <a:srgbClr val="FFFFFF"/>
                          </a:solidFill>
                          <a:latin typeface="Arial"/>
                          <a:ea typeface="Arial"/>
                          <a:cs typeface="Arial"/>
                        </a:rPr>
                        <a:t>Metode dan jalur</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Payload atau query</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Hasil utama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81050">
                <a:tc>
                  <a:txBody>
                    <a:bodyPr wrap="square" lIns="152400" tIns="152400" rIns="152400" bIns="152400">
                      <a:noAutofit/>
                    </a:bodyPr>
                    <a:lstStyle/>
                    <a:p>
                      <a:pPr algn="l"/>
                      <a:r>
                        <a:rPr sz="1875" b="1">
                          <a:solidFill>
                            <a:srgbClr val="0F172A"/>
                          </a:solidFill>
                          <a:latin typeface="Arial"/>
                          <a:ea typeface="Arial"/>
                          <a:cs typeface="Arial"/>
                        </a:rPr>
                        <a:t>POST /conversations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user_id</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Percakapan pasangan pengguna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GET /conversations/{id}/messages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before opsional</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messages dan has_more</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POST /conversations/{id}/messages</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client_id, text,</a:t>
                      </a:r>
                    </a:p>
                    <a:p>
                      <a:pPr algn="l"/>
                      <a:r>
                        <a:rPr sz="1875" b="0">
                          <a:solidFill>
                            <a:srgbClr val="0F172A"/>
                          </a:solidFill>
                          <a:latin typeface="Arial"/>
                          <a:ea typeface="Arial"/>
                          <a:cs typeface="Arial"/>
                        </a:rPr>
                        <a:t>attachment_id, reply_to_id</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Pesan kanonis dengan status 201</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POST /conversations/{id}/read</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message_id</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204 setelah posisi baca berubah</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PUT /messages/{id}/reaction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emoji atau string kosong</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204 setelah simpan atau hapus</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Tree>
    <p:extLst>
      <p:ext uri="{BB962C8B-B14F-4D97-AF65-F5344CB8AC3E}">
        <p14:creationId xmlns:p14="http://schemas.microsoft.com/office/powerpoint/2010/main" val="661234916"/>
      </p:ext>
    </p:extLst>
  </p:cSld>
</p:sld>
</file>

<file path=ppt/slides/slide1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2" name="text-112">
            <a:extLst xmlns:a="http://schemas.openxmlformats.org/drawingml/2006/main">
              <a:ext uri="{FF2B5EF4-FFF2-40B4-BE49-F238E27FC236}">
                <a16:creationId xmlns:a16="http://schemas.microsoft.com/office/drawing/2014/main" id="{72FA5E16-2B6D-488B-83FF-9F4B8508CCA3}"/>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Flow pengiriman pesan</a:t>
            </a:r>
          </a:p>
        </p:txBody>
      </p:sp>
      <p:sp>
        <p:nvSpPr>
          <p:cNvPr id="2" name="text-113">
            <a:extLst xmlns:a="http://schemas.openxmlformats.org/drawingml/2006/main">
              <a:ext uri="{FF2B5EF4-FFF2-40B4-BE49-F238E27FC236}">
                <a16:creationId xmlns:a16="http://schemas.microsoft.com/office/drawing/2014/main" id="{24F0BFA9-FFE0-47C2-AE37-A17ECD0ACBC1}"/>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REST menyimpan pesan. WebSocket menyebarkan hasil setelah penyimpanan berhasil.</a:t>
            </a:r>
          </a:p>
        </p:txBody>
      </p:sp>
      <p:sp>
        <p:nvSpPr>
          <p:cNvPr id="3" name="text-114">
            <a:extLst xmlns:a="http://schemas.openxmlformats.org/drawingml/2006/main">
              <a:ext uri="{FF2B5EF4-FFF2-40B4-BE49-F238E27FC236}">
                <a16:creationId xmlns:a16="http://schemas.microsoft.com/office/drawing/2014/main" id="{AD8983D6-7749-44D5-B4B4-25FDA1BC1C06}"/>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13</a:t>
            </a:r>
          </a:p>
        </p:txBody>
      </p:sp>
      <p:sp>
        <p:nvSpPr>
          <p:cNvPr id="4" name="text-115">
            <a:extLst xmlns:a="http://schemas.openxmlformats.org/drawingml/2006/main">
              <a:ext uri="{FF2B5EF4-FFF2-40B4-BE49-F238E27FC236}">
                <a16:creationId xmlns:a16="http://schemas.microsoft.com/office/drawing/2014/main" id="{23BCA4C9-20E8-43EC-AE84-D8C96A9DCCA9}"/>
              </a:ext>
            </a:extLst>
          </p:cNvPr>
          <p:cNvSpPr>
            <a:spLocks xmlns:a="http://schemas.openxmlformats.org/drawingml/2006/main" noGrp="1"/>
          </p:cNvSpPr>
          <p:nvPr/>
        </p:nvSpPr>
        <p:spPr>
          <a:xfrm xmlns:a="http://schemas.openxmlformats.org/drawingml/2006/main">
            <a:off x="809625" y="25527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Flutter Rina</a:t>
            </a:r>
          </a:p>
        </p:txBody>
      </p:sp>
      <p:cxnSp>
        <p:nvCxnSpPr>
          <p:cNvPr id="5" name="line-116">
            <a:extLst xmlns:a="http://schemas.openxmlformats.org/drawingml/2006/main">
              <a:ext uri="{FF2B5EF4-FFF2-40B4-BE49-F238E27FC236}">
                <a16:creationId xmlns:a16="http://schemas.microsoft.com/office/drawing/2014/main" id="{54CB2F63-A563-4D0A-AC7D-0352B7BDADCB}"/>
              </a:ext>
            </a:extLst>
          </p:cNvPr>
          <p:cNvCxnSpPr/>
          <p:nvPr/>
        </p:nvCxnSpPr>
        <p:spPr>
          <a:xfrm xmlns:a="http://schemas.openxmlformats.org/drawingml/2006/main">
            <a:off x="1857375" y="3181350"/>
            <a:ext cx="0" cy="4295775"/>
          </a:xfrm>
          <a:prstGeom xmlns:a="http://schemas.openxmlformats.org/drawingml/2006/main" prst="straightConnector1">
            <a:avLst/>
          </a:prstGeom>
          <a:ln xmlns:a="http://schemas.openxmlformats.org/drawingml/2006/main" w="19050">
            <a:solidFill>
              <a:srgbClr val="475569"/>
            </a:solidFill>
            <a:prstDash val="dash"/>
          </a:ln>
        </p:spPr>
      </p:cxnSp>
      <p:sp>
        <p:nvSpPr>
          <p:cNvPr id="6" name="text-117">
            <a:extLst xmlns:a="http://schemas.openxmlformats.org/drawingml/2006/main">
              <a:ext uri="{FF2B5EF4-FFF2-40B4-BE49-F238E27FC236}">
                <a16:creationId xmlns:a16="http://schemas.microsoft.com/office/drawing/2014/main" id="{D7DD45DC-A085-444E-9093-5226465C3B88}"/>
              </a:ext>
            </a:extLst>
          </p:cNvPr>
          <p:cNvSpPr>
            <a:spLocks xmlns:a="http://schemas.openxmlformats.org/drawingml/2006/main" noGrp="1"/>
          </p:cNvSpPr>
          <p:nvPr/>
        </p:nvSpPr>
        <p:spPr>
          <a:xfrm xmlns:a="http://schemas.openxmlformats.org/drawingml/2006/main">
            <a:off x="4572000" y="25527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Handler Go</a:t>
            </a:r>
          </a:p>
        </p:txBody>
      </p:sp>
      <p:cxnSp>
        <p:nvCxnSpPr>
          <p:cNvPr id="7" name="line-118">
            <a:extLst xmlns:a="http://schemas.openxmlformats.org/drawingml/2006/main">
              <a:ext uri="{FF2B5EF4-FFF2-40B4-BE49-F238E27FC236}">
                <a16:creationId xmlns:a16="http://schemas.microsoft.com/office/drawing/2014/main" id="{1BAA5D17-A695-435D-A797-4DCD073C7154}"/>
              </a:ext>
            </a:extLst>
          </p:cNvPr>
          <p:cNvCxnSpPr/>
          <p:nvPr/>
        </p:nvCxnSpPr>
        <p:spPr>
          <a:xfrm xmlns:a="http://schemas.openxmlformats.org/drawingml/2006/main">
            <a:off x="5619750" y="3181350"/>
            <a:ext cx="0" cy="4295775"/>
          </a:xfrm>
          <a:prstGeom xmlns:a="http://schemas.openxmlformats.org/drawingml/2006/main" prst="straightConnector1">
            <a:avLst/>
          </a:prstGeom>
          <a:ln xmlns:a="http://schemas.openxmlformats.org/drawingml/2006/main" w="19050">
            <a:solidFill>
              <a:srgbClr val="475569"/>
            </a:solidFill>
            <a:prstDash val="dash"/>
          </a:ln>
        </p:spPr>
      </p:cxnSp>
      <p:sp>
        <p:nvSpPr>
          <p:cNvPr id="8" name="text-119">
            <a:extLst xmlns:a="http://schemas.openxmlformats.org/drawingml/2006/main">
              <a:ext uri="{FF2B5EF4-FFF2-40B4-BE49-F238E27FC236}">
                <a16:creationId xmlns:a16="http://schemas.microsoft.com/office/drawing/2014/main" id="{93DDD2D5-7BD7-46DB-9163-235FE8A8D5F1}"/>
              </a:ext>
            </a:extLst>
          </p:cNvPr>
          <p:cNvSpPr>
            <a:spLocks xmlns:a="http://schemas.openxmlformats.org/drawingml/2006/main" noGrp="1"/>
          </p:cNvSpPr>
          <p:nvPr/>
        </p:nvSpPr>
        <p:spPr>
          <a:xfrm xmlns:a="http://schemas.openxmlformats.org/drawingml/2006/main">
            <a:off x="8382000" y="25527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PostgreSQL</a:t>
            </a:r>
          </a:p>
        </p:txBody>
      </p:sp>
      <p:cxnSp>
        <p:nvCxnSpPr>
          <p:cNvPr id="9" name="line-120">
            <a:extLst xmlns:a="http://schemas.openxmlformats.org/drawingml/2006/main">
              <a:ext uri="{FF2B5EF4-FFF2-40B4-BE49-F238E27FC236}">
                <a16:creationId xmlns:a16="http://schemas.microsoft.com/office/drawing/2014/main" id="{F7179661-9B0B-4F69-8BA1-1DA6B294C898}"/>
              </a:ext>
            </a:extLst>
          </p:cNvPr>
          <p:cNvCxnSpPr/>
          <p:nvPr/>
        </p:nvCxnSpPr>
        <p:spPr>
          <a:xfrm xmlns:a="http://schemas.openxmlformats.org/drawingml/2006/main">
            <a:off x="9429750" y="3181350"/>
            <a:ext cx="0" cy="4295775"/>
          </a:xfrm>
          <a:prstGeom xmlns:a="http://schemas.openxmlformats.org/drawingml/2006/main" prst="straightConnector1">
            <a:avLst/>
          </a:prstGeom>
          <a:ln xmlns:a="http://schemas.openxmlformats.org/drawingml/2006/main" w="19050">
            <a:solidFill>
              <a:srgbClr val="475569"/>
            </a:solidFill>
            <a:prstDash val="dash"/>
          </a:ln>
        </p:spPr>
      </p:cxnSp>
      <p:sp>
        <p:nvSpPr>
          <p:cNvPr id="10" name="text-121">
            <a:extLst xmlns:a="http://schemas.openxmlformats.org/drawingml/2006/main">
              <a:ext uri="{FF2B5EF4-FFF2-40B4-BE49-F238E27FC236}">
                <a16:creationId xmlns:a16="http://schemas.microsoft.com/office/drawing/2014/main" id="{BBE17D7D-F313-4B4E-875C-DB5F45FCFCE9}"/>
              </a:ext>
            </a:extLst>
          </p:cNvPr>
          <p:cNvSpPr>
            <a:spLocks xmlns:a="http://schemas.openxmlformats.org/drawingml/2006/main" noGrp="1"/>
          </p:cNvSpPr>
          <p:nvPr/>
        </p:nvSpPr>
        <p:spPr>
          <a:xfrm xmlns:a="http://schemas.openxmlformats.org/drawingml/2006/main">
            <a:off x="12287250" y="25527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vl1pPr algn="ctr">
              <a:defRPr sz="2175" b="1">
                <a:solidFill>
                  <a:srgbClr val="FFFFFF"/>
                </a:solidFill>
                <a:latin typeface="Arial"/>
                <a:ea typeface="Arial"/>
                <a:cs typeface="Arial"/>
              </a:defRPr>
            </a:lvl1pPr>
            <a:lvl2pPr algn="ctr">
              <a:defRPr sz="2175" b="1">
                <a:solidFill>
                  <a:srgbClr val="FFFFFF"/>
                </a:solidFill>
                <a:latin typeface="Arial"/>
                <a:ea typeface="Arial"/>
                <a:cs typeface="Arial"/>
              </a:defRPr>
            </a:lvl2pPr>
            <a:lvl3pPr algn="ctr">
              <a:defRPr sz="2175" b="1">
                <a:solidFill>
                  <a:srgbClr val="FFFFFF"/>
                </a:solidFill>
                <a:latin typeface="Arial"/>
                <a:ea typeface="Arial"/>
                <a:cs typeface="Arial"/>
              </a:defRPr>
            </a:lvl3pPr>
            <a:lvl4pPr algn="ctr">
              <a:defRPr sz="2175" b="1">
                <a:solidFill>
                  <a:srgbClr val="FFFFFF"/>
                </a:solidFill>
                <a:latin typeface="Arial"/>
                <a:ea typeface="Arial"/>
                <a:cs typeface="Arial"/>
              </a:defRPr>
            </a:lvl4pPr>
            <a:lvl5pPr algn="ctr">
              <a:defRPr sz="2175" b="1">
                <a:solidFill>
                  <a:srgbClr val="FFFFFF"/>
                </a:solidFill>
                <a:latin typeface="Arial"/>
                <a:ea typeface="Arial"/>
                <a:cs typeface="Arial"/>
              </a:defRPr>
            </a:lvl5pPr>
            <a:lvl6pPr algn="ctr">
              <a:defRPr sz="2175" b="1">
                <a:solidFill>
                  <a:srgbClr val="FFFFFF"/>
                </a:solidFill>
                <a:latin typeface="Arial"/>
                <a:ea typeface="Arial"/>
                <a:cs typeface="Arial"/>
              </a:defRPr>
            </a:lvl6pPr>
            <a:lvl7pPr algn="ctr">
              <a:defRPr sz="2175" b="1">
                <a:solidFill>
                  <a:srgbClr val="FFFFFF"/>
                </a:solidFill>
                <a:latin typeface="Arial"/>
                <a:ea typeface="Arial"/>
                <a:cs typeface="Arial"/>
              </a:defRPr>
            </a:lvl7pPr>
            <a:lvl8pPr algn="ctr">
              <a:defRPr sz="2175" b="1">
                <a:solidFill>
                  <a:srgbClr val="FFFFFF"/>
                </a:solidFill>
                <a:latin typeface="Arial"/>
                <a:ea typeface="Arial"/>
                <a:cs typeface="Arial"/>
              </a:defRPr>
            </a:lvl8pPr>
            <a:lvl9pPr algn="ctr">
              <a:defRPr sz="2175" b="1">
                <a:solidFill>
                  <a:srgbClr val="FFFFFF"/>
                </a:solidFill>
                <a:latin typeface="Arial"/>
                <a:ea typeface="Arial"/>
                <a:cs typeface="Arial"/>
              </a:defRPr>
            </a:lvl9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Flutter Andi</a:t>
            </a:r>
          </a:p>
        </p:txBody>
      </p:sp>
      <p:cxnSp>
        <p:nvCxnSpPr>
          <p:cNvPr id="11" name="line-122">
            <a:extLst xmlns:a="http://schemas.openxmlformats.org/drawingml/2006/main">
              <a:ext uri="{FF2B5EF4-FFF2-40B4-BE49-F238E27FC236}">
                <a16:creationId xmlns:a16="http://schemas.microsoft.com/office/drawing/2014/main" id="{7FD5E04A-B9B9-4088-BADF-5884258F647F}"/>
              </a:ext>
            </a:extLst>
          </p:cNvPr>
          <p:cNvCxnSpPr/>
          <p:nvPr/>
        </p:nvCxnSpPr>
        <p:spPr>
          <a:xfrm xmlns:a="http://schemas.openxmlformats.org/drawingml/2006/main">
            <a:off x="13335000" y="3181350"/>
            <a:ext cx="0" cy="4295775"/>
          </a:xfrm>
          <a:prstGeom xmlns:a="http://schemas.openxmlformats.org/drawingml/2006/main" prst="straightConnector1">
            <a:avLst/>
          </a:prstGeom>
          <a:ln xmlns:a="http://schemas.openxmlformats.org/drawingml/2006/main" w="19050">
            <a:solidFill>
              <a:srgbClr val="475569"/>
            </a:solidFill>
            <a:prstDash val="dash"/>
          </a:ln>
        </p:spPr>
      </p:cxnSp>
      <p:cxnSp>
        <p:nvCxnSpPr>
          <p:cNvPr id="12" name="line-123">
            <a:extLst xmlns:a="http://schemas.openxmlformats.org/drawingml/2006/main">
              <a:ext uri="{FF2B5EF4-FFF2-40B4-BE49-F238E27FC236}">
                <a16:creationId xmlns:a16="http://schemas.microsoft.com/office/drawing/2014/main" id="{25B0C409-7933-445C-970D-BB948CCBB647}"/>
              </a:ext>
            </a:extLst>
          </p:cNvPr>
          <p:cNvCxnSpPr/>
          <p:nvPr/>
        </p:nvCxnSpPr>
        <p:spPr>
          <a:xfrm xmlns:a="http://schemas.openxmlformats.org/drawingml/2006/main">
            <a:off x="1857375" y="3600450"/>
            <a:ext cx="3762375"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3" name="text-124">
            <a:extLst xmlns:a="http://schemas.openxmlformats.org/drawingml/2006/main">
              <a:ext uri="{FF2B5EF4-FFF2-40B4-BE49-F238E27FC236}">
                <a16:creationId xmlns:a16="http://schemas.microsoft.com/office/drawing/2014/main" id="{7AC1BF11-D499-4F11-B1E9-3770228911C4}"/>
              </a:ext>
            </a:extLst>
          </p:cNvPr>
          <p:cNvSpPr>
            <a:spLocks xmlns:a="http://schemas.openxmlformats.org/drawingml/2006/main" noGrp="1"/>
          </p:cNvSpPr>
          <p:nvPr/>
        </p:nvSpPr>
        <p:spPr>
          <a:xfrm xmlns:a="http://schemas.openxmlformats.org/drawingml/2006/main">
            <a:off x="1933575" y="3190875"/>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CBD5E1"/>
                </a:solidFill>
                <a:latin typeface="Arial"/>
                <a:ea typeface="Arial"/>
                <a:cs typeface="Arial"/>
              </a:defRPr>
            </a:defPPr>
            <a:lvl1pPr algn="ctr">
              <a:defRPr sz="1950" b="1">
                <a:solidFill>
                  <a:srgbClr val="CBD5E1"/>
                </a:solidFill>
                <a:latin typeface="Arial"/>
                <a:ea typeface="Arial"/>
                <a:cs typeface="Arial"/>
              </a:defRPr>
            </a:lvl1pPr>
            <a:lvl2pPr algn="ctr">
              <a:defRPr sz="1950" b="1">
                <a:solidFill>
                  <a:srgbClr val="CBD5E1"/>
                </a:solidFill>
                <a:latin typeface="Arial"/>
                <a:ea typeface="Arial"/>
                <a:cs typeface="Arial"/>
              </a:defRPr>
            </a:lvl2pPr>
            <a:lvl3pPr algn="ctr">
              <a:defRPr sz="1950" b="1">
                <a:solidFill>
                  <a:srgbClr val="CBD5E1"/>
                </a:solidFill>
                <a:latin typeface="Arial"/>
                <a:ea typeface="Arial"/>
                <a:cs typeface="Arial"/>
              </a:defRPr>
            </a:lvl3pPr>
            <a:lvl4pPr algn="ctr">
              <a:defRPr sz="1950" b="1">
                <a:solidFill>
                  <a:srgbClr val="CBD5E1"/>
                </a:solidFill>
                <a:latin typeface="Arial"/>
                <a:ea typeface="Arial"/>
                <a:cs typeface="Arial"/>
              </a:defRPr>
            </a:lvl4pPr>
            <a:lvl5pPr algn="ctr">
              <a:defRPr sz="1950" b="1">
                <a:solidFill>
                  <a:srgbClr val="CBD5E1"/>
                </a:solidFill>
                <a:latin typeface="Arial"/>
                <a:ea typeface="Arial"/>
                <a:cs typeface="Arial"/>
              </a:defRPr>
            </a:lvl5pPr>
            <a:lvl6pPr algn="ctr">
              <a:defRPr sz="1950" b="1">
                <a:solidFill>
                  <a:srgbClr val="CBD5E1"/>
                </a:solidFill>
                <a:latin typeface="Arial"/>
                <a:ea typeface="Arial"/>
                <a:cs typeface="Arial"/>
              </a:defRPr>
            </a:lvl6pPr>
            <a:lvl7pPr algn="ctr">
              <a:defRPr sz="1950" b="1">
                <a:solidFill>
                  <a:srgbClr val="CBD5E1"/>
                </a:solidFill>
                <a:latin typeface="Arial"/>
                <a:ea typeface="Arial"/>
                <a:cs typeface="Arial"/>
              </a:defRPr>
            </a:lvl7pPr>
            <a:lvl8pPr algn="ctr">
              <a:defRPr sz="1950" b="1">
                <a:solidFill>
                  <a:srgbClr val="CBD5E1"/>
                </a:solidFill>
                <a:latin typeface="Arial"/>
                <a:ea typeface="Arial"/>
                <a:cs typeface="Arial"/>
              </a:defRPr>
            </a:lvl8pPr>
            <a:lvl9pPr algn="ctr">
              <a:defRPr sz="1950" b="1">
                <a:solidFill>
                  <a:srgbClr val="CBD5E1"/>
                </a:solidFill>
                <a:latin typeface="Arial"/>
                <a:ea typeface="Arial"/>
                <a:cs typeface="Arial"/>
              </a:defRPr>
            </a:lvl9pPr>
          </a:lstStyle>
          <a:p xmlns:a="http://schemas.openxmlformats.org/drawingml/2006/main">
            <a:pPr algn="ctr">
              <a:defRPr sz="1950" b="1">
                <a:solidFill>
                  <a:srgbClr val="CBD5E1"/>
                </a:solidFill>
                <a:latin typeface="Arial"/>
                <a:ea typeface="Arial"/>
                <a:cs typeface="Arial"/>
              </a:defRPr>
            </a:pPr>
            <a:r>
              <a:rPr sz="1950" b="1">
                <a:solidFill>
                  <a:srgbClr val="CBD5E1"/>
                </a:solidFill>
                <a:latin typeface="Arial"/>
                <a:ea typeface="Arial"/>
                <a:cs typeface="Arial"/>
              </a:rPr>
              <a:t>1. POST pesan</a:t>
            </a:r>
          </a:p>
        </p:txBody>
      </p:sp>
      <p:cxnSp>
        <p:nvCxnSpPr>
          <p:cNvPr id="14" name="line-125">
            <a:extLst xmlns:a="http://schemas.openxmlformats.org/drawingml/2006/main">
              <a:ext uri="{FF2B5EF4-FFF2-40B4-BE49-F238E27FC236}">
                <a16:creationId xmlns:a16="http://schemas.microsoft.com/office/drawing/2014/main" id="{E89A1BD3-D756-4977-B256-1152A48F6CCD}"/>
              </a:ext>
            </a:extLst>
          </p:cNvPr>
          <p:cNvCxnSpPr/>
          <p:nvPr/>
        </p:nvCxnSpPr>
        <p:spPr>
          <a:xfrm xmlns:a="http://schemas.openxmlformats.org/drawingml/2006/main">
            <a:off x="5619750" y="4438650"/>
            <a:ext cx="381000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5" name="text-126">
            <a:extLst xmlns:a="http://schemas.openxmlformats.org/drawingml/2006/main">
              <a:ext uri="{FF2B5EF4-FFF2-40B4-BE49-F238E27FC236}">
                <a16:creationId xmlns:a16="http://schemas.microsoft.com/office/drawing/2014/main" id="{78F9317C-7A15-4D42-9E50-790303BE11EC}"/>
              </a:ext>
            </a:extLst>
          </p:cNvPr>
          <p:cNvSpPr>
            <a:spLocks xmlns:a="http://schemas.openxmlformats.org/drawingml/2006/main" noGrp="1"/>
          </p:cNvSpPr>
          <p:nvPr/>
        </p:nvSpPr>
        <p:spPr>
          <a:xfrm xmlns:a="http://schemas.openxmlformats.org/drawingml/2006/main">
            <a:off x="5695950" y="4029075"/>
            <a:ext cx="365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CBD5E1"/>
                </a:solidFill>
                <a:latin typeface="Arial"/>
                <a:ea typeface="Arial"/>
                <a:cs typeface="Arial"/>
              </a:defRPr>
            </a:defPPr>
            <a:lvl1pPr algn="ctr">
              <a:defRPr sz="1950" b="1">
                <a:solidFill>
                  <a:srgbClr val="CBD5E1"/>
                </a:solidFill>
                <a:latin typeface="Arial"/>
                <a:ea typeface="Arial"/>
                <a:cs typeface="Arial"/>
              </a:defRPr>
            </a:lvl1pPr>
            <a:lvl2pPr algn="ctr">
              <a:defRPr sz="1950" b="1">
                <a:solidFill>
                  <a:srgbClr val="CBD5E1"/>
                </a:solidFill>
                <a:latin typeface="Arial"/>
                <a:ea typeface="Arial"/>
                <a:cs typeface="Arial"/>
              </a:defRPr>
            </a:lvl2pPr>
            <a:lvl3pPr algn="ctr">
              <a:defRPr sz="1950" b="1">
                <a:solidFill>
                  <a:srgbClr val="CBD5E1"/>
                </a:solidFill>
                <a:latin typeface="Arial"/>
                <a:ea typeface="Arial"/>
                <a:cs typeface="Arial"/>
              </a:defRPr>
            </a:lvl3pPr>
            <a:lvl4pPr algn="ctr">
              <a:defRPr sz="1950" b="1">
                <a:solidFill>
                  <a:srgbClr val="CBD5E1"/>
                </a:solidFill>
                <a:latin typeface="Arial"/>
                <a:ea typeface="Arial"/>
                <a:cs typeface="Arial"/>
              </a:defRPr>
            </a:lvl4pPr>
            <a:lvl5pPr algn="ctr">
              <a:defRPr sz="1950" b="1">
                <a:solidFill>
                  <a:srgbClr val="CBD5E1"/>
                </a:solidFill>
                <a:latin typeface="Arial"/>
                <a:ea typeface="Arial"/>
                <a:cs typeface="Arial"/>
              </a:defRPr>
            </a:lvl5pPr>
            <a:lvl6pPr algn="ctr">
              <a:defRPr sz="1950" b="1">
                <a:solidFill>
                  <a:srgbClr val="CBD5E1"/>
                </a:solidFill>
                <a:latin typeface="Arial"/>
                <a:ea typeface="Arial"/>
                <a:cs typeface="Arial"/>
              </a:defRPr>
            </a:lvl6pPr>
            <a:lvl7pPr algn="ctr">
              <a:defRPr sz="1950" b="1">
                <a:solidFill>
                  <a:srgbClr val="CBD5E1"/>
                </a:solidFill>
                <a:latin typeface="Arial"/>
                <a:ea typeface="Arial"/>
                <a:cs typeface="Arial"/>
              </a:defRPr>
            </a:lvl7pPr>
            <a:lvl8pPr algn="ctr">
              <a:defRPr sz="1950" b="1">
                <a:solidFill>
                  <a:srgbClr val="CBD5E1"/>
                </a:solidFill>
                <a:latin typeface="Arial"/>
                <a:ea typeface="Arial"/>
                <a:cs typeface="Arial"/>
              </a:defRPr>
            </a:lvl8pPr>
            <a:lvl9pPr algn="ctr">
              <a:defRPr sz="1950" b="1">
                <a:solidFill>
                  <a:srgbClr val="CBD5E1"/>
                </a:solidFill>
                <a:latin typeface="Arial"/>
                <a:ea typeface="Arial"/>
                <a:cs typeface="Arial"/>
              </a:defRPr>
            </a:lvl9pPr>
          </a:lstStyle>
          <a:p xmlns:a="http://schemas.openxmlformats.org/drawingml/2006/main">
            <a:pPr algn="ctr">
              <a:defRPr sz="1950" b="1">
                <a:solidFill>
                  <a:srgbClr val="CBD5E1"/>
                </a:solidFill>
                <a:latin typeface="Arial"/>
                <a:ea typeface="Arial"/>
                <a:cs typeface="Arial"/>
              </a:defRPr>
            </a:pPr>
            <a:r>
              <a:rPr sz="1950" b="1">
                <a:solidFill>
                  <a:srgbClr val="CBD5E1"/>
                </a:solidFill>
                <a:latin typeface="Arial"/>
                <a:ea typeface="Arial"/>
                <a:cs typeface="Arial"/>
              </a:rPr>
              <a:t>2. Validasi dan INSERT</a:t>
            </a:r>
          </a:p>
        </p:txBody>
      </p:sp>
      <p:cxnSp>
        <p:nvCxnSpPr>
          <p:cNvPr id="16" name="line-127">
            <a:extLst xmlns:a="http://schemas.openxmlformats.org/drawingml/2006/main">
              <a:ext uri="{FF2B5EF4-FFF2-40B4-BE49-F238E27FC236}">
                <a16:creationId xmlns:a16="http://schemas.microsoft.com/office/drawing/2014/main" id="{F3E638A5-E895-4733-AB3F-ADA8E1C2B9C7}"/>
              </a:ext>
            </a:extLst>
          </p:cNvPr>
          <p:cNvCxnSpPr/>
          <p:nvPr/>
        </p:nvCxnSpPr>
        <p:spPr>
          <a:xfrm xmlns:a="http://schemas.openxmlformats.org/drawingml/2006/main">
            <a:off x="5619750" y="5276850"/>
            <a:ext cx="3810000"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17" name="text-128">
            <a:extLst xmlns:a="http://schemas.openxmlformats.org/drawingml/2006/main">
              <a:ext uri="{FF2B5EF4-FFF2-40B4-BE49-F238E27FC236}">
                <a16:creationId xmlns:a16="http://schemas.microsoft.com/office/drawing/2014/main" id="{20E30A58-9526-49B5-9CC3-B8877C0E9558}"/>
              </a:ext>
            </a:extLst>
          </p:cNvPr>
          <p:cNvSpPr>
            <a:spLocks xmlns:a="http://schemas.openxmlformats.org/drawingml/2006/main" noGrp="1"/>
          </p:cNvSpPr>
          <p:nvPr/>
        </p:nvSpPr>
        <p:spPr>
          <a:xfrm xmlns:a="http://schemas.openxmlformats.org/drawingml/2006/main">
            <a:off x="5695950" y="4867275"/>
            <a:ext cx="365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CBD5E1"/>
                </a:solidFill>
                <a:latin typeface="Arial"/>
                <a:ea typeface="Arial"/>
                <a:cs typeface="Arial"/>
              </a:defRPr>
            </a:defPPr>
            <a:lvl1pPr algn="ctr">
              <a:defRPr sz="1950" b="1">
                <a:solidFill>
                  <a:srgbClr val="CBD5E1"/>
                </a:solidFill>
                <a:latin typeface="Arial"/>
                <a:ea typeface="Arial"/>
                <a:cs typeface="Arial"/>
              </a:defRPr>
            </a:lvl1pPr>
            <a:lvl2pPr algn="ctr">
              <a:defRPr sz="1950" b="1">
                <a:solidFill>
                  <a:srgbClr val="CBD5E1"/>
                </a:solidFill>
                <a:latin typeface="Arial"/>
                <a:ea typeface="Arial"/>
                <a:cs typeface="Arial"/>
              </a:defRPr>
            </a:lvl2pPr>
            <a:lvl3pPr algn="ctr">
              <a:defRPr sz="1950" b="1">
                <a:solidFill>
                  <a:srgbClr val="CBD5E1"/>
                </a:solidFill>
                <a:latin typeface="Arial"/>
                <a:ea typeface="Arial"/>
                <a:cs typeface="Arial"/>
              </a:defRPr>
            </a:lvl3pPr>
            <a:lvl4pPr algn="ctr">
              <a:defRPr sz="1950" b="1">
                <a:solidFill>
                  <a:srgbClr val="CBD5E1"/>
                </a:solidFill>
                <a:latin typeface="Arial"/>
                <a:ea typeface="Arial"/>
                <a:cs typeface="Arial"/>
              </a:defRPr>
            </a:lvl4pPr>
            <a:lvl5pPr algn="ctr">
              <a:defRPr sz="1950" b="1">
                <a:solidFill>
                  <a:srgbClr val="CBD5E1"/>
                </a:solidFill>
                <a:latin typeface="Arial"/>
                <a:ea typeface="Arial"/>
                <a:cs typeface="Arial"/>
              </a:defRPr>
            </a:lvl5pPr>
            <a:lvl6pPr algn="ctr">
              <a:defRPr sz="1950" b="1">
                <a:solidFill>
                  <a:srgbClr val="CBD5E1"/>
                </a:solidFill>
                <a:latin typeface="Arial"/>
                <a:ea typeface="Arial"/>
                <a:cs typeface="Arial"/>
              </a:defRPr>
            </a:lvl6pPr>
            <a:lvl7pPr algn="ctr">
              <a:defRPr sz="1950" b="1">
                <a:solidFill>
                  <a:srgbClr val="CBD5E1"/>
                </a:solidFill>
                <a:latin typeface="Arial"/>
                <a:ea typeface="Arial"/>
                <a:cs typeface="Arial"/>
              </a:defRPr>
            </a:lvl7pPr>
            <a:lvl8pPr algn="ctr">
              <a:defRPr sz="1950" b="1">
                <a:solidFill>
                  <a:srgbClr val="CBD5E1"/>
                </a:solidFill>
                <a:latin typeface="Arial"/>
                <a:ea typeface="Arial"/>
                <a:cs typeface="Arial"/>
              </a:defRPr>
            </a:lvl8pPr>
            <a:lvl9pPr algn="ctr">
              <a:defRPr sz="1950" b="1">
                <a:solidFill>
                  <a:srgbClr val="CBD5E1"/>
                </a:solidFill>
                <a:latin typeface="Arial"/>
                <a:ea typeface="Arial"/>
                <a:cs typeface="Arial"/>
              </a:defRPr>
            </a:lvl9pPr>
          </a:lstStyle>
          <a:p xmlns:a="http://schemas.openxmlformats.org/drawingml/2006/main">
            <a:pPr algn="ctr">
              <a:defRPr sz="1950" b="1">
                <a:solidFill>
                  <a:srgbClr val="CBD5E1"/>
                </a:solidFill>
                <a:latin typeface="Arial"/>
                <a:ea typeface="Arial"/>
                <a:cs typeface="Arial"/>
              </a:defRPr>
            </a:pPr>
            <a:r>
              <a:rPr sz="1950" b="1">
                <a:solidFill>
                  <a:srgbClr val="CBD5E1"/>
                </a:solidFill>
                <a:latin typeface="Arial"/>
                <a:ea typeface="Arial"/>
                <a:cs typeface="Arial"/>
              </a:rPr>
              <a:t>3. ID pesan tersimpan</a:t>
            </a:r>
          </a:p>
        </p:txBody>
      </p:sp>
      <p:cxnSp>
        <p:nvCxnSpPr>
          <p:cNvPr id="18" name="line-129">
            <a:extLst xmlns:a="http://schemas.openxmlformats.org/drawingml/2006/main">
              <a:ext uri="{FF2B5EF4-FFF2-40B4-BE49-F238E27FC236}">
                <a16:creationId xmlns:a16="http://schemas.microsoft.com/office/drawing/2014/main" id="{2DCE0DAB-85AA-48FD-9C7E-95ED016ED871}"/>
              </a:ext>
            </a:extLst>
          </p:cNvPr>
          <p:cNvCxnSpPr/>
          <p:nvPr/>
        </p:nvCxnSpPr>
        <p:spPr>
          <a:xfrm xmlns:a="http://schemas.openxmlformats.org/drawingml/2006/main">
            <a:off x="5619750" y="6115050"/>
            <a:ext cx="7715250" cy="0"/>
          </a:xfrm>
          <a:prstGeom xmlns:a="http://schemas.openxmlformats.org/drawingml/2006/main" prst="straightConnector1">
            <a:avLst/>
          </a:prstGeom>
          <a:ln xmlns:a="http://schemas.openxmlformats.org/drawingml/2006/main" w="28575">
            <a:solidFill>
              <a:srgbClr val="38BDF8"/>
            </a:solidFill>
            <a:prstDash val="solid"/>
            <a:tailEnd type="triangle" w="med" len="med"/>
          </a:ln>
        </p:spPr>
      </p:cxnSp>
      <p:sp>
        <p:nvSpPr>
          <p:cNvPr id="19" name="text-130">
            <a:extLst xmlns:a="http://schemas.openxmlformats.org/drawingml/2006/main">
              <a:ext uri="{FF2B5EF4-FFF2-40B4-BE49-F238E27FC236}">
                <a16:creationId xmlns:a16="http://schemas.microsoft.com/office/drawing/2014/main" id="{6A6538A4-0CB1-4BBA-B8B4-BFEDB633A177}"/>
              </a:ext>
            </a:extLst>
          </p:cNvPr>
          <p:cNvSpPr>
            <a:spLocks xmlns:a="http://schemas.openxmlformats.org/drawingml/2006/main" noGrp="1"/>
          </p:cNvSpPr>
          <p:nvPr/>
        </p:nvSpPr>
        <p:spPr>
          <a:xfrm xmlns:a="http://schemas.openxmlformats.org/drawingml/2006/main">
            <a:off x="5695950" y="5705475"/>
            <a:ext cx="7562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CBD5E1"/>
                </a:solidFill>
                <a:latin typeface="Arial"/>
                <a:ea typeface="Arial"/>
                <a:cs typeface="Arial"/>
              </a:defRPr>
            </a:defPPr>
            <a:lvl1pPr algn="ctr">
              <a:defRPr sz="1950" b="1">
                <a:solidFill>
                  <a:srgbClr val="CBD5E1"/>
                </a:solidFill>
                <a:latin typeface="Arial"/>
                <a:ea typeface="Arial"/>
                <a:cs typeface="Arial"/>
              </a:defRPr>
            </a:lvl1pPr>
            <a:lvl2pPr algn="ctr">
              <a:defRPr sz="1950" b="1">
                <a:solidFill>
                  <a:srgbClr val="CBD5E1"/>
                </a:solidFill>
                <a:latin typeface="Arial"/>
                <a:ea typeface="Arial"/>
                <a:cs typeface="Arial"/>
              </a:defRPr>
            </a:lvl2pPr>
            <a:lvl3pPr algn="ctr">
              <a:defRPr sz="1950" b="1">
                <a:solidFill>
                  <a:srgbClr val="CBD5E1"/>
                </a:solidFill>
                <a:latin typeface="Arial"/>
                <a:ea typeface="Arial"/>
                <a:cs typeface="Arial"/>
              </a:defRPr>
            </a:lvl3pPr>
            <a:lvl4pPr algn="ctr">
              <a:defRPr sz="1950" b="1">
                <a:solidFill>
                  <a:srgbClr val="CBD5E1"/>
                </a:solidFill>
                <a:latin typeface="Arial"/>
                <a:ea typeface="Arial"/>
                <a:cs typeface="Arial"/>
              </a:defRPr>
            </a:lvl4pPr>
            <a:lvl5pPr algn="ctr">
              <a:defRPr sz="1950" b="1">
                <a:solidFill>
                  <a:srgbClr val="CBD5E1"/>
                </a:solidFill>
                <a:latin typeface="Arial"/>
                <a:ea typeface="Arial"/>
                <a:cs typeface="Arial"/>
              </a:defRPr>
            </a:lvl5pPr>
            <a:lvl6pPr algn="ctr">
              <a:defRPr sz="1950" b="1">
                <a:solidFill>
                  <a:srgbClr val="CBD5E1"/>
                </a:solidFill>
                <a:latin typeface="Arial"/>
                <a:ea typeface="Arial"/>
                <a:cs typeface="Arial"/>
              </a:defRPr>
            </a:lvl6pPr>
            <a:lvl7pPr algn="ctr">
              <a:defRPr sz="1950" b="1">
                <a:solidFill>
                  <a:srgbClr val="CBD5E1"/>
                </a:solidFill>
                <a:latin typeface="Arial"/>
                <a:ea typeface="Arial"/>
                <a:cs typeface="Arial"/>
              </a:defRPr>
            </a:lvl7pPr>
            <a:lvl8pPr algn="ctr">
              <a:defRPr sz="1950" b="1">
                <a:solidFill>
                  <a:srgbClr val="CBD5E1"/>
                </a:solidFill>
                <a:latin typeface="Arial"/>
                <a:ea typeface="Arial"/>
                <a:cs typeface="Arial"/>
              </a:defRPr>
            </a:lvl8pPr>
            <a:lvl9pPr algn="ctr">
              <a:defRPr sz="1950" b="1">
                <a:solidFill>
                  <a:srgbClr val="CBD5E1"/>
                </a:solidFill>
                <a:latin typeface="Arial"/>
                <a:ea typeface="Arial"/>
                <a:cs typeface="Arial"/>
              </a:defRPr>
            </a:lvl9pPr>
          </a:lstStyle>
          <a:p xmlns:a="http://schemas.openxmlformats.org/drawingml/2006/main">
            <a:pPr algn="ctr">
              <a:defRPr sz="1950" b="1">
                <a:solidFill>
                  <a:srgbClr val="CBD5E1"/>
                </a:solidFill>
                <a:latin typeface="Arial"/>
                <a:ea typeface="Arial"/>
                <a:cs typeface="Arial"/>
              </a:defRPr>
            </a:pPr>
            <a:r>
              <a:rPr sz="1950" b="1">
                <a:solidFill>
                  <a:srgbClr val="CBD5E1"/>
                </a:solidFill>
                <a:latin typeface="Arial"/>
                <a:ea typeface="Arial"/>
                <a:cs typeface="Arial"/>
              </a:rPr>
              <a:t>4. Event message</a:t>
            </a:r>
          </a:p>
        </p:txBody>
      </p:sp>
      <p:cxnSp>
        <p:nvCxnSpPr>
          <p:cNvPr id="20" name="line-131">
            <a:extLst xmlns:a="http://schemas.openxmlformats.org/drawingml/2006/main">
              <a:ext uri="{FF2B5EF4-FFF2-40B4-BE49-F238E27FC236}">
                <a16:creationId xmlns:a16="http://schemas.microsoft.com/office/drawing/2014/main" id="{2374180C-39A8-43BB-99DF-8B15E259FFF0}"/>
              </a:ext>
            </a:extLst>
          </p:cNvPr>
          <p:cNvCxnSpPr/>
          <p:nvPr/>
        </p:nvCxnSpPr>
        <p:spPr>
          <a:xfrm xmlns:a="http://schemas.openxmlformats.org/drawingml/2006/main">
            <a:off x="1857375" y="6953250"/>
            <a:ext cx="3762375" cy="0"/>
          </a:xfrm>
          <a:prstGeom xmlns:a="http://schemas.openxmlformats.org/drawingml/2006/main" prst="straightConnector1">
            <a:avLst/>
          </a:prstGeom>
          <a:ln xmlns:a="http://schemas.openxmlformats.org/drawingml/2006/main" w="28575">
            <a:solidFill>
              <a:srgbClr val="38BDF8"/>
            </a:solidFill>
            <a:prstDash val="solid"/>
            <a:headEnd type="triangle" w="med" len="med"/>
          </a:ln>
        </p:spPr>
      </p:cxnSp>
      <p:sp>
        <p:nvSpPr>
          <p:cNvPr id="21" name="text-132">
            <a:extLst xmlns:a="http://schemas.openxmlformats.org/drawingml/2006/main">
              <a:ext uri="{FF2B5EF4-FFF2-40B4-BE49-F238E27FC236}">
                <a16:creationId xmlns:a16="http://schemas.microsoft.com/office/drawing/2014/main" id="{7BA47EBA-7261-48F7-9F76-8F21789506BC}"/>
              </a:ext>
            </a:extLst>
          </p:cNvPr>
          <p:cNvSpPr>
            <a:spLocks xmlns:a="http://schemas.openxmlformats.org/drawingml/2006/main" noGrp="1"/>
          </p:cNvSpPr>
          <p:nvPr/>
        </p:nvSpPr>
        <p:spPr>
          <a:xfrm xmlns:a="http://schemas.openxmlformats.org/drawingml/2006/main">
            <a:off x="1933575" y="6543675"/>
            <a:ext cx="3609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CBD5E1"/>
                </a:solidFill>
                <a:latin typeface="Arial"/>
                <a:ea typeface="Arial"/>
                <a:cs typeface="Arial"/>
              </a:defRPr>
            </a:defPPr>
            <a:lvl1pPr algn="ctr">
              <a:defRPr sz="1950" b="1">
                <a:solidFill>
                  <a:srgbClr val="CBD5E1"/>
                </a:solidFill>
                <a:latin typeface="Arial"/>
                <a:ea typeface="Arial"/>
                <a:cs typeface="Arial"/>
              </a:defRPr>
            </a:lvl1pPr>
            <a:lvl2pPr algn="ctr">
              <a:defRPr sz="1950" b="1">
                <a:solidFill>
                  <a:srgbClr val="CBD5E1"/>
                </a:solidFill>
                <a:latin typeface="Arial"/>
                <a:ea typeface="Arial"/>
                <a:cs typeface="Arial"/>
              </a:defRPr>
            </a:lvl2pPr>
            <a:lvl3pPr algn="ctr">
              <a:defRPr sz="1950" b="1">
                <a:solidFill>
                  <a:srgbClr val="CBD5E1"/>
                </a:solidFill>
                <a:latin typeface="Arial"/>
                <a:ea typeface="Arial"/>
                <a:cs typeface="Arial"/>
              </a:defRPr>
            </a:lvl3pPr>
            <a:lvl4pPr algn="ctr">
              <a:defRPr sz="1950" b="1">
                <a:solidFill>
                  <a:srgbClr val="CBD5E1"/>
                </a:solidFill>
                <a:latin typeface="Arial"/>
                <a:ea typeface="Arial"/>
                <a:cs typeface="Arial"/>
              </a:defRPr>
            </a:lvl4pPr>
            <a:lvl5pPr algn="ctr">
              <a:defRPr sz="1950" b="1">
                <a:solidFill>
                  <a:srgbClr val="CBD5E1"/>
                </a:solidFill>
                <a:latin typeface="Arial"/>
                <a:ea typeface="Arial"/>
                <a:cs typeface="Arial"/>
              </a:defRPr>
            </a:lvl5pPr>
            <a:lvl6pPr algn="ctr">
              <a:defRPr sz="1950" b="1">
                <a:solidFill>
                  <a:srgbClr val="CBD5E1"/>
                </a:solidFill>
                <a:latin typeface="Arial"/>
                <a:ea typeface="Arial"/>
                <a:cs typeface="Arial"/>
              </a:defRPr>
            </a:lvl6pPr>
            <a:lvl7pPr algn="ctr">
              <a:defRPr sz="1950" b="1">
                <a:solidFill>
                  <a:srgbClr val="CBD5E1"/>
                </a:solidFill>
                <a:latin typeface="Arial"/>
                <a:ea typeface="Arial"/>
                <a:cs typeface="Arial"/>
              </a:defRPr>
            </a:lvl7pPr>
            <a:lvl8pPr algn="ctr">
              <a:defRPr sz="1950" b="1">
                <a:solidFill>
                  <a:srgbClr val="CBD5E1"/>
                </a:solidFill>
                <a:latin typeface="Arial"/>
                <a:ea typeface="Arial"/>
                <a:cs typeface="Arial"/>
              </a:defRPr>
            </a:lvl8pPr>
            <a:lvl9pPr algn="ctr">
              <a:defRPr sz="1950" b="1">
                <a:solidFill>
                  <a:srgbClr val="CBD5E1"/>
                </a:solidFill>
                <a:latin typeface="Arial"/>
                <a:ea typeface="Arial"/>
                <a:cs typeface="Arial"/>
              </a:defRPr>
            </a:lvl9pPr>
          </a:lstStyle>
          <a:p xmlns:a="http://schemas.openxmlformats.org/drawingml/2006/main">
            <a:pPr algn="ctr">
              <a:defRPr sz="1950" b="1">
                <a:solidFill>
                  <a:srgbClr val="CBD5E1"/>
                </a:solidFill>
                <a:latin typeface="Arial"/>
                <a:ea typeface="Arial"/>
                <a:cs typeface="Arial"/>
              </a:defRPr>
            </a:pPr>
            <a:r>
              <a:rPr sz="1950" b="1">
                <a:solidFill>
                  <a:srgbClr val="CBD5E1"/>
                </a:solidFill>
                <a:latin typeface="Arial"/>
                <a:ea typeface="Arial"/>
                <a:cs typeface="Arial"/>
              </a:rPr>
              <a:t>5. Respons 201</a:t>
            </a:r>
          </a:p>
        </p:txBody>
      </p:sp>
    </p:spTree>
    <p:extLst>
      <p:ext uri="{BB962C8B-B14F-4D97-AF65-F5344CB8AC3E}">
        <p14:creationId xmlns:p14="http://schemas.microsoft.com/office/powerpoint/2010/main" val="15832926"/>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133">
            <a:extLst xmlns:a="http://schemas.openxmlformats.org/drawingml/2006/main">
              <a:ext uri="{FF2B5EF4-FFF2-40B4-BE49-F238E27FC236}">
                <a16:creationId xmlns:a16="http://schemas.microsoft.com/office/drawing/2014/main" id="{EC50EAA8-D713-414E-9F4B-3FE1797A2975}"/>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Payload, validasi, dan pesan kanonis</a:t>
            </a:r>
          </a:p>
        </p:txBody>
      </p:sp>
      <p:sp>
        <p:nvSpPr>
          <p:cNvPr id="2" name="text-134">
            <a:extLst xmlns:a="http://schemas.openxmlformats.org/drawingml/2006/main">
              <a:ext uri="{FF2B5EF4-FFF2-40B4-BE49-F238E27FC236}">
                <a16:creationId xmlns:a16="http://schemas.microsoft.com/office/drawing/2014/main" id="{199C68AE-512B-4DE6-9D67-2DBC0A82BAE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Contoh: {"client_id":"uuid-draft","text":"Halo Andi"}</a:t>
            </a:r>
          </a:p>
        </p:txBody>
      </p:sp>
      <p:sp>
        <p:nvSpPr>
          <p:cNvPr id="3" name="text-135">
            <a:extLst xmlns:a="http://schemas.openxmlformats.org/drawingml/2006/main">
              <a:ext uri="{FF2B5EF4-FFF2-40B4-BE49-F238E27FC236}">
                <a16:creationId xmlns:a16="http://schemas.microsoft.com/office/drawing/2014/main" id="{BC3DB1EE-30E2-42EC-850B-2D7D3D64A2E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14</a:t>
            </a:r>
          </a:p>
        </p:txBody>
      </p:sp>
      <p:sp>
        <p:nvSpPr>
          <p:cNvPr id="4" name="text-136">
            <a:extLst xmlns:a="http://schemas.openxmlformats.org/drawingml/2006/main">
              <a:ext uri="{FF2B5EF4-FFF2-40B4-BE49-F238E27FC236}">
                <a16:creationId xmlns:a16="http://schemas.microsoft.com/office/drawing/2014/main" id="{23FAC558-4351-48A0-A396-1FFA673BA60A}"/>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37">
            <a:extLst xmlns:a="http://schemas.openxmlformats.org/drawingml/2006/main">
              <a:ext uri="{FF2B5EF4-FFF2-40B4-BE49-F238E27FC236}">
                <a16:creationId xmlns:a16="http://schemas.microsoft.com/office/drawing/2014/main" id="{08EF8439-1667-44B6-AA83-8CEF27EAE69A}"/>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Validasi transport</a:t>
            </a:r>
          </a:p>
        </p:txBody>
      </p:sp>
      <p:sp>
        <p:nvSpPr>
          <p:cNvPr id="6" name="text-138">
            <a:extLst xmlns:a="http://schemas.openxmlformats.org/drawingml/2006/main">
              <a:ext uri="{FF2B5EF4-FFF2-40B4-BE49-F238E27FC236}">
                <a16:creationId xmlns:a16="http://schemas.microsoft.com/office/drawing/2014/main" id="{68E89049-B11C-4EC3-BB51-C06DB61717E2}"/>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Content-Type application/json, body maksimal 16 KiB, tanpa field asing atau duplikat.</a:t>
            </a:r>
          </a:p>
        </p:txBody>
      </p:sp>
      <p:sp>
        <p:nvSpPr>
          <p:cNvPr id="7" name="text-139">
            <a:extLst xmlns:a="http://schemas.openxmlformats.org/drawingml/2006/main">
              <a:ext uri="{FF2B5EF4-FFF2-40B4-BE49-F238E27FC236}">
                <a16:creationId xmlns:a16="http://schemas.microsoft.com/office/drawing/2014/main" id="{A4579A71-2609-44A6-BC4B-783835E1AB3E}"/>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40">
            <a:extLst xmlns:a="http://schemas.openxmlformats.org/drawingml/2006/main">
              <a:ext uri="{FF2B5EF4-FFF2-40B4-BE49-F238E27FC236}">
                <a16:creationId xmlns:a16="http://schemas.microsoft.com/office/drawing/2014/main" id="{E949A32C-F9BA-4638-8C06-FDF5263B2BA8}"/>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Validasi isi</a:t>
            </a:r>
          </a:p>
        </p:txBody>
      </p:sp>
      <p:sp>
        <p:nvSpPr>
          <p:cNvPr id="9" name="text-141">
            <a:extLst xmlns:a="http://schemas.openxmlformats.org/drawingml/2006/main">
              <a:ext uri="{FF2B5EF4-FFF2-40B4-BE49-F238E27FC236}">
                <a16:creationId xmlns:a16="http://schemas.microsoft.com/office/drawing/2014/main" id="{BDE838BF-F7C9-43BD-85DE-DA44F0CDF519}"/>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client_id sepanjang 8–100 byte, teks valid UTF-8 maksimal 4.000 karakter.</a:t>
            </a:r>
          </a:p>
        </p:txBody>
      </p:sp>
      <p:sp>
        <p:nvSpPr>
          <p:cNvPr id="10" name="text-142">
            <a:extLst xmlns:a="http://schemas.openxmlformats.org/drawingml/2006/main">
              <a:ext uri="{FF2B5EF4-FFF2-40B4-BE49-F238E27FC236}">
                <a16:creationId xmlns:a16="http://schemas.microsoft.com/office/drawing/2014/main" id="{C868220A-4736-44EA-9E85-834662AA9072}"/>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43">
            <a:extLst xmlns:a="http://schemas.openxmlformats.org/drawingml/2006/main">
              <a:ext uri="{FF2B5EF4-FFF2-40B4-BE49-F238E27FC236}">
                <a16:creationId xmlns:a16="http://schemas.microsoft.com/office/drawing/2014/main" id="{D026A3D3-98B8-42C6-8E69-34639EE26342}"/>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Validasi konteks</a:t>
            </a:r>
          </a:p>
        </p:txBody>
      </p:sp>
      <p:sp>
        <p:nvSpPr>
          <p:cNvPr id="12" name="text-144">
            <a:extLst xmlns:a="http://schemas.openxmlformats.org/drawingml/2006/main">
              <a:ext uri="{FF2B5EF4-FFF2-40B4-BE49-F238E27FC236}">
                <a16:creationId xmlns:a16="http://schemas.microsoft.com/office/drawing/2014/main" id="{F0C998CD-E851-4FC1-8C96-510261B4B356}"/>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Pengirim anggota chat. Balasan harus satu chat. Lampiran juga harus milik pengirim.</a:t>
            </a:r>
          </a:p>
        </p:txBody>
      </p:sp>
      <p:sp>
        <p:nvSpPr>
          <p:cNvPr id="13" name="text-145">
            <a:extLst xmlns:a="http://schemas.openxmlformats.org/drawingml/2006/main">
              <a:ext uri="{FF2B5EF4-FFF2-40B4-BE49-F238E27FC236}">
                <a16:creationId xmlns:a16="http://schemas.microsoft.com/office/drawing/2014/main" id="{617AB889-440A-4A64-ACC6-680B87B15A11}"/>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146">
            <a:extLst xmlns:a="http://schemas.openxmlformats.org/drawingml/2006/main">
              <a:ext uri="{FF2B5EF4-FFF2-40B4-BE49-F238E27FC236}">
                <a16:creationId xmlns:a16="http://schemas.microsoft.com/office/drawing/2014/main" id="{400DB890-B49E-458B-B6FF-63B78EE69564}"/>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Representasi konsisten</a:t>
            </a:r>
          </a:p>
        </p:txBody>
      </p:sp>
      <p:sp>
        <p:nvSpPr>
          <p:cNvPr id="15" name="text-147">
            <a:extLst xmlns:a="http://schemas.openxmlformats.org/drawingml/2006/main">
              <a:ext uri="{FF2B5EF4-FFF2-40B4-BE49-F238E27FC236}">
                <a16:creationId xmlns:a16="http://schemas.microsoft.com/office/drawing/2014/main" id="{10D8A26E-A363-4958-9DFE-CC96BB2C03BC}"/>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messageJSON menyusun pesan, reply, lampiran, dan reaksi untuk REST maupun event.</a:t>
            </a:r>
          </a:p>
        </p:txBody>
      </p:sp>
    </p:spTree>
    <p:extLst>
      <p:ext uri="{BB962C8B-B14F-4D97-AF65-F5344CB8AC3E}">
        <p14:creationId xmlns:p14="http://schemas.microsoft.com/office/powerpoint/2010/main" val="726971929"/>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148">
            <a:extLst xmlns:a="http://schemas.openxmlformats.org/drawingml/2006/main">
              <a:ext uri="{FF2B5EF4-FFF2-40B4-BE49-F238E27FC236}">
                <a16:creationId xmlns:a16="http://schemas.microsoft.com/office/drawing/2014/main" id="{175A8DE1-3602-4121-A2C9-2BC36D5D0D9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Idempotensi dan retry pengiriman</a:t>
            </a:r>
          </a:p>
        </p:txBody>
      </p:sp>
      <p:sp>
        <p:nvSpPr>
          <p:cNvPr id="2" name="text-149">
            <a:extLst xmlns:a="http://schemas.openxmlformats.org/drawingml/2006/main">
              <a:ext uri="{FF2B5EF4-FFF2-40B4-BE49-F238E27FC236}">
                <a16:creationId xmlns:a16="http://schemas.microsoft.com/office/drawing/2014/main" id="{2CCA711A-7828-412A-8896-DEB929632653}"/>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Kehilangan respons HTTP tidak selalu berarti database gagal menyimpan pesan.</a:t>
            </a:r>
          </a:p>
        </p:txBody>
      </p:sp>
      <p:sp>
        <p:nvSpPr>
          <p:cNvPr id="3" name="text-150">
            <a:extLst xmlns:a="http://schemas.openxmlformats.org/drawingml/2006/main">
              <a:ext uri="{FF2B5EF4-FFF2-40B4-BE49-F238E27FC236}">
                <a16:creationId xmlns:a16="http://schemas.microsoft.com/office/drawing/2014/main" id="{336FEF22-A1E1-4451-B807-5699CD7E429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15</a:t>
            </a:r>
          </a:p>
        </p:txBody>
      </p:sp>
      <p:sp>
        <p:nvSpPr>
          <p:cNvPr id="4" name="text-151">
            <a:extLst xmlns:a="http://schemas.openxmlformats.org/drawingml/2006/main">
              <a:ext uri="{FF2B5EF4-FFF2-40B4-BE49-F238E27FC236}">
                <a16:creationId xmlns:a16="http://schemas.microsoft.com/office/drawing/2014/main" id="{88E6F4AB-3122-4804-A09A-CEE851DF0DA7}"/>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52">
            <a:extLst xmlns:a="http://schemas.openxmlformats.org/drawingml/2006/main">
              <a:ext uri="{FF2B5EF4-FFF2-40B4-BE49-F238E27FC236}">
                <a16:creationId xmlns:a16="http://schemas.microsoft.com/office/drawing/2014/main" id="{CFDCE636-3751-4720-B638-E9D8582F0998}"/>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Identitas draft pada Flutter</a:t>
            </a:r>
          </a:p>
        </p:txBody>
      </p:sp>
      <p:sp>
        <p:nvSpPr>
          <p:cNvPr id="6" name="text-153">
            <a:extLst xmlns:a="http://schemas.openxmlformats.org/drawingml/2006/main">
              <a:ext uri="{FF2B5EF4-FFF2-40B4-BE49-F238E27FC236}">
                <a16:creationId xmlns:a16="http://schemas.microsoft.com/office/drawing/2014/main" id="{F951B9B3-1ACE-4F5B-A4A8-6BEE016C654A}"/>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UUID dipertahankan jika teks, lampiran, dan balasan pada draft tetap sama.</a:t>
            </a:r>
          </a:p>
        </p:txBody>
      </p:sp>
      <p:sp>
        <p:nvSpPr>
          <p:cNvPr id="7" name="text-154">
            <a:extLst xmlns:a="http://schemas.openxmlformats.org/drawingml/2006/main">
              <a:ext uri="{FF2B5EF4-FFF2-40B4-BE49-F238E27FC236}">
                <a16:creationId xmlns:a16="http://schemas.microsoft.com/office/drawing/2014/main" id="{3B2C073E-4496-413B-AC45-62793BADF426}"/>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55">
            <a:extLst xmlns:a="http://schemas.openxmlformats.org/drawingml/2006/main">
              <a:ext uri="{FF2B5EF4-FFF2-40B4-BE49-F238E27FC236}">
                <a16:creationId xmlns:a16="http://schemas.microsoft.com/office/drawing/2014/main" id="{034843C4-39BF-437F-8541-5BA8EC7D962B}"/>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Constraint database</a:t>
            </a:r>
          </a:p>
        </p:txBody>
      </p:sp>
      <p:sp>
        <p:nvSpPr>
          <p:cNvPr id="9" name="text-156">
            <a:extLst xmlns:a="http://schemas.openxmlformats.org/drawingml/2006/main">
              <a:ext uri="{FF2B5EF4-FFF2-40B4-BE49-F238E27FC236}">
                <a16:creationId xmlns:a16="http://schemas.microsoft.com/office/drawing/2014/main" id="{BC75AEA0-7C18-4F3C-8551-2FFDB6CE0FA3}"/>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UNIQUE(sender_id, client_id) menghalangi pesan ganda untuk pengirim yang sama.</a:t>
            </a:r>
          </a:p>
        </p:txBody>
      </p:sp>
      <p:sp>
        <p:nvSpPr>
          <p:cNvPr id="10" name="text-157">
            <a:extLst xmlns:a="http://schemas.openxmlformats.org/drawingml/2006/main">
              <a:ext uri="{FF2B5EF4-FFF2-40B4-BE49-F238E27FC236}">
                <a16:creationId xmlns:a16="http://schemas.microsoft.com/office/drawing/2014/main" id="{866DDD3C-124A-4D54-A407-D3EECD898E32}"/>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58">
            <a:extLst xmlns:a="http://schemas.openxmlformats.org/drawingml/2006/main">
              <a:ext uri="{FF2B5EF4-FFF2-40B4-BE49-F238E27FC236}">
                <a16:creationId xmlns:a16="http://schemas.microsoft.com/office/drawing/2014/main" id="{19D4A223-72B2-401E-8ECB-7C5BCAFB5469}"/>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Pengiriman ulang</a:t>
            </a:r>
          </a:p>
        </p:txBody>
      </p:sp>
      <p:sp>
        <p:nvSpPr>
          <p:cNvPr id="12" name="text-159">
            <a:extLst xmlns:a="http://schemas.openxmlformats.org/drawingml/2006/main">
              <a:ext uri="{FF2B5EF4-FFF2-40B4-BE49-F238E27FC236}">
                <a16:creationId xmlns:a16="http://schemas.microsoft.com/office/drawing/2014/main" id="{440B6832-4C5A-4122-8E98-F331572AD38B}"/>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Payload identik mengembalikan pesan yang sama. Payload berbeda dengan ID sama menghasilkan 409.</a:t>
            </a:r>
          </a:p>
        </p:txBody>
      </p:sp>
      <p:sp>
        <p:nvSpPr>
          <p:cNvPr id="13" name="text-160">
            <a:extLst xmlns:a="http://schemas.openxmlformats.org/drawingml/2006/main">
              <a:ext uri="{FF2B5EF4-FFF2-40B4-BE49-F238E27FC236}">
                <a16:creationId xmlns:a16="http://schemas.microsoft.com/office/drawing/2014/main" id="{4472F6BF-4510-427D-ADA9-99A29FB990C0}"/>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161">
            <a:extLst xmlns:a="http://schemas.openxmlformats.org/drawingml/2006/main">
              <a:ext uri="{FF2B5EF4-FFF2-40B4-BE49-F238E27FC236}">
                <a16:creationId xmlns:a16="http://schemas.microsoft.com/office/drawing/2014/main" id="{45739AC7-C3E9-4977-A372-02D479917C6F}"/>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Batas implementasi</a:t>
            </a:r>
          </a:p>
        </p:txBody>
      </p:sp>
      <p:sp>
        <p:nvSpPr>
          <p:cNvPr id="15" name="text-162">
            <a:extLst xmlns:a="http://schemas.openxmlformats.org/drawingml/2006/main">
              <a:ext uri="{FF2B5EF4-FFF2-40B4-BE49-F238E27FC236}">
                <a16:creationId xmlns:a16="http://schemas.microsoft.com/office/drawing/2014/main" id="{5402175A-BEA4-48DF-90CA-D94FAFC93483}"/>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Draft bertahan saat send gagal di layar aktif. Antrean offline permanen belum tersedia.</a:t>
            </a:r>
          </a:p>
        </p:txBody>
      </p:sp>
    </p:spTree>
    <p:extLst>
      <p:ext uri="{BB962C8B-B14F-4D97-AF65-F5344CB8AC3E}">
        <p14:creationId xmlns:p14="http://schemas.microsoft.com/office/powerpoint/2010/main" val="816911413"/>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163">
            <a:extLst xmlns:a="http://schemas.openxmlformats.org/drawingml/2006/main">
              <a:ext uri="{FF2B5EF4-FFF2-40B4-BE49-F238E27FC236}">
                <a16:creationId xmlns:a16="http://schemas.microsoft.com/office/drawing/2014/main" id="{D3D818B7-F93B-44EF-A357-2DFBE1E6333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Riwayat pesan dan pagination</a:t>
            </a:r>
          </a:p>
        </p:txBody>
      </p:sp>
      <p:sp>
        <p:nvSpPr>
          <p:cNvPr id="2" name="text-164">
            <a:extLst xmlns:a="http://schemas.openxmlformats.org/drawingml/2006/main">
              <a:ext uri="{FF2B5EF4-FFF2-40B4-BE49-F238E27FC236}">
                <a16:creationId xmlns:a16="http://schemas.microsoft.com/office/drawing/2014/main" id="{C6096C03-9D7F-47A7-A5D4-1E697A8F26D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16</a:t>
            </a:r>
          </a:p>
        </p:txBody>
      </p:sp>
      <p:sp>
        <p:nvSpPr>
          <p:cNvPr id="3" name="text-165">
            <a:extLst xmlns:a="http://schemas.openxmlformats.org/drawingml/2006/main">
              <a:ext uri="{FF2B5EF4-FFF2-40B4-BE49-F238E27FC236}">
                <a16:creationId xmlns:a16="http://schemas.microsoft.com/office/drawing/2014/main" id="{CCE987C5-92ED-4820-B290-F67D022B2587}"/>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Cursor before memakai ID pesan tertua yang sudah dimuat.</a:t>
            </a:r>
          </a:p>
        </p:txBody>
      </p:sp>
      <p:sp>
        <p:nvSpPr>
          <p:cNvPr id="4" name="text-166">
            <a:extLst xmlns:a="http://schemas.openxmlformats.org/drawingml/2006/main">
              <a:ext uri="{FF2B5EF4-FFF2-40B4-BE49-F238E27FC236}">
                <a16:creationId xmlns:a16="http://schemas.microsoft.com/office/drawing/2014/main" id="{48874A15-5001-4134-BCEA-C5B954D2BBC3}"/>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67">
            <a:extLst xmlns:a="http://schemas.openxmlformats.org/drawingml/2006/main">
              <a:ext uri="{FF2B5EF4-FFF2-40B4-BE49-F238E27FC236}">
                <a16:creationId xmlns:a16="http://schemas.microsoft.com/office/drawing/2014/main" id="{228E3216-B265-43CB-9BBB-35983C7C0ECC}"/>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Query server</a:t>
            </a:r>
          </a:p>
        </p:txBody>
      </p:sp>
      <p:sp>
        <p:nvSpPr>
          <p:cNvPr id="6" name="text-168">
            <a:extLst xmlns:a="http://schemas.openxmlformats.org/drawingml/2006/main">
              <a:ext uri="{FF2B5EF4-FFF2-40B4-BE49-F238E27FC236}">
                <a16:creationId xmlns:a16="http://schemas.microsoft.com/office/drawing/2014/main" id="{F45E27DE-2934-41F0-AF27-C3E7D464962D}"/>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Filter conversation_id dan id &lt; before, urut ID menurun, ambil maksimal 51 record.</a:t>
            </a:r>
          </a:p>
        </p:txBody>
      </p:sp>
      <p:sp>
        <p:nvSpPr>
          <p:cNvPr id="7" name="text-169">
            <a:extLst xmlns:a="http://schemas.openxmlformats.org/drawingml/2006/main">
              <a:ext uri="{FF2B5EF4-FFF2-40B4-BE49-F238E27FC236}">
                <a16:creationId xmlns:a16="http://schemas.microsoft.com/office/drawing/2014/main" id="{156F5CC0-0EDC-42FA-AD89-C15E34615B49}"/>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70">
            <a:extLst xmlns:a="http://schemas.openxmlformats.org/drawingml/2006/main">
              <a:ext uri="{FF2B5EF4-FFF2-40B4-BE49-F238E27FC236}">
                <a16:creationId xmlns:a16="http://schemas.microsoft.com/office/drawing/2014/main" id="{E73EFFDE-011A-4EA7-B95B-0CA64CF01000}"/>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Ukuran halaman</a:t>
            </a:r>
          </a:p>
        </p:txBody>
      </p:sp>
      <p:sp>
        <p:nvSpPr>
          <p:cNvPr id="9" name="text-171">
            <a:extLst xmlns:a="http://schemas.openxmlformats.org/drawingml/2006/main">
              <a:ext uri="{FF2B5EF4-FFF2-40B4-BE49-F238E27FC236}">
                <a16:creationId xmlns:a16="http://schemas.microsoft.com/office/drawing/2014/main" id="{800D1C8D-3073-464D-8EA9-75BB0EE99A10}"/>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50 pesan menjadi hasil. Record ke-51 menentukan nilai has_more.</a:t>
            </a:r>
          </a:p>
        </p:txBody>
      </p:sp>
      <p:sp>
        <p:nvSpPr>
          <p:cNvPr id="10" name="text-172">
            <a:extLst xmlns:a="http://schemas.openxmlformats.org/drawingml/2006/main">
              <a:ext uri="{FF2B5EF4-FFF2-40B4-BE49-F238E27FC236}">
                <a16:creationId xmlns:a16="http://schemas.microsoft.com/office/drawing/2014/main" id="{712A5E9C-C2EC-4005-8F45-6A415D3DEA39}"/>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73">
            <a:extLst xmlns:a="http://schemas.openxmlformats.org/drawingml/2006/main">
              <a:ext uri="{FF2B5EF4-FFF2-40B4-BE49-F238E27FC236}">
                <a16:creationId xmlns:a16="http://schemas.microsoft.com/office/drawing/2014/main" id="{5F2B7230-4659-4B93-B4F5-14EAFDE92877}"/>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Urutan pada Flutter</a:t>
            </a:r>
          </a:p>
        </p:txBody>
      </p:sp>
      <p:sp>
        <p:nvSpPr>
          <p:cNvPr id="12" name="text-174">
            <a:extLst xmlns:a="http://schemas.openxmlformats.org/drawingml/2006/main">
              <a:ext uri="{FF2B5EF4-FFF2-40B4-BE49-F238E27FC236}">
                <a16:creationId xmlns:a16="http://schemas.microsoft.com/office/drawing/2014/main" id="{F27FC841-8B03-4762-AF59-516318378DBA}"/>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membalik hasil menjadi kronologis. _upsert menggabungkan dan mengurutkan ID sebagai BigInt.</a:t>
            </a:r>
          </a:p>
        </p:txBody>
      </p:sp>
      <p:pic>
        <p:nvPicPr>
          <p:cNvPr id="13" name="">
            <a:extLst xmlns:a="http://schemas.openxmlformats.org/drawingml/2006/main">
              <a:ext uri="{FF2B5EF4-FFF2-40B4-BE49-F238E27FC236}">
                <a16:creationId xmlns:a16="http://schemas.microsoft.com/office/drawing/2014/main" id="{90B05967-5E4F-48E0-B416-0AE8EC025B13}"/>
              </a:ext>
            </a:extLst>
          </p:cNvPr>
          <p:cNvPicPr>
            <a:picLocks xmlns:a="http://schemas.openxmlformats.org/drawingml/2006/main" noChangeAspect="1"/>
          </p:cNvPicPr>
          <p:nvPr/>
        </p:nvPicPr>
        <p:blipFill>
          <a:blip xmlns:r="http://schemas.openxmlformats.org/officeDocument/2006/relationships" xmlns:a="http://schemas.openxmlformats.org/drawingml/2006/main" r:embed="R6093378cc9834071"/>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2048257986"/>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176">
            <a:extLst xmlns:a="http://schemas.openxmlformats.org/drawingml/2006/main">
              <a:ext uri="{FF2B5EF4-FFF2-40B4-BE49-F238E27FC236}">
                <a16:creationId xmlns:a16="http://schemas.microsoft.com/office/drawing/2014/main" id="{173EFDE6-C1A6-4BBF-8876-06D7D613FF3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WebSocket dan autentikasi koneksi</a:t>
            </a:r>
          </a:p>
        </p:txBody>
      </p:sp>
      <p:sp>
        <p:nvSpPr>
          <p:cNvPr id="2" name="text-177">
            <a:extLst xmlns:a="http://schemas.openxmlformats.org/drawingml/2006/main">
              <a:ext uri="{FF2B5EF4-FFF2-40B4-BE49-F238E27FC236}">
                <a16:creationId xmlns:a16="http://schemas.microsoft.com/office/drawing/2014/main" id="{BE4DECF4-342D-4AE1-80C0-28527B979E92}"/>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GET /ws membuka transport, lalu frame pertama membawa token sesi.</a:t>
            </a:r>
          </a:p>
        </p:txBody>
      </p:sp>
      <p:sp>
        <p:nvSpPr>
          <p:cNvPr id="3" name="text-178">
            <a:extLst xmlns:a="http://schemas.openxmlformats.org/drawingml/2006/main">
              <a:ext uri="{FF2B5EF4-FFF2-40B4-BE49-F238E27FC236}">
                <a16:creationId xmlns:a16="http://schemas.microsoft.com/office/drawing/2014/main" id="{D34647BE-A1B6-46A4-982F-FC2A633515D9}"/>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17</a:t>
            </a:r>
          </a:p>
        </p:txBody>
      </p:sp>
      <p:sp>
        <p:nvSpPr>
          <p:cNvPr id="4" name="text-179">
            <a:extLst xmlns:a="http://schemas.openxmlformats.org/drawingml/2006/main">
              <a:ext uri="{FF2B5EF4-FFF2-40B4-BE49-F238E27FC236}">
                <a16:creationId xmlns:a16="http://schemas.microsoft.com/office/drawing/2014/main" id="{FC561D4E-4269-40AE-BE53-EDBE9E7EB833}"/>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80">
            <a:extLst xmlns:a="http://schemas.openxmlformats.org/drawingml/2006/main">
              <a:ext uri="{FF2B5EF4-FFF2-40B4-BE49-F238E27FC236}">
                <a16:creationId xmlns:a16="http://schemas.microsoft.com/office/drawing/2014/main" id="{C6AB63F6-A99A-4B2D-A152-D13BD67D75EA}"/>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Frame autentikasi</a:t>
            </a:r>
          </a:p>
        </p:txBody>
      </p:sp>
      <p:sp>
        <p:nvSpPr>
          <p:cNvPr id="6" name="text-181">
            <a:extLst xmlns:a="http://schemas.openxmlformats.org/drawingml/2006/main">
              <a:ext uri="{FF2B5EF4-FFF2-40B4-BE49-F238E27FC236}">
                <a16:creationId xmlns:a16="http://schemas.microsoft.com/office/drawing/2014/main" id="{C261157D-E883-45E7-9A25-9144B49340AF}"/>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Flutter mengirim {"type":"auth","token":"..."}. Server menunggu maksimal 5 detik.</a:t>
            </a:r>
          </a:p>
        </p:txBody>
      </p:sp>
      <p:sp>
        <p:nvSpPr>
          <p:cNvPr id="7" name="text-182">
            <a:extLst xmlns:a="http://schemas.openxmlformats.org/drawingml/2006/main">
              <a:ext uri="{FF2B5EF4-FFF2-40B4-BE49-F238E27FC236}">
                <a16:creationId xmlns:a16="http://schemas.microsoft.com/office/drawing/2014/main" id="{F7A2EAF7-6DB3-48D1-8C7A-0ACEB11275BF}"/>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183">
            <a:extLst xmlns:a="http://schemas.openxmlformats.org/drawingml/2006/main">
              <a:ext uri="{FF2B5EF4-FFF2-40B4-BE49-F238E27FC236}">
                <a16:creationId xmlns:a16="http://schemas.microsoft.com/office/drawing/2014/main" id="{AA12AFD4-84D2-4D2D-A541-C471FCBC6679}"/>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Koneksi siap</a:t>
            </a:r>
          </a:p>
        </p:txBody>
      </p:sp>
      <p:sp>
        <p:nvSpPr>
          <p:cNvPr id="9" name="text-184">
            <a:extLst xmlns:a="http://schemas.openxmlformats.org/drawingml/2006/main">
              <a:ext uri="{FF2B5EF4-FFF2-40B4-BE49-F238E27FC236}">
                <a16:creationId xmlns:a16="http://schemas.microsoft.com/office/drawing/2014/main" id="{A007D764-E97C-4358-8F31-20B6B6DDA8C5}"/>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memeriksa sesi, mendaftarkan client pada hub, lalu mengirim event ready.</a:t>
            </a:r>
          </a:p>
        </p:txBody>
      </p:sp>
      <p:sp>
        <p:nvSpPr>
          <p:cNvPr id="10" name="text-185">
            <a:extLst xmlns:a="http://schemas.openxmlformats.org/drawingml/2006/main">
              <a:ext uri="{FF2B5EF4-FFF2-40B4-BE49-F238E27FC236}">
                <a16:creationId xmlns:a16="http://schemas.microsoft.com/office/drawing/2014/main" id="{8A2837AD-B2D7-434D-8E5F-2D3786B41FCB}"/>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186">
            <a:extLst xmlns:a="http://schemas.openxmlformats.org/drawingml/2006/main">
              <a:ext uri="{FF2B5EF4-FFF2-40B4-BE49-F238E27FC236}">
                <a16:creationId xmlns:a16="http://schemas.microsoft.com/office/drawing/2014/main" id="{C3FF29C7-53EE-4E71-AC77-752155E5B403}"/>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Heartbeat dan sesi</a:t>
            </a:r>
          </a:p>
        </p:txBody>
      </p:sp>
      <p:sp>
        <p:nvSpPr>
          <p:cNvPr id="12" name="text-187">
            <a:extLst xmlns:a="http://schemas.openxmlformats.org/drawingml/2006/main">
              <a:ext uri="{FF2B5EF4-FFF2-40B4-BE49-F238E27FC236}">
                <a16:creationId xmlns:a16="http://schemas.microsoft.com/office/drawing/2014/main" id="{6F745023-C42E-4B84-B4BC-B9EAF6AA9AED}"/>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Setiap 25 detik server memeriksa sesi dan menjalankan ping dengan timeout.</a:t>
            </a:r>
          </a:p>
        </p:txBody>
      </p:sp>
      <p:sp>
        <p:nvSpPr>
          <p:cNvPr id="13" name="text-188">
            <a:extLst xmlns:a="http://schemas.openxmlformats.org/drawingml/2006/main">
              <a:ext uri="{FF2B5EF4-FFF2-40B4-BE49-F238E27FC236}">
                <a16:creationId xmlns:a16="http://schemas.microsoft.com/office/drawing/2014/main" id="{295F4008-1725-4399-B08E-8929681F4E0B}"/>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189">
            <a:extLst xmlns:a="http://schemas.openxmlformats.org/drawingml/2006/main">
              <a:ext uri="{FF2B5EF4-FFF2-40B4-BE49-F238E27FC236}">
                <a16:creationId xmlns:a16="http://schemas.microsoft.com/office/drawing/2014/main" id="{1114C51F-9B93-4A79-B24F-ABF5B776838E}"/>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Pengiriman event</a:t>
            </a:r>
          </a:p>
        </p:txBody>
      </p:sp>
      <p:sp>
        <p:nvSpPr>
          <p:cNvPr id="15" name="text-190">
            <a:extLst xmlns:a="http://schemas.openxmlformats.org/drawingml/2006/main">
              <a:ext uri="{FF2B5EF4-FFF2-40B4-BE49-F238E27FC236}">
                <a16:creationId xmlns:a16="http://schemas.microsoft.com/office/drawing/2014/main" id="{B6338572-4D99-430E-9418-2661CDE7A634}"/>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Channel per client menampung event. Writer terpisah menulis frame dengan deadline.</a:t>
            </a:r>
          </a:p>
        </p:txBody>
      </p:sp>
    </p:spTree>
    <p:extLst>
      <p:ext uri="{BB962C8B-B14F-4D97-AF65-F5344CB8AC3E}">
        <p14:creationId xmlns:p14="http://schemas.microsoft.com/office/powerpoint/2010/main" val="333016498"/>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191">
            <a:extLst xmlns:a="http://schemas.openxmlformats.org/drawingml/2006/main">
              <a:ext uri="{FF2B5EF4-FFF2-40B4-BE49-F238E27FC236}">
                <a16:creationId xmlns:a16="http://schemas.microsoft.com/office/drawing/2014/main" id="{0BFB580B-3424-447D-9091-CDF51FCD193A}"/>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Event dan perubahan state layar</a:t>
            </a:r>
          </a:p>
        </p:txBody>
      </p:sp>
      <p:sp>
        <p:nvSpPr>
          <p:cNvPr id="2" name="text-192">
            <a:extLst xmlns:a="http://schemas.openxmlformats.org/drawingml/2006/main">
              <a:ext uri="{FF2B5EF4-FFF2-40B4-BE49-F238E27FC236}">
                <a16:creationId xmlns:a16="http://schemas.microsoft.com/office/drawing/2014/main" id="{97F9A607-4879-4814-BA31-6AC49D2EB9C1}"/>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Klien menyaring event sesuai pengguna atau conversation_id yang relevan.</a:t>
            </a:r>
          </a:p>
        </p:txBody>
      </p:sp>
      <p:sp>
        <p:nvSpPr>
          <p:cNvPr id="3" name="text-193">
            <a:extLst xmlns:a="http://schemas.openxmlformats.org/drawingml/2006/main">
              <a:ext uri="{FF2B5EF4-FFF2-40B4-BE49-F238E27FC236}">
                <a16:creationId xmlns:a16="http://schemas.microsoft.com/office/drawing/2014/main" id="{8898C3A8-AA9C-42E3-AA95-A2CF8CD8233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424AABD4-7E39-4BAB-9C46-00F832338F31}"/>
              </a:ext>
            </a:extLst>
          </p:cNvPr>
          <p:cNvGraphicFramePr/>
          <p:nvPr/>
        </p:nvGraphicFramePr>
        <p:xfrm>
          <a:off xmlns:a="http://schemas.openxmlformats.org/drawingml/2006/main" x="914400" y="2524125"/>
          <a:ext xmlns:a="http://schemas.openxmlformats.org/drawingml/2006/main" cx="13411200" cy="4686300"/>
        </p:xfrm>
        <a:graphic xmlns:a="http://schemas.openxmlformats.org/drawingml/2006/main">
          <a:graphicData uri="http://schemas.openxmlformats.org/drawingml/2006/table">
            <a:tbl>
              <a:tblPr firstRow="0" bandRow="0"/>
              <a:tblGrid>
                <a:gridCol w="3333750"/>
                <a:gridCol w="4762500"/>
                <a:gridCol w="5314950"/>
              </a:tblGrid>
              <a:tr h="781050">
                <a:tc>
                  <a:txBody>
                    <a:bodyPr wrap="square" lIns="152400" tIns="152400" rIns="152400" bIns="152400">
                      <a:noAutofit/>
                    </a:bodyPr>
                    <a:lstStyle/>
                    <a:p>
                      <a:pPr algn="l"/>
                      <a:r>
                        <a:rPr sz="1875" b="1">
                          <a:solidFill>
                            <a:srgbClr val="FFFFFF"/>
                          </a:solidFill>
                          <a:latin typeface="Arial"/>
                          <a:ea typeface="Arial"/>
                          <a:cs typeface="Arial"/>
                        </a:rPr>
                        <a:t>Event</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Isi penting</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Dampak pada antarmuka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81050">
                <a:tc>
                  <a:txBody>
                    <a:bodyPr wrap="square" lIns="152400" tIns="152400" rIns="152400" bIns="152400">
                      <a:noAutofit/>
                    </a:bodyPr>
                    <a:lstStyle/>
                    <a:p>
                      <a:pPr algn="l"/>
                      <a:r>
                        <a:rPr sz="1875" b="1">
                          <a:solidFill>
                            <a:srgbClr val="0F172A"/>
                          </a:solidFill>
                          <a:latin typeface="Arial"/>
                          <a:ea typeface="Arial"/>
                          <a:cs typeface="Arial"/>
                        </a:rPr>
                        <a:t>ready dan conversation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Koneksi siap atau perubahan chat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Sinkronisasi ulang dari REST</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message</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Objek message kanonis</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Upsert pesan dan perbarui daftar</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read</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user_id dan message_id</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Perbarui status baca lawan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reaction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message_id, user_id, emoji</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Ganti atau hapus reaksi pengguna</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presence dan typing</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User, online atau typing</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Tampilkan status sementara</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Tree>
    <p:extLst>
      <p:ext uri="{BB962C8B-B14F-4D97-AF65-F5344CB8AC3E}">
        <p14:creationId xmlns:p14="http://schemas.microsoft.com/office/powerpoint/2010/main" val="23006417"/>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194">
            <a:extLst xmlns:a="http://schemas.openxmlformats.org/drawingml/2006/main">
              <a:ext uri="{FF2B5EF4-FFF2-40B4-BE49-F238E27FC236}">
                <a16:creationId xmlns:a16="http://schemas.microsoft.com/office/drawing/2014/main" id="{0EDA953C-5A78-4691-B7B4-6A1E5A4BDD1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Reconnect dan rekonsiliasi data</a:t>
            </a:r>
          </a:p>
        </p:txBody>
      </p:sp>
      <p:sp>
        <p:nvSpPr>
          <p:cNvPr id="2" name="text-195">
            <a:extLst xmlns:a="http://schemas.openxmlformats.org/drawingml/2006/main">
              <a:ext uri="{FF2B5EF4-FFF2-40B4-BE49-F238E27FC236}">
                <a16:creationId xmlns:a16="http://schemas.microsoft.com/office/drawing/2014/main" id="{308DD1D8-D188-4D61-950B-E9A237A50E10}"/>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Flutter memulihkan koneksi lalu meminta data server agar event yang terlewat tidak menetap.</a:t>
            </a:r>
          </a:p>
        </p:txBody>
      </p:sp>
      <p:sp>
        <p:nvSpPr>
          <p:cNvPr id="3" name="text-196">
            <a:extLst xmlns:a="http://schemas.openxmlformats.org/drawingml/2006/main">
              <a:ext uri="{FF2B5EF4-FFF2-40B4-BE49-F238E27FC236}">
                <a16:creationId xmlns:a16="http://schemas.microsoft.com/office/drawing/2014/main" id="{D2E9AFEA-9182-4857-B192-27137CA3886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19</a:t>
            </a:r>
          </a:p>
        </p:txBody>
      </p:sp>
      <p:sp>
        <p:nvSpPr>
          <p:cNvPr id="4" name="text-197">
            <a:extLst xmlns:a="http://schemas.openxmlformats.org/drawingml/2006/main">
              <a:ext uri="{FF2B5EF4-FFF2-40B4-BE49-F238E27FC236}">
                <a16:creationId xmlns:a16="http://schemas.microsoft.com/office/drawing/2014/main" id="{BCBFABE8-26F5-498A-A409-0F45F4D65B06}"/>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198">
            <a:extLst xmlns:a="http://schemas.openxmlformats.org/drawingml/2006/main">
              <a:ext uri="{FF2B5EF4-FFF2-40B4-BE49-F238E27FC236}">
                <a16:creationId xmlns:a16="http://schemas.microsoft.com/office/drawing/2014/main" id="{7480AAF8-63C6-4966-9073-981EC46E365B}"/>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Jeda percobaan</a:t>
            </a:r>
          </a:p>
        </p:txBody>
      </p:sp>
      <p:sp>
        <p:nvSpPr>
          <p:cNvPr id="6" name="text-199">
            <a:extLst xmlns:a="http://schemas.openxmlformats.org/drawingml/2006/main">
              <a:ext uri="{FF2B5EF4-FFF2-40B4-BE49-F238E27FC236}">
                <a16:creationId xmlns:a16="http://schemas.microsoft.com/office/drawing/2014/main" id="{CCB2E5FA-0368-4926-A8BC-FA7F2FC30A51}"/>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Reconnect bertahap 1, 2, 4, 8, 16, lalu maksimal 30 detik.</a:t>
            </a:r>
          </a:p>
        </p:txBody>
      </p:sp>
      <p:sp>
        <p:nvSpPr>
          <p:cNvPr id="7" name="text-200">
            <a:extLst xmlns:a="http://schemas.openxmlformats.org/drawingml/2006/main">
              <a:ext uri="{FF2B5EF4-FFF2-40B4-BE49-F238E27FC236}">
                <a16:creationId xmlns:a16="http://schemas.microsoft.com/office/drawing/2014/main" id="{2200F8DD-0C53-4A58-9130-73107255616C}"/>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01">
            <a:extLst xmlns:a="http://schemas.openxmlformats.org/drawingml/2006/main">
              <a:ext uri="{FF2B5EF4-FFF2-40B4-BE49-F238E27FC236}">
                <a16:creationId xmlns:a16="http://schemas.microsoft.com/office/drawing/2014/main" id="{512CBBC5-0DFD-4192-8A96-BA1D5995C050}"/>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Pencegahan koneksi lama</a:t>
            </a:r>
          </a:p>
        </p:txBody>
      </p:sp>
      <p:sp>
        <p:nvSpPr>
          <p:cNvPr id="9" name="text-202">
            <a:extLst xmlns:a="http://schemas.openxmlformats.org/drawingml/2006/main">
              <a:ext uri="{FF2B5EF4-FFF2-40B4-BE49-F238E27FC236}">
                <a16:creationId xmlns:a16="http://schemas.microsoft.com/office/drawing/2014/main" id="{77384DF8-13C2-4B07-9A80-34BEB0516D23}"/>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Nomor generation mengabaikan callback dari percobaan yang sudah digantikan.</a:t>
            </a:r>
          </a:p>
        </p:txBody>
      </p:sp>
      <p:sp>
        <p:nvSpPr>
          <p:cNvPr id="10" name="text-203">
            <a:extLst xmlns:a="http://schemas.openxmlformats.org/drawingml/2006/main">
              <a:ext uri="{FF2B5EF4-FFF2-40B4-BE49-F238E27FC236}">
                <a16:creationId xmlns:a16="http://schemas.microsoft.com/office/drawing/2014/main" id="{782DFB42-2124-43C8-B7E7-0CD781D7D33C}"/>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04">
            <a:extLst xmlns:a="http://schemas.openxmlformats.org/drawingml/2006/main">
              <a:ext uri="{FF2B5EF4-FFF2-40B4-BE49-F238E27FC236}">
                <a16:creationId xmlns:a16="http://schemas.microsoft.com/office/drawing/2014/main" id="{7061B1E9-DB6B-464B-8750-01632AD81237}"/>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Pemulihan data</a:t>
            </a:r>
          </a:p>
        </p:txBody>
      </p:sp>
      <p:sp>
        <p:nvSpPr>
          <p:cNvPr id="12" name="text-205">
            <a:extLst xmlns:a="http://schemas.openxmlformats.org/drawingml/2006/main">
              <a:ext uri="{FF2B5EF4-FFF2-40B4-BE49-F238E27FC236}">
                <a16:creationId xmlns:a16="http://schemas.microsoft.com/office/drawing/2014/main" id="{0B9C2434-4C0B-45ED-976A-FF57B73725B2}"/>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Event ready memicu muat ulang. Pesan baru selama request tetap digabung berdasarkan ID.</a:t>
            </a:r>
          </a:p>
        </p:txBody>
      </p:sp>
      <p:sp>
        <p:nvSpPr>
          <p:cNvPr id="13" name="text-206">
            <a:extLst xmlns:a="http://schemas.openxmlformats.org/drawingml/2006/main">
              <a:ext uri="{FF2B5EF4-FFF2-40B4-BE49-F238E27FC236}">
                <a16:creationId xmlns:a16="http://schemas.microsoft.com/office/drawing/2014/main" id="{55B38881-001A-4342-9E5F-60C2C80B80E4}"/>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207">
            <a:extLst xmlns:a="http://schemas.openxmlformats.org/drawingml/2006/main">
              <a:ext uri="{FF2B5EF4-FFF2-40B4-BE49-F238E27FC236}">
                <a16:creationId xmlns:a16="http://schemas.microsoft.com/office/drawing/2014/main" id="{915A0659-1487-49ED-9A91-65BD6E548EB9}"/>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Keterbatasan distribusi</a:t>
            </a:r>
          </a:p>
        </p:txBody>
      </p:sp>
      <p:sp>
        <p:nvSpPr>
          <p:cNvPr id="15" name="text-208">
            <a:extLst xmlns:a="http://schemas.openxmlformats.org/drawingml/2006/main">
              <a:ext uri="{FF2B5EF4-FFF2-40B4-BE49-F238E27FC236}">
                <a16:creationId xmlns:a16="http://schemas.microsoft.com/office/drawing/2014/main" id="{395E2A89-B201-4A8C-A08D-8F3D68F1BF9D}"/>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Hub berada pada satu proses. Multi-instance membutuhkan mekanisme penyebaran event.</a:t>
            </a:r>
          </a:p>
        </p:txBody>
      </p:sp>
    </p:spTree>
    <p:extLst>
      <p:ext uri="{BB962C8B-B14F-4D97-AF65-F5344CB8AC3E}">
        <p14:creationId xmlns:p14="http://schemas.microsoft.com/office/powerpoint/2010/main" val="2090322139"/>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209">
            <a:extLst xmlns:a="http://schemas.openxmlformats.org/drawingml/2006/main">
              <a:ext uri="{FF2B5EF4-FFF2-40B4-BE49-F238E27FC236}">
                <a16:creationId xmlns:a16="http://schemas.microsoft.com/office/drawing/2014/main" id="{5C9FE2C6-9DFA-4DA0-87E1-03BAE95A248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Status online dan indikator mengetik</a:t>
            </a:r>
          </a:p>
        </p:txBody>
      </p:sp>
      <p:sp>
        <p:nvSpPr>
          <p:cNvPr id="2" name="text-210">
            <a:extLst xmlns:a="http://schemas.openxmlformats.org/drawingml/2006/main">
              <a:ext uri="{FF2B5EF4-FFF2-40B4-BE49-F238E27FC236}">
                <a16:creationId xmlns:a16="http://schemas.microsoft.com/office/drawing/2014/main" id="{782AA036-AFAF-4EA0-95CA-E75F305FBE37}"/>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Status ini menggambarkan koneksi aktif dan aktivitas sementara.</a:t>
            </a:r>
          </a:p>
        </p:txBody>
      </p:sp>
      <p:sp>
        <p:nvSpPr>
          <p:cNvPr id="3" name="text-211">
            <a:extLst xmlns:a="http://schemas.openxmlformats.org/drawingml/2006/main">
              <a:ext uri="{FF2B5EF4-FFF2-40B4-BE49-F238E27FC236}">
                <a16:creationId xmlns:a16="http://schemas.microsoft.com/office/drawing/2014/main" id="{5C87132D-25BF-4AF8-8E54-976C6752B29E}"/>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20</a:t>
            </a:r>
          </a:p>
        </p:txBody>
      </p:sp>
      <p:sp>
        <p:nvSpPr>
          <p:cNvPr id="4" name="text-212">
            <a:extLst xmlns:a="http://schemas.openxmlformats.org/drawingml/2006/main">
              <a:ext uri="{FF2B5EF4-FFF2-40B4-BE49-F238E27FC236}">
                <a16:creationId xmlns:a16="http://schemas.microsoft.com/office/drawing/2014/main" id="{DEFD5AD0-C28D-420C-AEFE-399712ABDA88}"/>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13">
            <a:extLst xmlns:a="http://schemas.openxmlformats.org/drawingml/2006/main">
              <a:ext uri="{FF2B5EF4-FFF2-40B4-BE49-F238E27FC236}">
                <a16:creationId xmlns:a16="http://schemas.microsoft.com/office/drawing/2014/main" id="{24112505-1BF0-4491-8080-5BB369E8E970}"/>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Online dari hub</a:t>
            </a:r>
          </a:p>
        </p:txBody>
      </p:sp>
      <p:sp>
        <p:nvSpPr>
          <p:cNvPr id="6" name="text-214">
            <a:extLst xmlns:a="http://schemas.openxmlformats.org/drawingml/2006/main">
              <a:ext uri="{FF2B5EF4-FFF2-40B4-BE49-F238E27FC236}">
                <a16:creationId xmlns:a16="http://schemas.microsoft.com/office/drawing/2014/main" id="{6AECE313-E210-4C06-B606-9736ACE82370}"/>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menilai apakah user memiliki koneksi WebSocket yang aktif.</a:t>
            </a:r>
          </a:p>
        </p:txBody>
      </p:sp>
      <p:sp>
        <p:nvSpPr>
          <p:cNvPr id="7" name="text-215">
            <a:extLst xmlns:a="http://schemas.openxmlformats.org/drawingml/2006/main">
              <a:ext uri="{FF2B5EF4-FFF2-40B4-BE49-F238E27FC236}">
                <a16:creationId xmlns:a16="http://schemas.microsoft.com/office/drawing/2014/main" id="{610D4D09-5698-48D4-9E42-7B63CDF05476}"/>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16">
            <a:extLst xmlns:a="http://schemas.openxmlformats.org/drawingml/2006/main">
              <a:ext uri="{FF2B5EF4-FFF2-40B4-BE49-F238E27FC236}">
                <a16:creationId xmlns:a16="http://schemas.microsoft.com/office/drawing/2014/main" id="{78D78174-2BE5-41E8-9AA7-55FDE4665AF3}"/>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Typing dari klien</a:t>
            </a:r>
          </a:p>
        </p:txBody>
      </p:sp>
      <p:sp>
        <p:nvSpPr>
          <p:cNvPr id="9" name="text-217">
            <a:extLst xmlns:a="http://schemas.openxmlformats.org/drawingml/2006/main">
              <a:ext uri="{FF2B5EF4-FFF2-40B4-BE49-F238E27FC236}">
                <a16:creationId xmlns:a16="http://schemas.microsoft.com/office/drawing/2014/main" id="{88890AEF-D50A-41C1-A1BA-4D0AC29B8860}"/>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Frame typing memuat conversation_id dan nilai boolean. Server memeriksa keanggotaan.</a:t>
            </a:r>
          </a:p>
        </p:txBody>
      </p:sp>
      <p:sp>
        <p:nvSpPr>
          <p:cNvPr id="10" name="text-218">
            <a:extLst xmlns:a="http://schemas.openxmlformats.org/drawingml/2006/main">
              <a:ext uri="{FF2B5EF4-FFF2-40B4-BE49-F238E27FC236}">
                <a16:creationId xmlns:a16="http://schemas.microsoft.com/office/drawing/2014/main" id="{97B64A83-636E-4EA6-8823-D3B2339F6A15}"/>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19">
            <a:extLst xmlns:a="http://schemas.openxmlformats.org/drawingml/2006/main">
              <a:ext uri="{FF2B5EF4-FFF2-40B4-BE49-F238E27FC236}">
                <a16:creationId xmlns:a16="http://schemas.microsoft.com/office/drawing/2014/main" id="{299ED65C-F4EB-44C0-978D-3412EE2BF0B2}"/>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Pembatasan event</a:t>
            </a:r>
          </a:p>
        </p:txBody>
      </p:sp>
      <p:sp>
        <p:nvSpPr>
          <p:cNvPr id="12" name="text-220">
            <a:extLst xmlns:a="http://schemas.openxmlformats.org/drawingml/2006/main">
              <a:ext uri="{FF2B5EF4-FFF2-40B4-BE49-F238E27FC236}">
                <a16:creationId xmlns:a16="http://schemas.microsoft.com/office/drawing/2014/main" id="{49539016-D228-4235-89C8-C20CC040C2A0}"/>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membatasi typing=true sekitar satu kali per detik per koneksi.</a:t>
            </a:r>
          </a:p>
        </p:txBody>
      </p:sp>
      <p:sp>
        <p:nvSpPr>
          <p:cNvPr id="13" name="text-221">
            <a:extLst xmlns:a="http://schemas.openxmlformats.org/drawingml/2006/main">
              <a:ext uri="{FF2B5EF4-FFF2-40B4-BE49-F238E27FC236}">
                <a16:creationId xmlns:a16="http://schemas.microsoft.com/office/drawing/2014/main" id="{F6CB980B-593F-43CE-BEF5-B92F853A746C}"/>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222">
            <a:extLst xmlns:a="http://schemas.openxmlformats.org/drawingml/2006/main">
              <a:ext uri="{FF2B5EF4-FFF2-40B4-BE49-F238E27FC236}">
                <a16:creationId xmlns:a16="http://schemas.microsoft.com/office/drawing/2014/main" id="{5395F655-3DE9-47E0-8FCA-70AF5BE168E7}"/>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Makna pada produk</a:t>
            </a:r>
          </a:p>
        </p:txBody>
      </p:sp>
      <p:sp>
        <p:nvSpPr>
          <p:cNvPr id="15" name="text-223">
            <a:extLst xmlns:a="http://schemas.openxmlformats.org/drawingml/2006/main">
              <a:ext uri="{FF2B5EF4-FFF2-40B4-BE49-F238E27FC236}">
                <a16:creationId xmlns:a16="http://schemas.microsoft.com/office/drawing/2014/main" id="{2191D0DC-1E64-4982-8A06-84C67237D1B3}"/>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Online belum membuktikan layar chat sedang dibuka atau pesan telah dibaca.</a:t>
            </a:r>
          </a:p>
        </p:txBody>
      </p:sp>
    </p:spTree>
    <p:extLst>
      <p:ext uri="{BB962C8B-B14F-4D97-AF65-F5344CB8AC3E}">
        <p14:creationId xmlns:p14="http://schemas.microsoft.com/office/powerpoint/2010/main" val="531989700"/>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224">
            <a:extLst xmlns:a="http://schemas.openxmlformats.org/drawingml/2006/main">
              <a:ext uri="{FF2B5EF4-FFF2-40B4-BE49-F238E27FC236}">
                <a16:creationId xmlns:a16="http://schemas.microsoft.com/office/drawing/2014/main" id="{0CA39E9B-C804-46F4-B82A-28D16653CDFC}"/>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Read receipt dan jumlah belum dibaca</a:t>
            </a:r>
          </a:p>
        </p:txBody>
      </p:sp>
      <p:sp>
        <p:nvSpPr>
          <p:cNvPr id="2" name="text-225">
            <a:extLst xmlns:a="http://schemas.openxmlformats.org/drawingml/2006/main">
              <a:ext uri="{FF2B5EF4-FFF2-40B4-BE49-F238E27FC236}">
                <a16:creationId xmlns:a16="http://schemas.microsoft.com/office/drawing/2014/main" id="{9FD02BD4-0905-4876-8B07-DD67EB1A68E1}"/>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Posisi baca disimpan per anggota pada members.last_read_at.</a:t>
            </a:r>
          </a:p>
        </p:txBody>
      </p:sp>
      <p:sp>
        <p:nvSpPr>
          <p:cNvPr id="3" name="text-226">
            <a:extLst xmlns:a="http://schemas.openxmlformats.org/drawingml/2006/main">
              <a:ext uri="{FF2B5EF4-FFF2-40B4-BE49-F238E27FC236}">
                <a16:creationId xmlns:a16="http://schemas.microsoft.com/office/drawing/2014/main" id="{EFE5A00C-11F6-46C2-A7D3-5765C9212DE7}"/>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21</a:t>
            </a:r>
          </a:p>
        </p:txBody>
      </p:sp>
      <p:sp>
        <p:nvSpPr>
          <p:cNvPr id="4" name="text-227">
            <a:extLst xmlns:a="http://schemas.openxmlformats.org/drawingml/2006/main">
              <a:ext uri="{FF2B5EF4-FFF2-40B4-BE49-F238E27FC236}">
                <a16:creationId xmlns:a16="http://schemas.microsoft.com/office/drawing/2014/main" id="{21AFD271-E3AA-4B92-AE6D-84A209BDBA53}"/>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28">
            <a:extLst xmlns:a="http://schemas.openxmlformats.org/drawingml/2006/main">
              <a:ext uri="{FF2B5EF4-FFF2-40B4-BE49-F238E27FC236}">
                <a16:creationId xmlns:a16="http://schemas.microsoft.com/office/drawing/2014/main" id="{FE4DCA53-5DBE-4C80-93DB-6F22212AC662}"/>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Syarat Flutter menandai baca</a:t>
            </a:r>
          </a:p>
        </p:txBody>
      </p:sp>
      <p:sp>
        <p:nvSpPr>
          <p:cNvPr id="6" name="text-229">
            <a:extLst xmlns:a="http://schemas.openxmlformats.org/drawingml/2006/main">
              <a:ext uri="{FF2B5EF4-FFF2-40B4-BE49-F238E27FC236}">
                <a16:creationId xmlns:a16="http://schemas.microsoft.com/office/drawing/2014/main" id="{CAEF9A03-2E2E-4A1B-893A-335722F673E5}"/>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Aplikasi foreground, route aktif, daftar berisi pesan, dan scroll dekat pesan terbaru.</a:t>
            </a:r>
          </a:p>
        </p:txBody>
      </p:sp>
      <p:sp>
        <p:nvSpPr>
          <p:cNvPr id="7" name="text-230">
            <a:extLst xmlns:a="http://schemas.openxmlformats.org/drawingml/2006/main">
              <a:ext uri="{FF2B5EF4-FFF2-40B4-BE49-F238E27FC236}">
                <a16:creationId xmlns:a16="http://schemas.microsoft.com/office/drawing/2014/main" id="{3107A95D-27B7-49ED-97EC-80CCC9121C3A}"/>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31">
            <a:extLst xmlns:a="http://schemas.openxmlformats.org/drawingml/2006/main">
              <a:ext uri="{FF2B5EF4-FFF2-40B4-BE49-F238E27FC236}">
                <a16:creationId xmlns:a16="http://schemas.microsoft.com/office/drawing/2014/main" id="{54C2BECD-AB3B-4D8F-ADBA-8DEFA4A60A04}"/>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Request posisi baca</a:t>
            </a:r>
          </a:p>
        </p:txBody>
      </p:sp>
      <p:sp>
        <p:nvSpPr>
          <p:cNvPr id="9" name="text-232">
            <a:extLst xmlns:a="http://schemas.openxmlformats.org/drawingml/2006/main">
              <a:ext uri="{FF2B5EF4-FFF2-40B4-BE49-F238E27FC236}">
                <a16:creationId xmlns:a16="http://schemas.microsoft.com/office/drawing/2014/main" id="{5B533E88-69C9-409F-B9C3-6029AD2CFCE2}"/>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POST /conversations/{id}/read membawa message_id terakhir yang terlihat pada alur ini.</a:t>
            </a:r>
          </a:p>
        </p:txBody>
      </p:sp>
      <p:sp>
        <p:nvSpPr>
          <p:cNvPr id="10" name="text-233">
            <a:extLst xmlns:a="http://schemas.openxmlformats.org/drawingml/2006/main">
              <a:ext uri="{FF2B5EF4-FFF2-40B4-BE49-F238E27FC236}">
                <a16:creationId xmlns:a16="http://schemas.microsoft.com/office/drawing/2014/main" id="{43560F78-028C-47D7-8311-E51DDB5C7764}"/>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34">
            <a:extLst xmlns:a="http://schemas.openxmlformats.org/drawingml/2006/main">
              <a:ext uri="{FF2B5EF4-FFF2-40B4-BE49-F238E27FC236}">
                <a16:creationId xmlns:a16="http://schemas.microsoft.com/office/drawing/2014/main" id="{D6B5005B-1922-43DD-B8FF-E2E913C13816}"/>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monotonic</a:t>
            </a:r>
          </a:p>
        </p:txBody>
      </p:sp>
      <p:sp>
        <p:nvSpPr>
          <p:cNvPr id="12" name="text-235">
            <a:extLst xmlns:a="http://schemas.openxmlformats.org/drawingml/2006/main">
              <a:ext uri="{FF2B5EF4-FFF2-40B4-BE49-F238E27FC236}">
                <a16:creationId xmlns:a16="http://schemas.microsoft.com/office/drawing/2014/main" id="{74B7DEC4-62F6-41CC-A63C-9E53DEAD936E}"/>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SQL GREATEST mempertahankan timestamp baca agar request lama tidak memundurkannya.</a:t>
            </a:r>
          </a:p>
        </p:txBody>
      </p:sp>
      <p:sp>
        <p:nvSpPr>
          <p:cNvPr id="13" name="text-236">
            <a:extLst xmlns:a="http://schemas.openxmlformats.org/drawingml/2006/main">
              <a:ext uri="{FF2B5EF4-FFF2-40B4-BE49-F238E27FC236}">
                <a16:creationId xmlns:a16="http://schemas.microsoft.com/office/drawing/2014/main" id="{65BEB34B-79AB-4772-ACB4-66BB359F9589}"/>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237">
            <a:extLst xmlns:a="http://schemas.openxmlformats.org/drawingml/2006/main">
              <a:ext uri="{FF2B5EF4-FFF2-40B4-BE49-F238E27FC236}">
                <a16:creationId xmlns:a16="http://schemas.microsoft.com/office/drawing/2014/main" id="{33C3D633-AD91-47C5-B7F0-701C2BCC5E77}"/>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Penyebaran hasil</a:t>
            </a:r>
          </a:p>
        </p:txBody>
      </p:sp>
      <p:sp>
        <p:nvSpPr>
          <p:cNvPr id="15" name="text-238">
            <a:extLst xmlns:a="http://schemas.openxmlformats.org/drawingml/2006/main">
              <a:ext uri="{FF2B5EF4-FFF2-40B4-BE49-F238E27FC236}">
                <a16:creationId xmlns:a16="http://schemas.microsoft.com/office/drawing/2014/main" id="{5019B4FF-D8A8-4D82-9F41-998121A07D71}"/>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Event read mengubah tanda baca pada lawan dan ringkasan unread mengikuti data anggota.</a:t>
            </a:r>
          </a:p>
        </p:txBody>
      </p:sp>
    </p:spTree>
    <p:extLst>
      <p:ext uri="{BB962C8B-B14F-4D97-AF65-F5344CB8AC3E}">
        <p14:creationId xmlns:p14="http://schemas.microsoft.com/office/powerpoint/2010/main" val="1312215129"/>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39">
            <a:extLst xmlns:a="http://schemas.openxmlformats.org/drawingml/2006/main">
              <a:ext uri="{FF2B5EF4-FFF2-40B4-BE49-F238E27FC236}">
                <a16:creationId xmlns:a16="http://schemas.microsoft.com/office/drawing/2014/main" id="{BA5650DB-FF4C-4CD1-B3D4-27D637B22362}"/>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Balasan sebagai relasi antar pesan</a:t>
            </a:r>
          </a:p>
        </p:txBody>
      </p:sp>
      <p:sp>
        <p:nvSpPr>
          <p:cNvPr id="2" name="text-240">
            <a:extLst xmlns:a="http://schemas.openxmlformats.org/drawingml/2006/main">
              <a:ext uri="{FF2B5EF4-FFF2-40B4-BE49-F238E27FC236}">
                <a16:creationId xmlns:a16="http://schemas.microsoft.com/office/drawing/2014/main" id="{09EDD2CA-481D-4317-95CC-692BF73416D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22</a:t>
            </a:r>
          </a:p>
        </p:txBody>
      </p:sp>
      <p:sp>
        <p:nvSpPr>
          <p:cNvPr id="3" name="text-241">
            <a:extLst xmlns:a="http://schemas.openxmlformats.org/drawingml/2006/main">
              <a:ext uri="{FF2B5EF4-FFF2-40B4-BE49-F238E27FC236}">
                <a16:creationId xmlns:a16="http://schemas.microsoft.com/office/drawing/2014/main" id="{3DD6BA75-104B-4716-B9C8-297FDFED169D}"/>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reply_to_id menyimpan referensi pesan asal pada pesan yang baru.</a:t>
            </a:r>
          </a:p>
        </p:txBody>
      </p:sp>
      <p:sp>
        <p:nvSpPr>
          <p:cNvPr id="4" name="text-242">
            <a:extLst xmlns:a="http://schemas.openxmlformats.org/drawingml/2006/main">
              <a:ext uri="{FF2B5EF4-FFF2-40B4-BE49-F238E27FC236}">
                <a16:creationId xmlns:a16="http://schemas.microsoft.com/office/drawing/2014/main" id="{7011FE3D-6DE3-474D-A2E8-B0B15C560A9D}"/>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43">
            <a:extLst xmlns:a="http://schemas.openxmlformats.org/drawingml/2006/main">
              <a:ext uri="{FF2B5EF4-FFF2-40B4-BE49-F238E27FC236}">
                <a16:creationId xmlns:a16="http://schemas.microsoft.com/office/drawing/2014/main" id="{1B970012-1E44-4326-B1EE-DBB29F22D4D8}"/>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Interaksi Flutter</a:t>
            </a:r>
          </a:p>
        </p:txBody>
      </p:sp>
      <p:sp>
        <p:nvSpPr>
          <p:cNvPr id="6" name="text-244">
            <a:extLst xmlns:a="http://schemas.openxmlformats.org/drawingml/2006/main">
              <a:ext uri="{FF2B5EF4-FFF2-40B4-BE49-F238E27FC236}">
                <a16:creationId xmlns:a16="http://schemas.microsoft.com/office/drawing/2014/main" id="{673F5D61-343E-4ADA-8624-9F2EA3B47895}"/>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Pemilihan pesan mengisi _reply dan menampilkan kutipan pada composer.</a:t>
            </a:r>
          </a:p>
        </p:txBody>
      </p:sp>
      <p:sp>
        <p:nvSpPr>
          <p:cNvPr id="7" name="text-245">
            <a:extLst xmlns:a="http://schemas.openxmlformats.org/drawingml/2006/main">
              <a:ext uri="{FF2B5EF4-FFF2-40B4-BE49-F238E27FC236}">
                <a16:creationId xmlns:a16="http://schemas.microsoft.com/office/drawing/2014/main" id="{ABAA8E64-060E-4352-ABDE-B52D41D7F5F6}"/>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46">
            <a:extLst xmlns:a="http://schemas.openxmlformats.org/drawingml/2006/main">
              <a:ext uri="{FF2B5EF4-FFF2-40B4-BE49-F238E27FC236}">
                <a16:creationId xmlns:a16="http://schemas.microsoft.com/office/drawing/2014/main" id="{C2221D1E-DB4B-46BA-A298-5D090845E253}"/>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Pengiriman dan validasi</a:t>
            </a:r>
          </a:p>
        </p:txBody>
      </p:sp>
      <p:sp>
        <p:nvSpPr>
          <p:cNvPr id="9" name="text-247">
            <a:extLst xmlns:a="http://schemas.openxmlformats.org/drawingml/2006/main">
              <a:ext uri="{FF2B5EF4-FFF2-40B4-BE49-F238E27FC236}">
                <a16:creationId xmlns:a16="http://schemas.microsoft.com/office/drawing/2014/main" id="{9F19662C-2DF6-4491-83E6-07B996A0C579}"/>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Payload membawa reply_to_id. Server memastikan ID positif dan ada pada chat yang sama.</a:t>
            </a:r>
          </a:p>
        </p:txBody>
      </p:sp>
      <p:sp>
        <p:nvSpPr>
          <p:cNvPr id="10" name="text-248">
            <a:extLst xmlns:a="http://schemas.openxmlformats.org/drawingml/2006/main">
              <a:ext uri="{FF2B5EF4-FFF2-40B4-BE49-F238E27FC236}">
                <a16:creationId xmlns:a16="http://schemas.microsoft.com/office/drawing/2014/main" id="{8AA94148-631D-4CD3-B8D0-E8D43CCD1A8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49">
            <a:extLst xmlns:a="http://schemas.openxmlformats.org/drawingml/2006/main">
              <a:ext uri="{FF2B5EF4-FFF2-40B4-BE49-F238E27FC236}">
                <a16:creationId xmlns:a16="http://schemas.microsoft.com/office/drawing/2014/main" id="{94C20E2D-54B8-46F1-A5CD-68AC34C0732D}"/>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Pembentukan tampilan</a:t>
            </a:r>
          </a:p>
        </p:txBody>
      </p:sp>
      <p:sp>
        <p:nvSpPr>
          <p:cNvPr id="12" name="text-250">
            <a:extLst xmlns:a="http://schemas.openxmlformats.org/drawingml/2006/main">
              <a:ext uri="{FF2B5EF4-FFF2-40B4-BE49-F238E27FC236}">
                <a16:creationId xmlns:a16="http://schemas.microsoft.com/office/drawing/2014/main" id="{E2F60FAA-0143-4932-A927-23668FA44838}"/>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Representasi message menyertakan kutipan. Setelah sukses, composer membersihkan pilihan balasan.</a:t>
            </a:r>
          </a:p>
        </p:txBody>
      </p:sp>
      <p:pic>
        <p:nvPicPr>
          <p:cNvPr id="13" name="">
            <a:extLst xmlns:a="http://schemas.openxmlformats.org/drawingml/2006/main">
              <a:ext uri="{FF2B5EF4-FFF2-40B4-BE49-F238E27FC236}">
                <a16:creationId xmlns:a16="http://schemas.microsoft.com/office/drawing/2014/main" id="{FF50C041-B646-41AC-8D6C-1616FCFFFDD1}"/>
              </a:ext>
            </a:extLst>
          </p:cNvPr>
          <p:cNvPicPr>
            <a:picLocks xmlns:a="http://schemas.openxmlformats.org/drawingml/2006/main" noChangeAspect="1"/>
          </p:cNvPicPr>
          <p:nvPr/>
        </p:nvPicPr>
        <p:blipFill>
          <a:blip xmlns:r="http://schemas.openxmlformats.org/officeDocument/2006/relationships" xmlns:a="http://schemas.openxmlformats.org/drawingml/2006/main" r:embed="Rfcd547b3fd5f4a5a"/>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487966360"/>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52">
            <a:extLst xmlns:a="http://schemas.openxmlformats.org/drawingml/2006/main">
              <a:ext uri="{FF2B5EF4-FFF2-40B4-BE49-F238E27FC236}">
                <a16:creationId xmlns:a16="http://schemas.microsoft.com/office/drawing/2014/main" id="{AB391A1A-2A80-4B1A-AD89-C9D5AB2E1430}"/>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Reaksi emoji dan operasi upsert</a:t>
            </a:r>
          </a:p>
        </p:txBody>
      </p:sp>
      <p:sp>
        <p:nvSpPr>
          <p:cNvPr id="2" name="text-253">
            <a:extLst xmlns:a="http://schemas.openxmlformats.org/drawingml/2006/main">
              <a:ext uri="{FF2B5EF4-FFF2-40B4-BE49-F238E27FC236}">
                <a16:creationId xmlns:a16="http://schemas.microsoft.com/office/drawing/2014/main" id="{F42B38D8-149C-4C30-80D4-AEBBDB192A8F}"/>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23</a:t>
            </a:r>
          </a:p>
        </p:txBody>
      </p:sp>
      <p:sp>
        <p:nvSpPr>
          <p:cNvPr id="3" name="text-254">
            <a:extLst xmlns:a="http://schemas.openxmlformats.org/drawingml/2006/main">
              <a:ext uri="{FF2B5EF4-FFF2-40B4-BE49-F238E27FC236}">
                <a16:creationId xmlns:a16="http://schemas.microsoft.com/office/drawing/2014/main" id="{D60B9FDB-0B6E-4D12-83A4-C3B0B3894DF2}"/>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Satu user memiliki paling banyak satu reaksi pada satu pesan.</a:t>
            </a:r>
          </a:p>
        </p:txBody>
      </p:sp>
      <p:sp>
        <p:nvSpPr>
          <p:cNvPr id="4" name="text-255">
            <a:extLst xmlns:a="http://schemas.openxmlformats.org/drawingml/2006/main">
              <a:ext uri="{FF2B5EF4-FFF2-40B4-BE49-F238E27FC236}">
                <a16:creationId xmlns:a16="http://schemas.microsoft.com/office/drawing/2014/main" id="{B065F16B-417B-4F4C-8B0F-E4870058EA80}"/>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56">
            <a:extLst xmlns:a="http://schemas.openxmlformats.org/drawingml/2006/main">
              <a:ext uri="{FF2B5EF4-FFF2-40B4-BE49-F238E27FC236}">
                <a16:creationId xmlns:a16="http://schemas.microsoft.com/office/drawing/2014/main" id="{BCCCC834-80B9-4592-AED8-543EFE21B2B0}"/>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Endpoint perubahan</a:t>
            </a:r>
          </a:p>
        </p:txBody>
      </p:sp>
      <p:sp>
        <p:nvSpPr>
          <p:cNvPr id="6" name="text-257">
            <a:extLst xmlns:a="http://schemas.openxmlformats.org/drawingml/2006/main">
              <a:ext uri="{FF2B5EF4-FFF2-40B4-BE49-F238E27FC236}">
                <a16:creationId xmlns:a16="http://schemas.microsoft.com/office/drawing/2014/main" id="{E2DEDAAC-DF49-4140-8645-7ACA6263700F}"/>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PUT /messages/{id}/reaction menerima emoji yang didukung atau string kosong.</a:t>
            </a:r>
          </a:p>
        </p:txBody>
      </p:sp>
      <p:sp>
        <p:nvSpPr>
          <p:cNvPr id="7" name="text-258">
            <a:extLst xmlns:a="http://schemas.openxmlformats.org/drawingml/2006/main">
              <a:ext uri="{FF2B5EF4-FFF2-40B4-BE49-F238E27FC236}">
                <a16:creationId xmlns:a16="http://schemas.microsoft.com/office/drawing/2014/main" id="{9F1BEE25-5269-476B-B7C5-C32485EC614D}"/>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59">
            <a:extLst xmlns:a="http://schemas.openxmlformats.org/drawingml/2006/main">
              <a:ext uri="{FF2B5EF4-FFF2-40B4-BE49-F238E27FC236}">
                <a16:creationId xmlns:a16="http://schemas.microsoft.com/office/drawing/2014/main" id="{06487460-4C4F-4112-AB6E-7B8EF4C8C752}"/>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Constraint reaksi</a:t>
            </a:r>
          </a:p>
        </p:txBody>
      </p:sp>
      <p:sp>
        <p:nvSpPr>
          <p:cNvPr id="9" name="text-260">
            <a:extLst xmlns:a="http://schemas.openxmlformats.org/drawingml/2006/main">
              <a:ext uri="{FF2B5EF4-FFF2-40B4-BE49-F238E27FC236}">
                <a16:creationId xmlns:a16="http://schemas.microsoft.com/office/drawing/2014/main" id="{9799B389-433F-40A1-8B08-B288B0115CA8}"/>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PRIMARY KEY(message_id, user_id) memungkinkan insert atau mengganti pilihan yang sama.</a:t>
            </a:r>
          </a:p>
        </p:txBody>
      </p:sp>
      <p:sp>
        <p:nvSpPr>
          <p:cNvPr id="10" name="text-261">
            <a:extLst xmlns:a="http://schemas.openxmlformats.org/drawingml/2006/main">
              <a:ext uri="{FF2B5EF4-FFF2-40B4-BE49-F238E27FC236}">
                <a16:creationId xmlns:a16="http://schemas.microsoft.com/office/drawing/2014/main" id="{94181A68-142B-4EBA-B673-48854F563533}"/>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62">
            <a:extLst xmlns:a="http://schemas.openxmlformats.org/drawingml/2006/main">
              <a:ext uri="{FF2B5EF4-FFF2-40B4-BE49-F238E27FC236}">
                <a16:creationId xmlns:a16="http://schemas.microsoft.com/office/drawing/2014/main" id="{176F8871-1DC8-4158-954F-8FEED4436C5A}"/>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Pembaruan langsung</a:t>
            </a:r>
          </a:p>
        </p:txBody>
      </p:sp>
      <p:sp>
        <p:nvSpPr>
          <p:cNvPr id="12" name="text-263">
            <a:extLst xmlns:a="http://schemas.openxmlformats.org/drawingml/2006/main">
              <a:ext uri="{FF2B5EF4-FFF2-40B4-BE49-F238E27FC236}">
                <a16:creationId xmlns:a16="http://schemas.microsoft.com/office/drawing/2014/main" id="{29A4634B-59CF-483A-BA83-2A1D71D2BD6D}"/>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Server emit reaction. Flutter menghapus pilihan user lama lalu menambah pilihan yang baru.</a:t>
            </a:r>
          </a:p>
        </p:txBody>
      </p:sp>
      <p:pic>
        <p:nvPicPr>
          <p:cNvPr id="13" name="">
            <a:extLst xmlns:a="http://schemas.openxmlformats.org/drawingml/2006/main">
              <a:ext uri="{FF2B5EF4-FFF2-40B4-BE49-F238E27FC236}">
                <a16:creationId xmlns:a16="http://schemas.microsoft.com/office/drawing/2014/main" id="{562F803B-94FF-499A-96AF-BCCE140AB359}"/>
              </a:ext>
            </a:extLst>
          </p:cNvPr>
          <p:cNvPicPr>
            <a:picLocks xmlns:a="http://schemas.openxmlformats.org/drawingml/2006/main" noChangeAspect="1"/>
          </p:cNvPicPr>
          <p:nvPr/>
        </p:nvPicPr>
        <p:blipFill>
          <a:blip xmlns:r="http://schemas.openxmlformats.org/officeDocument/2006/relationships" xmlns:a="http://schemas.openxmlformats.org/drawingml/2006/main" r:embed="Ra717a42480b440a7"/>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729228784"/>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65">
            <a:extLst xmlns:a="http://schemas.openxmlformats.org/drawingml/2006/main">
              <a:ext uri="{FF2B5EF4-FFF2-40B4-BE49-F238E27FC236}">
                <a16:creationId xmlns:a16="http://schemas.microsoft.com/office/drawing/2014/main" id="{CBD2E8B2-5910-43E4-92CA-D362E80BCD81}"/>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Flow unggah dan kirim lampiran</a:t>
            </a:r>
          </a:p>
        </p:txBody>
      </p:sp>
      <p:sp>
        <p:nvSpPr>
          <p:cNvPr id="2" name="text-266">
            <a:extLst xmlns:a="http://schemas.openxmlformats.org/drawingml/2006/main">
              <a:ext uri="{FF2B5EF4-FFF2-40B4-BE49-F238E27FC236}">
                <a16:creationId xmlns:a16="http://schemas.microsoft.com/office/drawing/2014/main" id="{7C960F84-804D-48C4-81D0-8DBCDF2E33D8}"/>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24</a:t>
            </a:r>
          </a:p>
        </p:txBody>
      </p:sp>
      <p:sp>
        <p:nvSpPr>
          <p:cNvPr id="3" name="text-267">
            <a:extLst xmlns:a="http://schemas.openxmlformats.org/drawingml/2006/main">
              <a:ext uri="{FF2B5EF4-FFF2-40B4-BE49-F238E27FC236}">
                <a16:creationId xmlns:a16="http://schemas.microsoft.com/office/drawing/2014/main" id="{CBA155DD-3ADA-4D25-A412-E4D90C0418C7}"/>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Upload file menghasilkan attachment_id, kemudian pesan menghubungkan ID tersebut.</a:t>
            </a:r>
          </a:p>
        </p:txBody>
      </p:sp>
      <p:sp>
        <p:nvSpPr>
          <p:cNvPr id="4" name="text-268">
            <a:extLst xmlns:a="http://schemas.openxmlformats.org/drawingml/2006/main">
              <a:ext uri="{FF2B5EF4-FFF2-40B4-BE49-F238E27FC236}">
                <a16:creationId xmlns:a16="http://schemas.microsoft.com/office/drawing/2014/main" id="{3153BD08-F96A-473C-A66D-610FDEA5638B}"/>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69">
            <a:extLst xmlns:a="http://schemas.openxmlformats.org/drawingml/2006/main">
              <a:ext uri="{FF2B5EF4-FFF2-40B4-BE49-F238E27FC236}">
                <a16:creationId xmlns:a16="http://schemas.microsoft.com/office/drawing/2014/main" id="{3FD6433F-FB72-477A-8E65-B442D1C5309C}"/>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Pemilihan file</a:t>
            </a:r>
          </a:p>
        </p:txBody>
      </p:sp>
      <p:sp>
        <p:nvSpPr>
          <p:cNvPr id="6" name="text-270">
            <a:extLst xmlns:a="http://schemas.openxmlformats.org/drawingml/2006/main">
              <a:ext uri="{FF2B5EF4-FFF2-40B4-BE49-F238E27FC236}">
                <a16:creationId xmlns:a16="http://schemas.microsoft.com/office/drawing/2014/main" id="{C524F731-A499-45AD-B84C-D3FF9DE3EE1F}"/>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Galeri, kamera, atau dokumen menghasilkan byte yang diunggah melalui multipart field file.</a:t>
            </a:r>
          </a:p>
        </p:txBody>
      </p:sp>
      <p:sp>
        <p:nvSpPr>
          <p:cNvPr id="7" name="text-271">
            <a:extLst xmlns:a="http://schemas.openxmlformats.org/drawingml/2006/main">
              <a:ext uri="{FF2B5EF4-FFF2-40B4-BE49-F238E27FC236}">
                <a16:creationId xmlns:a16="http://schemas.microsoft.com/office/drawing/2014/main" id="{66B12C54-F4E7-4043-A869-14F3BB735284}"/>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72">
            <a:extLst xmlns:a="http://schemas.openxmlformats.org/drawingml/2006/main">
              <a:ext uri="{FF2B5EF4-FFF2-40B4-BE49-F238E27FC236}">
                <a16:creationId xmlns:a16="http://schemas.microsoft.com/office/drawing/2014/main" id="{0A0F4F8B-81AE-48D5-99D7-1695957B8E25}"/>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Penyimpanan lampiran</a:t>
            </a:r>
          </a:p>
        </p:txBody>
      </p:sp>
      <p:sp>
        <p:nvSpPr>
          <p:cNvPr id="9" name="text-273">
            <a:extLst xmlns:a="http://schemas.openxmlformats.org/drawingml/2006/main">
              <a:ext uri="{FF2B5EF4-FFF2-40B4-BE49-F238E27FC236}">
                <a16:creationId xmlns:a16="http://schemas.microsoft.com/office/drawing/2014/main" id="{D79C81E4-36CC-40BB-AA04-58B835D657B3}"/>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POST /conversations/{id}/attachments mengembalikan id, name, mime, dan size.</a:t>
            </a:r>
          </a:p>
        </p:txBody>
      </p:sp>
      <p:sp>
        <p:nvSpPr>
          <p:cNvPr id="10" name="text-274">
            <a:extLst xmlns:a="http://schemas.openxmlformats.org/drawingml/2006/main">
              <a:ext uri="{FF2B5EF4-FFF2-40B4-BE49-F238E27FC236}">
                <a16:creationId xmlns:a16="http://schemas.microsoft.com/office/drawing/2014/main" id="{760A721A-D180-41B5-9820-8521B0DFB58A}"/>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75">
            <a:extLst xmlns:a="http://schemas.openxmlformats.org/drawingml/2006/main">
              <a:ext uri="{FF2B5EF4-FFF2-40B4-BE49-F238E27FC236}">
                <a16:creationId xmlns:a16="http://schemas.microsoft.com/office/drawing/2014/main" id="{757967E5-9E7E-4EC0-AAA9-B6D936067148}"/>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Pengiriman pesan</a:t>
            </a:r>
          </a:p>
        </p:txBody>
      </p:sp>
      <p:sp>
        <p:nvSpPr>
          <p:cNvPr id="12" name="text-276">
            <a:extLst xmlns:a="http://schemas.openxmlformats.org/drawingml/2006/main">
              <a:ext uri="{FF2B5EF4-FFF2-40B4-BE49-F238E27FC236}">
                <a16:creationId xmlns:a16="http://schemas.microsoft.com/office/drawing/2014/main" id="{CCF85763-826A-44B9-9904-B3205645513A}"/>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POST messages membawa attachment_id. Server memeriksa pemilik dan percakapan lampiran.</a:t>
            </a:r>
          </a:p>
        </p:txBody>
      </p:sp>
      <p:pic>
        <p:nvPicPr>
          <p:cNvPr id="13" name="">
            <a:extLst xmlns:a="http://schemas.openxmlformats.org/drawingml/2006/main">
              <a:ext uri="{FF2B5EF4-FFF2-40B4-BE49-F238E27FC236}">
                <a16:creationId xmlns:a16="http://schemas.microsoft.com/office/drawing/2014/main" id="{DE96ECFC-EF9F-4ABF-B766-20E98E23DF56}"/>
              </a:ext>
            </a:extLst>
          </p:cNvPr>
          <p:cNvPicPr>
            <a:picLocks xmlns:a="http://schemas.openxmlformats.org/drawingml/2006/main" noChangeAspect="1"/>
          </p:cNvPicPr>
          <p:nvPr/>
        </p:nvPicPr>
        <p:blipFill>
          <a:blip xmlns:r="http://schemas.openxmlformats.org/officeDocument/2006/relationships" xmlns:a="http://schemas.openxmlformats.org/drawingml/2006/main" r:embed="Rfbfec4173b234ad7"/>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018423317"/>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78">
            <a:extLst xmlns:a="http://schemas.openxmlformats.org/drawingml/2006/main">
              <a:ext uri="{FF2B5EF4-FFF2-40B4-BE49-F238E27FC236}">
                <a16:creationId xmlns:a16="http://schemas.microsoft.com/office/drawing/2014/main" id="{E1F16AB2-03C7-4AD0-9D45-641ACBCF60A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Validasi dan akses file</a:t>
            </a:r>
          </a:p>
        </p:txBody>
      </p:sp>
      <p:sp>
        <p:nvSpPr>
          <p:cNvPr id="2" name="text-279">
            <a:extLst xmlns:a="http://schemas.openxmlformats.org/drawingml/2006/main">
              <a:ext uri="{FF2B5EF4-FFF2-40B4-BE49-F238E27FC236}">
                <a16:creationId xmlns:a16="http://schemas.microsoft.com/office/drawing/2014/main" id="{29CC4F44-1338-4AAC-86CF-50CE7C1DCC43}"/>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25</a:t>
            </a:r>
          </a:p>
        </p:txBody>
      </p:sp>
      <p:sp>
        <p:nvSpPr>
          <p:cNvPr id="3" name="text-280">
            <a:extLst xmlns:a="http://schemas.openxmlformats.org/drawingml/2006/main">
              <a:ext uri="{FF2B5EF4-FFF2-40B4-BE49-F238E27FC236}">
                <a16:creationId xmlns:a16="http://schemas.microsoft.com/office/drawing/2014/main" id="{2C1633B8-ADF7-42A6-B9F5-50B4F042FD6D}"/>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Byte lampiran berada pada PostgreSQL. URL unduh tetap membutuhkan autentikasi.</a:t>
            </a:r>
          </a:p>
        </p:txBody>
      </p:sp>
      <p:sp>
        <p:nvSpPr>
          <p:cNvPr id="4" name="text-281">
            <a:extLst xmlns:a="http://schemas.openxmlformats.org/drawingml/2006/main">
              <a:ext uri="{FF2B5EF4-FFF2-40B4-BE49-F238E27FC236}">
                <a16:creationId xmlns:a16="http://schemas.microsoft.com/office/drawing/2014/main" id="{7D70B2DA-450E-45FE-9252-B6AA70F47869}"/>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82">
            <a:extLst xmlns:a="http://schemas.openxmlformats.org/drawingml/2006/main">
              <a:ext uri="{FF2B5EF4-FFF2-40B4-BE49-F238E27FC236}">
                <a16:creationId xmlns:a16="http://schemas.microsoft.com/office/drawing/2014/main" id="{36CBAAF8-4A71-4D71-A8A9-3BC9BBB1C47E}"/>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Batas file</a:t>
            </a:r>
          </a:p>
        </p:txBody>
      </p:sp>
      <p:sp>
        <p:nvSpPr>
          <p:cNvPr id="6" name="text-283">
            <a:extLst xmlns:a="http://schemas.openxmlformats.org/drawingml/2006/main">
              <a:ext uri="{FF2B5EF4-FFF2-40B4-BE49-F238E27FC236}">
                <a16:creationId xmlns:a16="http://schemas.microsoft.com/office/drawing/2014/main" id="{032D536B-E775-4C6E-A407-AE8AF2BEBE0E}"/>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1 byte sampai 8 MiB. Server mendeteksi MIME dari isi file yang diterima.</a:t>
            </a:r>
          </a:p>
        </p:txBody>
      </p:sp>
      <p:sp>
        <p:nvSpPr>
          <p:cNvPr id="7" name="text-284">
            <a:extLst xmlns:a="http://schemas.openxmlformats.org/drawingml/2006/main">
              <a:ext uri="{FF2B5EF4-FFF2-40B4-BE49-F238E27FC236}">
                <a16:creationId xmlns:a16="http://schemas.microsoft.com/office/drawing/2014/main" id="{9862C590-7B44-4B0B-97A2-FCFC537E886B}"/>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85">
            <a:extLst xmlns:a="http://schemas.openxmlformats.org/drawingml/2006/main">
              <a:ext uri="{FF2B5EF4-FFF2-40B4-BE49-F238E27FC236}">
                <a16:creationId xmlns:a16="http://schemas.microsoft.com/office/drawing/2014/main" id="{70D54E73-BC7C-4E0C-86C1-315CAC4A2DA3}"/>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Jenis yang didukung</a:t>
            </a:r>
          </a:p>
        </p:txBody>
      </p:sp>
      <p:sp>
        <p:nvSpPr>
          <p:cNvPr id="9" name="text-286">
            <a:extLst xmlns:a="http://schemas.openxmlformats.org/drawingml/2006/main">
              <a:ext uri="{FF2B5EF4-FFF2-40B4-BE49-F238E27FC236}">
                <a16:creationId xmlns:a16="http://schemas.microsoft.com/office/drawing/2014/main" id="{D722966F-A1F5-4221-8A79-3251DB2E58E2}"/>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JPEG, PNG, GIF, WebP, PDF, dan TXT. Nama file dibersihkan sebelum disimpan.</a:t>
            </a:r>
          </a:p>
        </p:txBody>
      </p:sp>
      <p:sp>
        <p:nvSpPr>
          <p:cNvPr id="10" name="text-287">
            <a:extLst xmlns:a="http://schemas.openxmlformats.org/drawingml/2006/main">
              <a:ext uri="{FF2B5EF4-FFF2-40B4-BE49-F238E27FC236}">
                <a16:creationId xmlns:a16="http://schemas.microsoft.com/office/drawing/2014/main" id="{489F90E4-7BF5-42A9-B837-71721B96CECC}"/>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288">
            <a:extLst xmlns:a="http://schemas.openxmlformats.org/drawingml/2006/main">
              <a:ext uri="{FF2B5EF4-FFF2-40B4-BE49-F238E27FC236}">
                <a16:creationId xmlns:a16="http://schemas.microsoft.com/office/drawing/2014/main" id="{34834498-71C4-4CF9-9DEC-E5B06BC8A91E}"/>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Unduh terotorisasi</a:t>
            </a:r>
          </a:p>
        </p:txBody>
      </p:sp>
      <p:sp>
        <p:nvSpPr>
          <p:cNvPr id="12" name="text-289">
            <a:extLst xmlns:a="http://schemas.openxmlformats.org/drawingml/2006/main">
              <a:ext uri="{FF2B5EF4-FFF2-40B4-BE49-F238E27FC236}">
                <a16:creationId xmlns:a16="http://schemas.microsoft.com/office/drawing/2014/main" id="{D0707F49-461A-4CD0-9540-D5CE518994AA}"/>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GET /attachments/{id} memeriksa sesi serta pemilik atau keanggotaan percakapan.</a:t>
            </a:r>
          </a:p>
        </p:txBody>
      </p:sp>
      <p:pic>
        <p:nvPicPr>
          <p:cNvPr id="13" name="">
            <a:extLst xmlns:a="http://schemas.openxmlformats.org/drawingml/2006/main">
              <a:ext uri="{FF2B5EF4-FFF2-40B4-BE49-F238E27FC236}">
                <a16:creationId xmlns:a16="http://schemas.microsoft.com/office/drawing/2014/main" id="{3336E6FA-6316-4B20-9112-AB19BAE91A1E}"/>
              </a:ext>
            </a:extLst>
          </p:cNvPr>
          <p:cNvPicPr>
            <a:picLocks xmlns:a="http://schemas.openxmlformats.org/drawingml/2006/main" noChangeAspect="1"/>
          </p:cNvPicPr>
          <p:nvPr/>
        </p:nvPicPr>
        <p:blipFill>
          <a:blip xmlns:r="http://schemas.openxmlformats.org/officeDocument/2006/relationships" xmlns:a="http://schemas.openxmlformats.org/drawingml/2006/main" r:embed="R83ffb29c4fe34faa"/>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803113464"/>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xt-291">
            <a:extLst xmlns:a="http://schemas.openxmlformats.org/drawingml/2006/main">
              <a:ext uri="{FF2B5EF4-FFF2-40B4-BE49-F238E27FC236}">
                <a16:creationId xmlns:a16="http://schemas.microsoft.com/office/drawing/2014/main" id="{5E1FA9A7-A724-4E1A-9979-30E1A95C61E8}"/>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Pencarian, profil, dan preferensi</a:t>
            </a:r>
          </a:p>
        </p:txBody>
      </p:sp>
      <p:sp>
        <p:nvSpPr>
          <p:cNvPr id="2" name="text-292">
            <a:extLst xmlns:a="http://schemas.openxmlformats.org/drawingml/2006/main">
              <a:ext uri="{FF2B5EF4-FFF2-40B4-BE49-F238E27FC236}">
                <a16:creationId xmlns:a16="http://schemas.microsoft.com/office/drawing/2014/main" id="{15522EB2-6A52-48D6-B57A-E0283AA49E01}"/>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26</a:t>
            </a:r>
          </a:p>
        </p:txBody>
      </p:sp>
      <p:sp>
        <p:nvSpPr>
          <p:cNvPr id="3" name="text-293">
            <a:extLst xmlns:a="http://schemas.openxmlformats.org/drawingml/2006/main">
              <a:ext uri="{FF2B5EF4-FFF2-40B4-BE49-F238E27FC236}">
                <a16:creationId xmlns:a16="http://schemas.microsoft.com/office/drawing/2014/main" id="{C4EC855D-E853-4235-9592-B9313299CA26}"/>
              </a:ext>
            </a:extLst>
          </p:cNvPr>
          <p:cNvSpPr>
            <a:spLocks xmlns:a="http://schemas.openxmlformats.org/drawingml/2006/main" noGrp="1"/>
          </p:cNvSpPr>
          <p:nvPr/>
        </p:nvSpPr>
        <p:spPr>
          <a:xfrm xmlns:a="http://schemas.openxmlformats.org/drawingml/2006/main">
            <a:off x="914400" y="16192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Fitur pendukung mempunyai lokasi state dan batas cakupan yang berbeda.</a:t>
            </a:r>
          </a:p>
        </p:txBody>
      </p:sp>
      <p:sp>
        <p:nvSpPr>
          <p:cNvPr id="4" name="text-294">
            <a:extLst xmlns:a="http://schemas.openxmlformats.org/drawingml/2006/main">
              <a:ext uri="{FF2B5EF4-FFF2-40B4-BE49-F238E27FC236}">
                <a16:creationId xmlns:a16="http://schemas.microsoft.com/office/drawing/2014/main" id="{40EF6F7E-BDFB-4B78-A241-DD5927EE80DB}"/>
              </a:ext>
            </a:extLst>
          </p:cNvPr>
          <p:cNvSpPr>
            <a:spLocks xmlns:a="http://schemas.openxmlformats.org/drawingml/2006/main" noGrp="1"/>
          </p:cNvSpPr>
          <p:nvPr/>
        </p:nvSpPr>
        <p:spPr>
          <a:xfrm xmlns:a="http://schemas.openxmlformats.org/drawingml/2006/main">
            <a:off x="914400" y="2819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295">
            <a:extLst xmlns:a="http://schemas.openxmlformats.org/drawingml/2006/main">
              <a:ext uri="{FF2B5EF4-FFF2-40B4-BE49-F238E27FC236}">
                <a16:creationId xmlns:a16="http://schemas.microsoft.com/office/drawing/2014/main" id="{E57E5BC0-7C4A-4745-BF84-F414B0166B5C}"/>
              </a:ext>
            </a:extLst>
          </p:cNvPr>
          <p:cNvSpPr>
            <a:spLocks xmlns:a="http://schemas.openxmlformats.org/drawingml/2006/main" noGrp="1"/>
          </p:cNvSpPr>
          <p:nvPr/>
        </p:nvSpPr>
        <p:spPr>
          <a:xfrm xmlns:a="http://schemas.openxmlformats.org/drawingml/2006/main">
            <a:off x="1619250" y="281940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Pencarian pesan lokal</a:t>
            </a:r>
          </a:p>
        </p:txBody>
      </p:sp>
      <p:sp>
        <p:nvSpPr>
          <p:cNvPr id="6" name="text-296">
            <a:extLst xmlns:a="http://schemas.openxmlformats.org/drawingml/2006/main">
              <a:ext uri="{FF2B5EF4-FFF2-40B4-BE49-F238E27FC236}">
                <a16:creationId xmlns:a16="http://schemas.microsoft.com/office/drawing/2014/main" id="{9B7BB38B-73E5-4D46-8C8A-02C1EC6109D6}"/>
              </a:ext>
            </a:extLst>
          </p:cNvPr>
          <p:cNvSpPr>
            <a:spLocks xmlns:a="http://schemas.openxmlformats.org/drawingml/2006/main" noGrp="1"/>
          </p:cNvSpPr>
          <p:nvPr/>
        </p:nvSpPr>
        <p:spPr>
          <a:xfrm xmlns:a="http://schemas.openxmlformats.org/drawingml/2006/main">
            <a:off x="1619250" y="339090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Filter bekerja pada riwayat yang sudah dimuat. Pagination tambahan memperluas data yang tersedia.</a:t>
            </a:r>
          </a:p>
        </p:txBody>
      </p:sp>
      <p:sp>
        <p:nvSpPr>
          <p:cNvPr id="7" name="text-297">
            <a:extLst xmlns:a="http://schemas.openxmlformats.org/drawingml/2006/main">
              <a:ext uri="{FF2B5EF4-FFF2-40B4-BE49-F238E27FC236}">
                <a16:creationId xmlns:a16="http://schemas.microsoft.com/office/drawing/2014/main" id="{B50A3B4F-F5D1-4EA3-ABC2-B52D66DAFE14}"/>
              </a:ext>
            </a:extLst>
          </p:cNvPr>
          <p:cNvSpPr>
            <a:spLocks xmlns:a="http://schemas.openxmlformats.org/drawingml/2006/main" noGrp="1"/>
          </p:cNvSpPr>
          <p:nvPr/>
        </p:nvSpPr>
        <p:spPr>
          <a:xfrm xmlns:a="http://schemas.openxmlformats.org/drawingml/2006/main">
            <a:off x="914400" y="4257675"/>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298">
            <a:extLst xmlns:a="http://schemas.openxmlformats.org/drawingml/2006/main">
              <a:ext uri="{FF2B5EF4-FFF2-40B4-BE49-F238E27FC236}">
                <a16:creationId xmlns:a16="http://schemas.microsoft.com/office/drawing/2014/main" id="{B413CC6D-DF9C-4514-8FE0-E389713202C7}"/>
              </a:ext>
            </a:extLst>
          </p:cNvPr>
          <p:cNvSpPr>
            <a:spLocks xmlns:a="http://schemas.openxmlformats.org/drawingml/2006/main" noGrp="1"/>
          </p:cNvSpPr>
          <p:nvPr/>
        </p:nvSpPr>
        <p:spPr>
          <a:xfrm xmlns:a="http://schemas.openxmlformats.org/drawingml/2006/main">
            <a:off x="1619250" y="4257675"/>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Profil dan identitas</a:t>
            </a:r>
          </a:p>
        </p:txBody>
      </p:sp>
      <p:sp>
        <p:nvSpPr>
          <p:cNvPr id="9" name="text-299">
            <a:extLst xmlns:a="http://schemas.openxmlformats.org/drawingml/2006/main">
              <a:ext uri="{FF2B5EF4-FFF2-40B4-BE49-F238E27FC236}">
                <a16:creationId xmlns:a16="http://schemas.microsoft.com/office/drawing/2014/main" id="{E005D82F-0B20-40D0-BDA4-89717F2B11D9}"/>
              </a:ext>
            </a:extLst>
          </p:cNvPr>
          <p:cNvSpPr>
            <a:spLocks xmlns:a="http://schemas.openxmlformats.org/drawingml/2006/main" noGrp="1"/>
          </p:cNvSpPr>
          <p:nvPr/>
        </p:nvSpPr>
        <p:spPr>
          <a:xfrm xmlns:a="http://schemas.openxmlformats.org/drawingml/2006/main">
            <a:off x="1619250" y="4829175"/>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GET /me menyediakan user saat ini. Info kontak mengikuti peer percakapan.</a:t>
            </a:r>
          </a:p>
        </p:txBody>
      </p:sp>
      <p:sp>
        <p:nvSpPr>
          <p:cNvPr id="10" name="text-300">
            <a:extLst xmlns:a="http://schemas.openxmlformats.org/drawingml/2006/main">
              <a:ext uri="{FF2B5EF4-FFF2-40B4-BE49-F238E27FC236}">
                <a16:creationId xmlns:a16="http://schemas.microsoft.com/office/drawing/2014/main" id="{A7ADE3C5-3C93-4E32-A888-1D92DCBDE81F}"/>
              </a:ext>
            </a:extLst>
          </p:cNvPr>
          <p:cNvSpPr>
            <a:spLocks xmlns:a="http://schemas.openxmlformats.org/drawingml/2006/main" noGrp="1"/>
          </p:cNvSpPr>
          <p:nvPr/>
        </p:nvSpPr>
        <p:spPr>
          <a:xfrm xmlns:a="http://schemas.openxmlformats.org/drawingml/2006/main">
            <a:off x="914400" y="569595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301">
            <a:extLst xmlns:a="http://schemas.openxmlformats.org/drawingml/2006/main">
              <a:ext uri="{FF2B5EF4-FFF2-40B4-BE49-F238E27FC236}">
                <a16:creationId xmlns:a16="http://schemas.microsoft.com/office/drawing/2014/main" id="{74F07DC3-2FB7-4EE4-8EFF-5D0280962CF9}"/>
              </a:ext>
            </a:extLst>
          </p:cNvPr>
          <p:cNvSpPr>
            <a:spLocks xmlns:a="http://schemas.openxmlformats.org/drawingml/2006/main" noGrp="1"/>
          </p:cNvSpPr>
          <p:nvPr/>
        </p:nvSpPr>
        <p:spPr>
          <a:xfrm xmlns:a="http://schemas.openxmlformats.org/drawingml/2006/main">
            <a:off x="1619250" y="5695950"/>
            <a:ext cx="7486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Tema dan alamat server</a:t>
            </a:r>
          </a:p>
        </p:txBody>
      </p:sp>
      <p:sp>
        <p:nvSpPr>
          <p:cNvPr id="12" name="text-302">
            <a:extLst xmlns:a="http://schemas.openxmlformats.org/drawingml/2006/main">
              <a:ext uri="{FF2B5EF4-FFF2-40B4-BE49-F238E27FC236}">
                <a16:creationId xmlns:a16="http://schemas.microsoft.com/office/drawing/2014/main" id="{0086A589-3CFA-4553-B597-B0A0734A2B5A}"/>
              </a:ext>
            </a:extLst>
          </p:cNvPr>
          <p:cNvSpPr>
            <a:spLocks xmlns:a="http://schemas.openxmlformats.org/drawingml/2006/main" noGrp="1"/>
          </p:cNvSpPr>
          <p:nvPr/>
        </p:nvSpPr>
        <p:spPr>
          <a:xfrm xmlns:a="http://schemas.openxmlformats.org/drawingml/2006/main">
            <a:off x="1619250" y="6267450"/>
            <a:ext cx="7410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SharedPreferences menyimpan pilihan tema serta server. Token berada di secure storage.</a:t>
            </a:r>
          </a:p>
        </p:txBody>
      </p:sp>
      <p:pic>
        <p:nvPicPr>
          <p:cNvPr id="13" name="">
            <a:extLst xmlns:a="http://schemas.openxmlformats.org/drawingml/2006/main">
              <a:ext uri="{FF2B5EF4-FFF2-40B4-BE49-F238E27FC236}">
                <a16:creationId xmlns:a16="http://schemas.microsoft.com/office/drawing/2014/main" id="{988A0DFB-A485-4A0E-9F0D-DB9163F7302D}"/>
              </a:ext>
            </a:extLst>
          </p:cNvPr>
          <p:cNvPicPr>
            <a:picLocks xmlns:a="http://schemas.openxmlformats.org/drawingml/2006/main" noChangeAspect="1"/>
          </p:cNvPicPr>
          <p:nvPr/>
        </p:nvPicPr>
        <p:blipFill>
          <a:blip xmlns:r="http://schemas.openxmlformats.org/officeDocument/2006/relationships" xmlns:a="http://schemas.openxmlformats.org/drawingml/2006/main" r:embed="Rb269b12b76b04409"/>
          <a:stretch xmlns:a="http://schemas.openxmlformats.org/drawingml/2006/main"/>
        </p:blipFill>
        <p:spPr>
          <a:xfrm xmlns:a="http://schemas.openxmlformats.org/drawingml/2006/main">
            <a:off x="10629900" y="1485900"/>
            <a:ext cx="2826651" cy="6343650"/>
          </a:xfrm>
          <a:prstGeom xmlns:a="http://schemas.openxmlformats.org/drawingml/2006/main" prst="rect">
            <a:avLst/>
          </a:prstGeom>
        </p:spPr>
      </p:pic>
    </p:spTree>
    <p:extLst>
      <p:ext uri="{BB962C8B-B14F-4D97-AF65-F5344CB8AC3E}">
        <p14:creationId xmlns:p14="http://schemas.microsoft.com/office/powerpoint/2010/main" val="1397521160"/>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text-304">
            <a:extLst xmlns:a="http://schemas.openxmlformats.org/drawingml/2006/main">
              <a:ext uri="{FF2B5EF4-FFF2-40B4-BE49-F238E27FC236}">
                <a16:creationId xmlns:a16="http://schemas.microsoft.com/office/drawing/2014/main" id="{35DE3C68-B756-4044-9CB0-E5455295B31B}"/>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Keamanan dan kegagalan request</a:t>
            </a:r>
          </a:p>
        </p:txBody>
      </p:sp>
      <p:sp>
        <p:nvSpPr>
          <p:cNvPr id="2" name="text-305">
            <a:extLst xmlns:a="http://schemas.openxmlformats.org/drawingml/2006/main">
              <a:ext uri="{FF2B5EF4-FFF2-40B4-BE49-F238E27FC236}">
                <a16:creationId xmlns:a16="http://schemas.microsoft.com/office/drawing/2014/main" id="{A4CC7463-1EBE-45AB-95B0-DA3DAC4808DD}"/>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Aturan server menjaga data meskipun klien mengirim payload buatan sendiri.</a:t>
            </a:r>
          </a:p>
        </p:txBody>
      </p:sp>
      <p:sp>
        <p:nvSpPr>
          <p:cNvPr id="3" name="text-306">
            <a:extLst xmlns:a="http://schemas.openxmlformats.org/drawingml/2006/main">
              <a:ext uri="{FF2B5EF4-FFF2-40B4-BE49-F238E27FC236}">
                <a16:creationId xmlns:a16="http://schemas.microsoft.com/office/drawing/2014/main" id="{412C2AB7-3CA4-4829-9F63-27D9FAC30091}"/>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27</a:t>
            </a:r>
          </a:p>
        </p:txBody>
      </p:sp>
      <p:sp>
        <p:nvSpPr>
          <p:cNvPr id="4" name="text-307">
            <a:extLst xmlns:a="http://schemas.openxmlformats.org/drawingml/2006/main">
              <a:ext uri="{FF2B5EF4-FFF2-40B4-BE49-F238E27FC236}">
                <a16:creationId xmlns:a16="http://schemas.microsoft.com/office/drawing/2014/main" id="{8320C37D-618B-42C1-BAA2-A30D6C3B5965}"/>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1</a:t>
            </a:r>
          </a:p>
        </p:txBody>
      </p:sp>
      <p:sp>
        <p:nvSpPr>
          <p:cNvPr id="5" name="text-308">
            <a:extLst xmlns:a="http://schemas.openxmlformats.org/drawingml/2006/main">
              <a:ext uri="{FF2B5EF4-FFF2-40B4-BE49-F238E27FC236}">
                <a16:creationId xmlns:a16="http://schemas.microsoft.com/office/drawing/2014/main" id="{404E8567-3194-432A-A8F9-F772062CB70B}"/>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Pembatasan resource</a:t>
            </a:r>
          </a:p>
        </p:txBody>
      </p:sp>
      <p:sp>
        <p:nvSpPr>
          <p:cNvPr id="6" name="text-309">
            <a:extLst xmlns:a="http://schemas.openxmlformats.org/drawingml/2006/main">
              <a:ext uri="{FF2B5EF4-FFF2-40B4-BE49-F238E27FC236}">
                <a16:creationId xmlns:a16="http://schemas.microsoft.com/office/drawing/2014/main" id="{C4BA9960-1C59-48BF-9F18-93684015043B}"/>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JSON 16 KiB, file 8 MiB, timeout request DB, serta pembatasan upaya autentikasi.</a:t>
            </a:r>
          </a:p>
        </p:txBody>
      </p:sp>
      <p:sp>
        <p:nvSpPr>
          <p:cNvPr id="7" name="text-310">
            <a:extLst xmlns:a="http://schemas.openxmlformats.org/drawingml/2006/main">
              <a:ext uri="{FF2B5EF4-FFF2-40B4-BE49-F238E27FC236}">
                <a16:creationId xmlns:a16="http://schemas.microsoft.com/office/drawing/2014/main" id="{A947763C-BDB0-407E-A057-6B2BAF6EF3EE}"/>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2</a:t>
            </a:r>
          </a:p>
        </p:txBody>
      </p:sp>
      <p:sp>
        <p:nvSpPr>
          <p:cNvPr id="8" name="text-311">
            <a:extLst xmlns:a="http://schemas.openxmlformats.org/drawingml/2006/main">
              <a:ext uri="{FF2B5EF4-FFF2-40B4-BE49-F238E27FC236}">
                <a16:creationId xmlns:a16="http://schemas.microsoft.com/office/drawing/2014/main" id="{3019BA98-37D0-4A51-983B-3CF4252CE747}"/>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Akses dan query</a:t>
            </a:r>
          </a:p>
        </p:txBody>
      </p:sp>
      <p:sp>
        <p:nvSpPr>
          <p:cNvPr id="9" name="text-312">
            <a:extLst xmlns:a="http://schemas.openxmlformats.org/drawingml/2006/main">
              <a:ext uri="{FF2B5EF4-FFF2-40B4-BE49-F238E27FC236}">
                <a16:creationId xmlns:a16="http://schemas.microsoft.com/office/drawing/2014/main" id="{80E3542E-968D-4291-958A-874F8980B1C2}"/>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Sesi aktif, membership, parameter SQL, dan validasi referensi pada balasan atau lampiran.</a:t>
            </a:r>
          </a:p>
        </p:txBody>
      </p:sp>
      <p:sp>
        <p:nvSpPr>
          <p:cNvPr id="10" name="text-313">
            <a:extLst xmlns:a="http://schemas.openxmlformats.org/drawingml/2006/main">
              <a:ext uri="{FF2B5EF4-FFF2-40B4-BE49-F238E27FC236}">
                <a16:creationId xmlns:a16="http://schemas.microsoft.com/office/drawing/2014/main" id="{CFA91AE1-F681-485B-B8DE-915029718F48}"/>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3</a:t>
            </a:r>
          </a:p>
        </p:txBody>
      </p:sp>
      <p:sp>
        <p:nvSpPr>
          <p:cNvPr id="11" name="text-314">
            <a:extLst xmlns:a="http://schemas.openxmlformats.org/drawingml/2006/main">
              <a:ext uri="{FF2B5EF4-FFF2-40B4-BE49-F238E27FC236}">
                <a16:creationId xmlns:a16="http://schemas.microsoft.com/office/drawing/2014/main" id="{6382725B-FAB0-46BE-A019-DD8B3F7EEE86}"/>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Respons kegagalan</a:t>
            </a:r>
          </a:p>
        </p:txBody>
      </p:sp>
      <p:sp>
        <p:nvSpPr>
          <p:cNvPr id="12" name="text-315">
            <a:extLst xmlns:a="http://schemas.openxmlformats.org/drawingml/2006/main">
              <a:ext uri="{FF2B5EF4-FFF2-40B4-BE49-F238E27FC236}">
                <a16:creationId xmlns:a16="http://schemas.microsoft.com/office/drawing/2014/main" id="{50EE9292-899C-430E-8F65-755492647D52}"/>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400 untuk input, 401 sesi, 403 akses, 409 konflik ID, 413 ukuran, dan 415 tipe data.</a:t>
            </a:r>
          </a:p>
        </p:txBody>
      </p:sp>
      <p:sp>
        <p:nvSpPr>
          <p:cNvPr id="13" name="text-316">
            <a:extLst xmlns:a="http://schemas.openxmlformats.org/drawingml/2006/main">
              <a:ext uri="{FF2B5EF4-FFF2-40B4-BE49-F238E27FC236}">
                <a16:creationId xmlns:a16="http://schemas.microsoft.com/office/drawing/2014/main" id="{65992255-FBCB-4E16-A2EB-74C87C2817B5}"/>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284C7"/>
                </a:solidFill>
                <a:latin typeface="Arial"/>
                <a:ea typeface="Arial"/>
                <a:cs typeface="Arial"/>
              </a:defRPr>
            </a:defPPr>
            <a:lvl1pPr algn="l">
              <a:defRPr sz="2325" b="1">
                <a:solidFill>
                  <a:srgbClr val="0284C7"/>
                </a:solidFill>
                <a:latin typeface="Arial"/>
                <a:ea typeface="Arial"/>
                <a:cs typeface="Arial"/>
              </a:defRPr>
            </a:lvl1pPr>
            <a:lvl2pPr algn="l">
              <a:defRPr sz="2325" b="1">
                <a:solidFill>
                  <a:srgbClr val="0284C7"/>
                </a:solidFill>
                <a:latin typeface="Arial"/>
                <a:ea typeface="Arial"/>
                <a:cs typeface="Arial"/>
              </a:defRPr>
            </a:lvl2pPr>
            <a:lvl3pPr algn="l">
              <a:defRPr sz="2325" b="1">
                <a:solidFill>
                  <a:srgbClr val="0284C7"/>
                </a:solidFill>
                <a:latin typeface="Arial"/>
                <a:ea typeface="Arial"/>
                <a:cs typeface="Arial"/>
              </a:defRPr>
            </a:lvl3pPr>
            <a:lvl4pPr algn="l">
              <a:defRPr sz="2325" b="1">
                <a:solidFill>
                  <a:srgbClr val="0284C7"/>
                </a:solidFill>
                <a:latin typeface="Arial"/>
                <a:ea typeface="Arial"/>
                <a:cs typeface="Arial"/>
              </a:defRPr>
            </a:lvl4pPr>
            <a:lvl5pPr algn="l">
              <a:defRPr sz="2325" b="1">
                <a:solidFill>
                  <a:srgbClr val="0284C7"/>
                </a:solidFill>
                <a:latin typeface="Arial"/>
                <a:ea typeface="Arial"/>
                <a:cs typeface="Arial"/>
              </a:defRPr>
            </a:lvl5pPr>
            <a:lvl6pPr algn="l">
              <a:defRPr sz="2325" b="1">
                <a:solidFill>
                  <a:srgbClr val="0284C7"/>
                </a:solidFill>
                <a:latin typeface="Arial"/>
                <a:ea typeface="Arial"/>
                <a:cs typeface="Arial"/>
              </a:defRPr>
            </a:lvl6pPr>
            <a:lvl7pPr algn="l">
              <a:defRPr sz="2325" b="1">
                <a:solidFill>
                  <a:srgbClr val="0284C7"/>
                </a:solidFill>
                <a:latin typeface="Arial"/>
                <a:ea typeface="Arial"/>
                <a:cs typeface="Arial"/>
              </a:defRPr>
            </a:lvl7pPr>
            <a:lvl8pPr algn="l">
              <a:defRPr sz="2325" b="1">
                <a:solidFill>
                  <a:srgbClr val="0284C7"/>
                </a:solidFill>
                <a:latin typeface="Arial"/>
                <a:ea typeface="Arial"/>
                <a:cs typeface="Arial"/>
              </a:defRPr>
            </a:lvl8pPr>
            <a:lvl9pPr algn="l">
              <a:defRPr sz="2325" b="1">
                <a:solidFill>
                  <a:srgbClr val="0284C7"/>
                </a:solidFill>
                <a:latin typeface="Arial"/>
                <a:ea typeface="Arial"/>
                <a:cs typeface="Arial"/>
              </a:defRPr>
            </a:lvl9pPr>
          </a:lstStyle>
          <a:p xmlns:a="http://schemas.openxmlformats.org/drawingml/2006/main">
            <a:pPr algn="l">
              <a:defRPr sz="2325" b="1">
                <a:solidFill>
                  <a:srgbClr val="0284C7"/>
                </a:solidFill>
                <a:latin typeface="Arial"/>
                <a:ea typeface="Arial"/>
                <a:cs typeface="Arial"/>
              </a:defRPr>
            </a:pPr>
            <a:r>
              <a:rPr sz="2325" b="1">
                <a:solidFill>
                  <a:srgbClr val="0284C7"/>
                </a:solidFill>
                <a:latin typeface="Arial"/>
                <a:ea typeface="Arial"/>
                <a:cs typeface="Arial"/>
              </a:rPr>
              <a:t>4</a:t>
            </a:r>
          </a:p>
        </p:txBody>
      </p:sp>
      <p:sp>
        <p:nvSpPr>
          <p:cNvPr id="14" name="text-317">
            <a:extLst xmlns:a="http://schemas.openxmlformats.org/drawingml/2006/main">
              <a:ext uri="{FF2B5EF4-FFF2-40B4-BE49-F238E27FC236}">
                <a16:creationId xmlns:a16="http://schemas.microsoft.com/office/drawing/2014/main" id="{1DEA1DDE-23A6-488A-B4D5-8FF617ED4CE7}"/>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F172A"/>
                </a:solidFill>
                <a:latin typeface="Arial"/>
                <a:ea typeface="Arial"/>
                <a:cs typeface="Arial"/>
              </a:defRPr>
            </a:defPPr>
            <a:lvl1pPr algn="l">
              <a:defRPr sz="2400" b="1">
                <a:solidFill>
                  <a:srgbClr val="0F172A"/>
                </a:solidFill>
                <a:latin typeface="Arial"/>
                <a:ea typeface="Arial"/>
                <a:cs typeface="Arial"/>
              </a:defRPr>
            </a:lvl1pPr>
            <a:lvl2pPr algn="l">
              <a:defRPr sz="2400" b="1">
                <a:solidFill>
                  <a:srgbClr val="0F172A"/>
                </a:solidFill>
                <a:latin typeface="Arial"/>
                <a:ea typeface="Arial"/>
                <a:cs typeface="Arial"/>
              </a:defRPr>
            </a:lvl2pPr>
            <a:lvl3pPr algn="l">
              <a:defRPr sz="2400" b="1">
                <a:solidFill>
                  <a:srgbClr val="0F172A"/>
                </a:solidFill>
                <a:latin typeface="Arial"/>
                <a:ea typeface="Arial"/>
                <a:cs typeface="Arial"/>
              </a:defRPr>
            </a:lvl3pPr>
            <a:lvl4pPr algn="l">
              <a:defRPr sz="2400" b="1">
                <a:solidFill>
                  <a:srgbClr val="0F172A"/>
                </a:solidFill>
                <a:latin typeface="Arial"/>
                <a:ea typeface="Arial"/>
                <a:cs typeface="Arial"/>
              </a:defRPr>
            </a:lvl4pPr>
            <a:lvl5pPr algn="l">
              <a:defRPr sz="2400" b="1">
                <a:solidFill>
                  <a:srgbClr val="0F172A"/>
                </a:solidFill>
                <a:latin typeface="Arial"/>
                <a:ea typeface="Arial"/>
                <a:cs typeface="Arial"/>
              </a:defRPr>
            </a:lvl5pPr>
            <a:lvl6pPr algn="l">
              <a:defRPr sz="2400" b="1">
                <a:solidFill>
                  <a:srgbClr val="0F172A"/>
                </a:solidFill>
                <a:latin typeface="Arial"/>
                <a:ea typeface="Arial"/>
                <a:cs typeface="Arial"/>
              </a:defRPr>
            </a:lvl6pPr>
            <a:lvl7pPr algn="l">
              <a:defRPr sz="2400" b="1">
                <a:solidFill>
                  <a:srgbClr val="0F172A"/>
                </a:solidFill>
                <a:latin typeface="Arial"/>
                <a:ea typeface="Arial"/>
                <a:cs typeface="Arial"/>
              </a:defRPr>
            </a:lvl7pPr>
            <a:lvl8pPr algn="l">
              <a:defRPr sz="2400" b="1">
                <a:solidFill>
                  <a:srgbClr val="0F172A"/>
                </a:solidFill>
                <a:latin typeface="Arial"/>
                <a:ea typeface="Arial"/>
                <a:cs typeface="Arial"/>
              </a:defRPr>
            </a:lvl8pPr>
            <a:lvl9pPr algn="l">
              <a:defRPr sz="2400" b="1">
                <a:solidFill>
                  <a:srgbClr val="0F172A"/>
                </a:solidFill>
                <a:latin typeface="Arial"/>
                <a:ea typeface="Arial"/>
                <a:cs typeface="Arial"/>
              </a:defRPr>
            </a:lvl9pPr>
          </a:lstStyle>
          <a:p xmlns:a="http://schemas.openxmlformats.org/drawingml/2006/main">
            <a:pPr algn="l">
              <a:defRPr sz="2400" b="1">
                <a:solidFill>
                  <a:srgbClr val="0F172A"/>
                </a:solidFill>
                <a:latin typeface="Arial"/>
                <a:ea typeface="Arial"/>
                <a:cs typeface="Arial"/>
              </a:defRPr>
            </a:pPr>
            <a:r>
              <a:rPr sz="2400" b="1">
                <a:solidFill>
                  <a:srgbClr val="0F172A"/>
                </a:solidFill>
                <a:latin typeface="Arial"/>
                <a:ea typeface="Arial"/>
                <a:cs typeface="Arial"/>
              </a:rPr>
              <a:t>Batas penerapan</a:t>
            </a:r>
          </a:p>
        </p:txBody>
      </p:sp>
      <p:sp>
        <p:nvSpPr>
          <p:cNvPr id="15" name="text-318">
            <a:extLst xmlns:a="http://schemas.openxmlformats.org/drawingml/2006/main">
              <a:ext uri="{FF2B5EF4-FFF2-40B4-BE49-F238E27FC236}">
                <a16:creationId xmlns:a16="http://schemas.microsoft.com/office/drawing/2014/main" id="{748E0A5D-6398-405E-8996-70636A01FD96}"/>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75569"/>
                </a:solidFill>
                <a:latin typeface="Arial"/>
                <a:ea typeface="Arial"/>
                <a:cs typeface="Arial"/>
              </a:defRPr>
            </a:defPPr>
            <a:lvl1pPr algn="l">
              <a:defRPr sz="2025" b="0">
                <a:solidFill>
                  <a:srgbClr val="475569"/>
                </a:solidFill>
                <a:latin typeface="Arial"/>
                <a:ea typeface="Arial"/>
                <a:cs typeface="Arial"/>
              </a:defRPr>
            </a:lvl1pPr>
            <a:lvl2pPr algn="l">
              <a:defRPr sz="2025" b="0">
                <a:solidFill>
                  <a:srgbClr val="475569"/>
                </a:solidFill>
                <a:latin typeface="Arial"/>
                <a:ea typeface="Arial"/>
                <a:cs typeface="Arial"/>
              </a:defRPr>
            </a:lvl2pPr>
            <a:lvl3pPr algn="l">
              <a:defRPr sz="2025" b="0">
                <a:solidFill>
                  <a:srgbClr val="475569"/>
                </a:solidFill>
                <a:latin typeface="Arial"/>
                <a:ea typeface="Arial"/>
                <a:cs typeface="Arial"/>
              </a:defRPr>
            </a:lvl3pPr>
            <a:lvl4pPr algn="l">
              <a:defRPr sz="2025" b="0">
                <a:solidFill>
                  <a:srgbClr val="475569"/>
                </a:solidFill>
                <a:latin typeface="Arial"/>
                <a:ea typeface="Arial"/>
                <a:cs typeface="Arial"/>
              </a:defRPr>
            </a:lvl4pPr>
            <a:lvl5pPr algn="l">
              <a:defRPr sz="2025" b="0">
                <a:solidFill>
                  <a:srgbClr val="475569"/>
                </a:solidFill>
                <a:latin typeface="Arial"/>
                <a:ea typeface="Arial"/>
                <a:cs typeface="Arial"/>
              </a:defRPr>
            </a:lvl5pPr>
            <a:lvl6pPr algn="l">
              <a:defRPr sz="2025" b="0">
                <a:solidFill>
                  <a:srgbClr val="475569"/>
                </a:solidFill>
                <a:latin typeface="Arial"/>
                <a:ea typeface="Arial"/>
                <a:cs typeface="Arial"/>
              </a:defRPr>
            </a:lvl6pPr>
            <a:lvl7pPr algn="l">
              <a:defRPr sz="2025" b="0">
                <a:solidFill>
                  <a:srgbClr val="475569"/>
                </a:solidFill>
                <a:latin typeface="Arial"/>
                <a:ea typeface="Arial"/>
                <a:cs typeface="Arial"/>
              </a:defRPr>
            </a:lvl7pPr>
            <a:lvl8pPr algn="l">
              <a:defRPr sz="2025" b="0">
                <a:solidFill>
                  <a:srgbClr val="475569"/>
                </a:solidFill>
                <a:latin typeface="Arial"/>
                <a:ea typeface="Arial"/>
                <a:cs typeface="Arial"/>
              </a:defRPr>
            </a:lvl8pPr>
            <a:lvl9pPr algn="l">
              <a:defRPr sz="2025" b="0">
                <a:solidFill>
                  <a:srgbClr val="475569"/>
                </a:solidFill>
                <a:latin typeface="Arial"/>
                <a:ea typeface="Arial"/>
                <a:cs typeface="Arial"/>
              </a:defRPr>
            </a:lvl9pPr>
          </a:lstStyle>
          <a:p xmlns:a="http://schemas.openxmlformats.org/drawingml/2006/main">
            <a:pPr algn="l">
              <a:defRPr sz="2025" b="0">
                <a:solidFill>
                  <a:srgbClr val="475569"/>
                </a:solidFill>
                <a:latin typeface="Arial"/>
                <a:ea typeface="Arial"/>
                <a:cs typeface="Arial"/>
              </a:defRPr>
            </a:pPr>
            <a:r>
              <a:rPr sz="2025" b="0">
                <a:solidFill>
                  <a:srgbClr val="475569"/>
                </a:solidFill>
                <a:latin typeface="Arial"/>
                <a:ea typeface="Arial"/>
                <a:cs typeface="Arial"/>
              </a:rPr>
              <a:t>Lingkungan lokal HTTP. Distribusi membutuhkan HTTPS/WSS. Enkripsi end-to-end belum tersedia.</a:t>
            </a:r>
          </a:p>
        </p:txBody>
      </p:sp>
    </p:spTree>
    <p:extLst>
      <p:ext uri="{BB962C8B-B14F-4D97-AF65-F5344CB8AC3E}">
        <p14:creationId xmlns:p14="http://schemas.microsoft.com/office/powerpoint/2010/main" val="1173854970"/>
      </p:ext>
    </p:extLst>
  </p:cSld>
</p:sld>
</file>

<file path=ppt/slides/slide2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4447D872-8576-4FD6-8977-0F0513185475}"/>
              </a:ext>
            </a:extLst>
          </p:cNvPr>
          <p:cNvCxnSpPr>
            <a:stCxn xmlns:a="http://schemas.openxmlformats.org/drawingml/2006/main" id="5" idx="2"/>
            <a:endCxn xmlns:a="http://schemas.openxmlformats.org/drawingml/2006/main" id="7" idx="0"/>
          </p:cNvCxnSpPr>
          <p:nvPr/>
        </p:nvCxnSpPr>
        <p:spPr>
          <a:xfrm xmlns:a="http://schemas.openxmlformats.org/drawingml/2006/main">
            <a:off x="11382375" y="5000625"/>
            <a:ext cx="0" cy="1285875"/>
          </a:xfrm>
          <a:prstGeom xmlns:a="http://schemas.openxmlformats.org/drawingml/2006/main" prst="straightConnector1">
            <a:avLst/>
          </a:prstGeom>
          <a:ln xmlns:a="http://schemas.openxmlformats.org/drawingml/2006/main" w="28575">
            <a:solidFill>
              <a:srgbClr val="38BDF8"/>
            </a:solidFill>
            <a:tailEnd type="triangle" w="med" len="med"/>
          </a:ln>
        </p:spPr>
      </p:cxnSp>
      <p:cxnSp>
        <p:nvCxnSpPr>
          <p:cNvPr id="6" name="">
            <a:extLst xmlns:a="http://schemas.openxmlformats.org/drawingml/2006/main">
              <a:ext uri="{FF2B5EF4-FFF2-40B4-BE49-F238E27FC236}">
                <a16:creationId xmlns:a16="http://schemas.microsoft.com/office/drawing/2014/main" id="{840115EF-3AB9-491F-8B33-5638966C4FF7}"/>
              </a:ext>
            </a:extLst>
          </p:cNvPr>
          <p:cNvCxnSpPr>
            <a:stCxn xmlns:a="http://schemas.openxmlformats.org/drawingml/2006/main" id="4" idx="3"/>
            <a:endCxn xmlns:a="http://schemas.openxmlformats.org/drawingml/2006/main" id="5" idx="1"/>
          </p:cNvCxnSpPr>
          <p:nvPr/>
        </p:nvCxnSpPr>
        <p:spPr>
          <a:xfrm xmlns:a="http://schemas.openxmlformats.org/drawingml/2006/main">
            <a:off x="6191250" y="4024313"/>
            <a:ext cx="2667000" cy="0"/>
          </a:xfrm>
          <a:prstGeom xmlns:a="http://schemas.openxmlformats.org/drawingml/2006/main" prst="straightConnector1">
            <a:avLst/>
          </a:prstGeom>
          <a:ln xmlns:a="http://schemas.openxmlformats.org/drawingml/2006/main" w="28575">
            <a:solidFill>
              <a:srgbClr val="38BDF8"/>
            </a:solidFill>
            <a:tailEnd type="triangle" w="med" len="med"/>
          </a:ln>
        </p:spPr>
      </p:cxnSp>
      <p:sp>
        <p:nvSpPr>
          <p:cNvPr id="11" name="text-319">
            <a:extLst xmlns:a="http://schemas.openxmlformats.org/drawingml/2006/main">
              <a:ext uri="{FF2B5EF4-FFF2-40B4-BE49-F238E27FC236}">
                <a16:creationId xmlns:a16="http://schemas.microsoft.com/office/drawing/2014/main" id="{3CD10D1E-0DF4-438C-9084-72986C03540A}"/>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Docker, startup, dan alamat jaringan</a:t>
            </a:r>
          </a:p>
        </p:txBody>
      </p:sp>
      <p:sp>
        <p:nvSpPr>
          <p:cNvPr id="2" name="text-320">
            <a:extLst xmlns:a="http://schemas.openxmlformats.org/drawingml/2006/main">
              <a:ext uri="{FF2B5EF4-FFF2-40B4-BE49-F238E27FC236}">
                <a16:creationId xmlns:a16="http://schemas.microsoft.com/office/drawing/2014/main" id="{F9241FAD-52FD-45C9-891A-07ACFE05F215}"/>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Compose memisahkan layanan API, database, dan penyimpanan persisten.</a:t>
            </a:r>
          </a:p>
        </p:txBody>
      </p:sp>
      <p:sp>
        <p:nvSpPr>
          <p:cNvPr id="3" name="text-321">
            <a:extLst xmlns:a="http://schemas.openxmlformats.org/drawingml/2006/main">
              <a:ext uri="{FF2B5EF4-FFF2-40B4-BE49-F238E27FC236}">
                <a16:creationId xmlns:a16="http://schemas.microsoft.com/office/drawing/2014/main" id="{2D84FDDA-7C7E-41FA-A17C-5F6C6C96F55B}"/>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28</a:t>
            </a:r>
          </a:p>
        </p:txBody>
      </p:sp>
      <p:sp>
        <p:nvSpPr>
          <p:cNvPr id="4" name="diagram-node-322">
            <a:extLst xmlns:a="http://schemas.openxmlformats.org/drawingml/2006/main">
              <a:ext uri="{FF2B5EF4-FFF2-40B4-BE49-F238E27FC236}">
                <a16:creationId xmlns:a16="http://schemas.microsoft.com/office/drawing/2014/main" id="{CB3A5F73-C593-4A63-BCE8-BF1238FBCB29}"/>
              </a:ext>
            </a:extLst>
          </p:cNvPr>
          <p:cNvSpPr>
            <a:spLocks xmlns:a="http://schemas.openxmlformats.org/drawingml/2006/main" noGrp="1"/>
          </p:cNvSpPr>
          <p:nvPr/>
        </p:nvSpPr>
        <p:spPr>
          <a:xfrm xmlns:a="http://schemas.openxmlformats.org/drawingml/2006/main">
            <a:off x="1143000" y="3048000"/>
            <a:ext cx="5048250" cy="1952625"/>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API Go</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Build multi-stage</a:t>
            </a:r>
            <a:br>
              <a:rPr sz="2025">
                <a:solidFill>
                  <a:srgbClr val="FFFFFF"/>
                </a:solidFill>
                <a:latin typeface="Arial"/>
                <a:ea typeface="Arial"/>
                <a:cs typeface="Arial"/>
              </a:rPr>
            </a:br>
            <a:r>
              <a:rPr sz="2025">
                <a:solidFill>
                  <a:srgbClr val="FFFFFF"/>
                </a:solidFill>
                <a:latin typeface="Arial"/>
                <a:ea typeface="Arial"/>
                <a:cs typeface="Arial"/>
              </a:rPr>
              <a:t>User non-root, port 8080</a:t>
            </a:r>
          </a:p>
        </p:txBody>
      </p:sp>
      <p:sp>
        <p:nvSpPr>
          <p:cNvPr id="5" name="diagram-node-323">
            <a:extLst xmlns:a="http://schemas.openxmlformats.org/drawingml/2006/main">
              <a:ext uri="{FF2B5EF4-FFF2-40B4-BE49-F238E27FC236}">
                <a16:creationId xmlns:a16="http://schemas.microsoft.com/office/drawing/2014/main" id="{FD8EB5E4-F231-45C9-ACD2-F1866CC5B182}"/>
              </a:ext>
            </a:extLst>
          </p:cNvPr>
          <p:cNvSpPr>
            <a:spLocks xmlns:a="http://schemas.openxmlformats.org/drawingml/2006/main" noGrp="1"/>
          </p:cNvSpPr>
          <p:nvPr/>
        </p:nvSpPr>
        <p:spPr>
          <a:xfrm xmlns:a="http://schemas.openxmlformats.org/drawingml/2006/main">
            <a:off x="8858250" y="3048000"/>
            <a:ext cx="5048250" cy="1952625"/>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PostgreSQL</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postgres:17-alpine</a:t>
            </a:r>
            <a:br>
              <a:rPr sz="2025">
                <a:solidFill>
                  <a:srgbClr val="FFFFFF"/>
                </a:solidFill>
                <a:latin typeface="Arial"/>
                <a:ea typeface="Arial"/>
                <a:cs typeface="Arial"/>
              </a:rPr>
            </a:br>
            <a:r>
              <a:rPr sz="2025">
                <a:solidFill>
                  <a:srgbClr val="FFFFFF"/>
                </a:solidFill>
                <a:latin typeface="Arial"/>
                <a:ea typeface="Arial"/>
                <a:cs typeface="Arial"/>
              </a:rPr>
              <a:t>Host internal: db:5432</a:t>
            </a:r>
          </a:p>
        </p:txBody>
      </p:sp>
      <p:sp>
        <p:nvSpPr>
          <p:cNvPr id="7" name="diagram-node-324">
            <a:extLst xmlns:a="http://schemas.openxmlformats.org/drawingml/2006/main">
              <a:ext uri="{FF2B5EF4-FFF2-40B4-BE49-F238E27FC236}">
                <a16:creationId xmlns:a16="http://schemas.microsoft.com/office/drawing/2014/main" id="{6A9EBAF1-9119-483E-AC4A-283597A872AD}"/>
              </a:ext>
            </a:extLst>
          </p:cNvPr>
          <p:cNvSpPr>
            <a:spLocks xmlns:a="http://schemas.openxmlformats.org/drawingml/2006/main" noGrp="1"/>
          </p:cNvSpPr>
          <p:nvPr/>
        </p:nvSpPr>
        <p:spPr>
          <a:xfrm xmlns:a="http://schemas.openxmlformats.org/drawingml/2006/main">
            <a:off x="8858250" y="6286500"/>
            <a:ext cx="5048250" cy="1143000"/>
          </a:xfrm>
          <a:prstGeom xmlns:a="http://schemas.openxmlformats.org/drawingml/2006/main" prst="rect">
            <a:avLst/>
          </a:prstGeom>
          <a:solidFill xmlns:a="http://schemas.openxmlformats.org/drawingml/2006/main">
            <a:srgbClr val="1E293B"/>
          </a:solidFill>
          <a:ln xmlns:a="http://schemas.openxmlformats.org/drawingml/2006/main" w="19050">
            <a:solidFill>
              <a:srgbClr val="38BDF8"/>
            </a:solidFill>
          </a:ln>
        </p:spPr>
        <p:txBody>
          <a:bodyPr xmlns:a="http://schemas.openxmlformats.org/drawingml/2006/main" wrap="square" lIns="228600" tIns="228600" rIns="228600" bIns="228600" anchor="ctr">
            <a:noAutofit/>
          </a:bodyPr>
          <a:lstStyle xmlns:a="http://schemas.openxmlformats.org/drawingml/2006/main">
            <a:defPPr algn="ctr">
              <a:defRPr sz="2025">
                <a:solidFill>
                  <a:srgbClr val="FFFFFF"/>
                </a:solidFill>
                <a:latin typeface="Arial"/>
                <a:ea typeface="Arial"/>
                <a:cs typeface="Arial"/>
              </a:defRPr>
            </a:defPPr>
            <a:lvl1pPr algn="ctr">
              <a:defRPr sz="2025">
                <a:solidFill>
                  <a:srgbClr val="FFFFFF"/>
                </a:solidFill>
                <a:latin typeface="Arial"/>
                <a:ea typeface="Arial"/>
                <a:cs typeface="Arial"/>
              </a:defRPr>
            </a:lvl1pPr>
            <a:lvl2pPr algn="ctr">
              <a:defRPr sz="2025">
                <a:solidFill>
                  <a:srgbClr val="FFFFFF"/>
                </a:solidFill>
                <a:latin typeface="Arial"/>
                <a:ea typeface="Arial"/>
                <a:cs typeface="Arial"/>
              </a:defRPr>
            </a:lvl2pPr>
            <a:lvl3pPr algn="ctr">
              <a:defRPr sz="2025">
                <a:solidFill>
                  <a:srgbClr val="FFFFFF"/>
                </a:solidFill>
                <a:latin typeface="Arial"/>
                <a:ea typeface="Arial"/>
                <a:cs typeface="Arial"/>
              </a:defRPr>
            </a:lvl3pPr>
            <a:lvl4pPr algn="ctr">
              <a:defRPr sz="2025">
                <a:solidFill>
                  <a:srgbClr val="FFFFFF"/>
                </a:solidFill>
                <a:latin typeface="Arial"/>
                <a:ea typeface="Arial"/>
                <a:cs typeface="Arial"/>
              </a:defRPr>
            </a:lvl4pPr>
            <a:lvl5pPr algn="ctr">
              <a:defRPr sz="2025">
                <a:solidFill>
                  <a:srgbClr val="FFFFFF"/>
                </a:solidFill>
                <a:latin typeface="Arial"/>
                <a:ea typeface="Arial"/>
                <a:cs typeface="Arial"/>
              </a:defRPr>
            </a:lvl5pPr>
            <a:lvl6pPr algn="ctr">
              <a:defRPr sz="2025">
                <a:solidFill>
                  <a:srgbClr val="FFFFFF"/>
                </a:solidFill>
                <a:latin typeface="Arial"/>
                <a:ea typeface="Arial"/>
                <a:cs typeface="Arial"/>
              </a:defRPr>
            </a:lvl6pPr>
            <a:lvl7pPr algn="ctr">
              <a:defRPr sz="2025">
                <a:solidFill>
                  <a:srgbClr val="FFFFFF"/>
                </a:solidFill>
                <a:latin typeface="Arial"/>
                <a:ea typeface="Arial"/>
                <a:cs typeface="Arial"/>
              </a:defRPr>
            </a:lvl7pPr>
            <a:lvl8pPr algn="ctr">
              <a:defRPr sz="2025">
                <a:solidFill>
                  <a:srgbClr val="FFFFFF"/>
                </a:solidFill>
                <a:latin typeface="Arial"/>
                <a:ea typeface="Arial"/>
                <a:cs typeface="Arial"/>
              </a:defRPr>
            </a:lvl8pPr>
            <a:lvl9pPr algn="ctr">
              <a:defRPr sz="2025">
                <a:solidFill>
                  <a:srgbClr val="FFFFFF"/>
                </a:solidFill>
                <a:latin typeface="Arial"/>
                <a:ea typeface="Arial"/>
                <a:cs typeface="Arial"/>
              </a:defRPr>
            </a:lvl9pPr>
          </a:lstStyle>
          <a:p xmlns:a="http://schemas.openxmlformats.org/drawingml/2006/main">
            <a:pPr algn="ctr">
              <a:spcAft>
                <a:spcPts val="1000"/>
              </a:spcAft>
              <a:defRPr sz="2025">
                <a:solidFill>
                  <a:srgbClr val="FFFFFF"/>
                </a:solidFill>
                <a:latin typeface="Arial"/>
                <a:ea typeface="Arial"/>
                <a:cs typeface="Arial"/>
              </a:defRPr>
            </a:pPr>
            <a:r>
              <a:rPr sz="2025" b="1">
                <a:solidFill>
                  <a:srgbClr val="FFFFFF"/>
                </a:solidFill>
                <a:latin typeface="Arial"/>
                <a:ea typeface="Arial"/>
                <a:cs typeface="Arial"/>
              </a:rPr>
              <a:t>postgres_data</a:t>
            </a:r>
          </a:p>
          <a:p xmlns:a="http://schemas.openxmlformats.org/drawingml/2006/main">
            <a:pPr algn="ctr">
              <a:defRPr sz="2025">
                <a:solidFill>
                  <a:srgbClr val="FFFFFF"/>
                </a:solidFill>
                <a:latin typeface="Arial"/>
                <a:ea typeface="Arial"/>
                <a:cs typeface="Arial"/>
              </a:defRPr>
            </a:pPr>
            <a:r>
              <a:rPr sz="2025">
                <a:solidFill>
                  <a:srgbClr val="FFFFFF"/>
                </a:solidFill>
                <a:latin typeface="Arial"/>
                <a:ea typeface="Arial"/>
                <a:cs typeface="Arial"/>
              </a:rPr>
              <a:t>Volume riwayat database</a:t>
            </a:r>
          </a:p>
        </p:txBody>
      </p:sp>
      <p:sp>
        <p:nvSpPr>
          <p:cNvPr id="9" name="text-325">
            <a:extLst xmlns:a="http://schemas.openxmlformats.org/drawingml/2006/main">
              <a:ext uri="{FF2B5EF4-FFF2-40B4-BE49-F238E27FC236}">
                <a16:creationId xmlns:a16="http://schemas.microsoft.com/office/drawing/2014/main" id="{BBD475D4-5075-48D4-9752-2B43E3DA3753}"/>
              </a:ext>
            </a:extLst>
          </p:cNvPr>
          <p:cNvSpPr>
            <a:spLocks xmlns:a="http://schemas.openxmlformats.org/drawingml/2006/main" noGrp="1"/>
          </p:cNvSpPr>
          <p:nvPr/>
        </p:nvSpPr>
        <p:spPr>
          <a:xfrm xmlns:a="http://schemas.openxmlformats.org/drawingml/2006/main">
            <a:off x="1143000" y="5667375"/>
            <a:ext cx="657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8BDF8"/>
                </a:solidFill>
                <a:latin typeface="Arial"/>
                <a:ea typeface="Arial"/>
                <a:cs typeface="Arial"/>
              </a:defRPr>
            </a:defPPr>
            <a:lvl1pPr algn="l">
              <a:defRPr sz="2250" b="1">
                <a:solidFill>
                  <a:srgbClr val="38BDF8"/>
                </a:solidFill>
                <a:latin typeface="Arial"/>
                <a:ea typeface="Arial"/>
                <a:cs typeface="Arial"/>
              </a:defRPr>
            </a:lvl1pPr>
            <a:lvl2pPr algn="l">
              <a:defRPr sz="2250" b="1">
                <a:solidFill>
                  <a:srgbClr val="38BDF8"/>
                </a:solidFill>
                <a:latin typeface="Arial"/>
                <a:ea typeface="Arial"/>
                <a:cs typeface="Arial"/>
              </a:defRPr>
            </a:lvl2pPr>
            <a:lvl3pPr algn="l">
              <a:defRPr sz="2250" b="1">
                <a:solidFill>
                  <a:srgbClr val="38BDF8"/>
                </a:solidFill>
                <a:latin typeface="Arial"/>
                <a:ea typeface="Arial"/>
                <a:cs typeface="Arial"/>
              </a:defRPr>
            </a:lvl3pPr>
            <a:lvl4pPr algn="l">
              <a:defRPr sz="2250" b="1">
                <a:solidFill>
                  <a:srgbClr val="38BDF8"/>
                </a:solidFill>
                <a:latin typeface="Arial"/>
                <a:ea typeface="Arial"/>
                <a:cs typeface="Arial"/>
              </a:defRPr>
            </a:lvl4pPr>
            <a:lvl5pPr algn="l">
              <a:defRPr sz="2250" b="1">
                <a:solidFill>
                  <a:srgbClr val="38BDF8"/>
                </a:solidFill>
                <a:latin typeface="Arial"/>
                <a:ea typeface="Arial"/>
                <a:cs typeface="Arial"/>
              </a:defRPr>
            </a:lvl5pPr>
            <a:lvl6pPr algn="l">
              <a:defRPr sz="2250" b="1">
                <a:solidFill>
                  <a:srgbClr val="38BDF8"/>
                </a:solidFill>
                <a:latin typeface="Arial"/>
                <a:ea typeface="Arial"/>
                <a:cs typeface="Arial"/>
              </a:defRPr>
            </a:lvl6pPr>
            <a:lvl7pPr algn="l">
              <a:defRPr sz="2250" b="1">
                <a:solidFill>
                  <a:srgbClr val="38BDF8"/>
                </a:solidFill>
                <a:latin typeface="Arial"/>
                <a:ea typeface="Arial"/>
                <a:cs typeface="Arial"/>
              </a:defRPr>
            </a:lvl7pPr>
            <a:lvl8pPr algn="l">
              <a:defRPr sz="2250" b="1">
                <a:solidFill>
                  <a:srgbClr val="38BDF8"/>
                </a:solidFill>
                <a:latin typeface="Arial"/>
                <a:ea typeface="Arial"/>
                <a:cs typeface="Arial"/>
              </a:defRPr>
            </a:lvl8pPr>
            <a:lvl9pPr algn="l">
              <a:defRPr sz="2250" b="1">
                <a:solidFill>
                  <a:srgbClr val="38BDF8"/>
                </a:solidFill>
                <a:latin typeface="Arial"/>
                <a:ea typeface="Arial"/>
                <a:cs typeface="Arial"/>
              </a:defRPr>
            </a:lvl9pPr>
          </a:lstStyle>
          <a:p xmlns:a="http://schemas.openxmlformats.org/drawingml/2006/main">
            <a:pPr algn="l">
              <a:defRPr sz="2250" b="1">
                <a:solidFill>
                  <a:srgbClr val="38BDF8"/>
                </a:solidFill>
                <a:latin typeface="Arial"/>
                <a:ea typeface="Arial"/>
                <a:cs typeface="Arial"/>
              </a:defRPr>
            </a:pPr>
            <a:r>
              <a:rPr sz="2250" b="1">
                <a:solidFill>
                  <a:srgbClr val="38BDF8"/>
                </a:solidFill>
                <a:latin typeface="Arial"/>
                <a:ea typeface="Arial"/>
                <a:cs typeface="Arial"/>
              </a:rPr>
              <a:t>API menunggu healthcheck database sebelum mulai.</a:t>
            </a:r>
          </a:p>
        </p:txBody>
      </p:sp>
      <p:sp>
        <p:nvSpPr>
          <p:cNvPr id="10" name="text-326">
            <a:extLst xmlns:a="http://schemas.openxmlformats.org/drawingml/2006/main">
              <a:ext uri="{FF2B5EF4-FFF2-40B4-BE49-F238E27FC236}">
                <a16:creationId xmlns:a16="http://schemas.microsoft.com/office/drawing/2014/main" id="{88BC2E80-6D50-4084-8994-E62E4BBAB2A4}"/>
              </a:ext>
            </a:extLst>
          </p:cNvPr>
          <p:cNvSpPr>
            <a:spLocks xmlns:a="http://schemas.openxmlformats.org/drawingml/2006/main" noGrp="1"/>
          </p:cNvSpPr>
          <p:nvPr/>
        </p:nvSpPr>
        <p:spPr>
          <a:xfrm xmlns:a="http://schemas.openxmlformats.org/drawingml/2006/main">
            <a:off x="1143000" y="67056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Android emulator: 10.0.2.2:8080</a:t>
            </a:r>
          </a:p>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iOS simulator: localhost:8080</a:t>
            </a:r>
          </a:p>
        </p:txBody>
      </p:sp>
    </p:spTree>
    <p:extLst>
      <p:ext uri="{BB962C8B-B14F-4D97-AF65-F5344CB8AC3E}">
        <p14:creationId xmlns:p14="http://schemas.microsoft.com/office/powerpoint/2010/main" val="704246654"/>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text-327">
            <a:extLst xmlns:a="http://schemas.openxmlformats.org/drawingml/2006/main">
              <a:ext uri="{FF2B5EF4-FFF2-40B4-BE49-F238E27FC236}">
                <a16:creationId xmlns:a16="http://schemas.microsoft.com/office/drawing/2014/main" id="{8D9F576F-246A-47D8-941C-034A462E9F34}"/>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F172A"/>
                </a:solidFill>
                <a:latin typeface="Arial"/>
                <a:ea typeface="Arial"/>
                <a:cs typeface="Arial"/>
              </a:defRPr>
            </a:defPPr>
            <a:lvl1pPr algn="l">
              <a:defRPr sz="3900" b="1">
                <a:solidFill>
                  <a:srgbClr val="0F172A"/>
                </a:solidFill>
                <a:latin typeface="Arial"/>
                <a:ea typeface="Arial"/>
                <a:cs typeface="Arial"/>
              </a:defRPr>
            </a:lvl1pPr>
            <a:lvl2pPr algn="l">
              <a:defRPr sz="3900" b="1">
                <a:solidFill>
                  <a:srgbClr val="0F172A"/>
                </a:solidFill>
                <a:latin typeface="Arial"/>
                <a:ea typeface="Arial"/>
                <a:cs typeface="Arial"/>
              </a:defRPr>
            </a:lvl2pPr>
            <a:lvl3pPr algn="l">
              <a:defRPr sz="3900" b="1">
                <a:solidFill>
                  <a:srgbClr val="0F172A"/>
                </a:solidFill>
                <a:latin typeface="Arial"/>
                <a:ea typeface="Arial"/>
                <a:cs typeface="Arial"/>
              </a:defRPr>
            </a:lvl3pPr>
            <a:lvl4pPr algn="l">
              <a:defRPr sz="3900" b="1">
                <a:solidFill>
                  <a:srgbClr val="0F172A"/>
                </a:solidFill>
                <a:latin typeface="Arial"/>
                <a:ea typeface="Arial"/>
                <a:cs typeface="Arial"/>
              </a:defRPr>
            </a:lvl4pPr>
            <a:lvl5pPr algn="l">
              <a:defRPr sz="3900" b="1">
                <a:solidFill>
                  <a:srgbClr val="0F172A"/>
                </a:solidFill>
                <a:latin typeface="Arial"/>
                <a:ea typeface="Arial"/>
                <a:cs typeface="Arial"/>
              </a:defRPr>
            </a:lvl5pPr>
            <a:lvl6pPr algn="l">
              <a:defRPr sz="3900" b="1">
                <a:solidFill>
                  <a:srgbClr val="0F172A"/>
                </a:solidFill>
                <a:latin typeface="Arial"/>
                <a:ea typeface="Arial"/>
                <a:cs typeface="Arial"/>
              </a:defRPr>
            </a:lvl6pPr>
            <a:lvl7pPr algn="l">
              <a:defRPr sz="3900" b="1">
                <a:solidFill>
                  <a:srgbClr val="0F172A"/>
                </a:solidFill>
                <a:latin typeface="Arial"/>
                <a:ea typeface="Arial"/>
                <a:cs typeface="Arial"/>
              </a:defRPr>
            </a:lvl7pPr>
            <a:lvl8pPr algn="l">
              <a:defRPr sz="3900" b="1">
                <a:solidFill>
                  <a:srgbClr val="0F172A"/>
                </a:solidFill>
                <a:latin typeface="Arial"/>
                <a:ea typeface="Arial"/>
                <a:cs typeface="Arial"/>
              </a:defRPr>
            </a:lvl8pPr>
            <a:lvl9pPr algn="l">
              <a:defRPr sz="3900" b="1">
                <a:solidFill>
                  <a:srgbClr val="0F172A"/>
                </a:solidFill>
                <a:latin typeface="Arial"/>
                <a:ea typeface="Arial"/>
                <a:cs typeface="Arial"/>
              </a:defRPr>
            </a:lvl9pPr>
          </a:lstStyle>
          <a:p xmlns:a="http://schemas.openxmlformats.org/drawingml/2006/main">
            <a:pPr algn="l">
              <a:defRPr sz="3900" b="1">
                <a:solidFill>
                  <a:srgbClr val="0F172A"/>
                </a:solidFill>
                <a:latin typeface="Arial"/>
                <a:ea typeface="Arial"/>
                <a:cs typeface="Arial"/>
              </a:defRPr>
            </a:pPr>
            <a:r>
              <a:rPr sz="3900" b="1">
                <a:solidFill>
                  <a:srgbClr val="0F172A"/>
                </a:solidFill>
                <a:latin typeface="Arial"/>
                <a:ea typeface="Arial"/>
                <a:cs typeface="Arial"/>
              </a:rPr>
              <a:t>Strategi verifikasi dan skenario gagal</a:t>
            </a:r>
          </a:p>
        </p:txBody>
      </p:sp>
      <p:sp>
        <p:nvSpPr>
          <p:cNvPr id="2" name="text-328">
            <a:extLst xmlns:a="http://schemas.openxmlformats.org/drawingml/2006/main">
              <a:ext uri="{FF2B5EF4-FFF2-40B4-BE49-F238E27FC236}">
                <a16:creationId xmlns:a16="http://schemas.microsoft.com/office/drawing/2014/main" id="{894C6584-8CA5-4F68-B5B0-AFB2BEFED585}"/>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75569"/>
                </a:solidFill>
                <a:latin typeface="Arial"/>
                <a:ea typeface="Arial"/>
                <a:cs typeface="Arial"/>
              </a:defRPr>
            </a:defPPr>
            <a:lvl1pPr algn="l">
              <a:defRPr sz="2175" b="0">
                <a:solidFill>
                  <a:srgbClr val="475569"/>
                </a:solidFill>
                <a:latin typeface="Arial"/>
                <a:ea typeface="Arial"/>
                <a:cs typeface="Arial"/>
              </a:defRPr>
            </a:lvl1pPr>
            <a:lvl2pPr algn="l">
              <a:defRPr sz="2175" b="0">
                <a:solidFill>
                  <a:srgbClr val="475569"/>
                </a:solidFill>
                <a:latin typeface="Arial"/>
                <a:ea typeface="Arial"/>
                <a:cs typeface="Arial"/>
              </a:defRPr>
            </a:lvl2pPr>
            <a:lvl3pPr algn="l">
              <a:defRPr sz="2175" b="0">
                <a:solidFill>
                  <a:srgbClr val="475569"/>
                </a:solidFill>
                <a:latin typeface="Arial"/>
                <a:ea typeface="Arial"/>
                <a:cs typeface="Arial"/>
              </a:defRPr>
            </a:lvl3pPr>
            <a:lvl4pPr algn="l">
              <a:defRPr sz="2175" b="0">
                <a:solidFill>
                  <a:srgbClr val="475569"/>
                </a:solidFill>
                <a:latin typeface="Arial"/>
                <a:ea typeface="Arial"/>
                <a:cs typeface="Arial"/>
              </a:defRPr>
            </a:lvl4pPr>
            <a:lvl5pPr algn="l">
              <a:defRPr sz="2175" b="0">
                <a:solidFill>
                  <a:srgbClr val="475569"/>
                </a:solidFill>
                <a:latin typeface="Arial"/>
                <a:ea typeface="Arial"/>
                <a:cs typeface="Arial"/>
              </a:defRPr>
            </a:lvl5pPr>
            <a:lvl6pPr algn="l">
              <a:defRPr sz="2175" b="0">
                <a:solidFill>
                  <a:srgbClr val="475569"/>
                </a:solidFill>
                <a:latin typeface="Arial"/>
                <a:ea typeface="Arial"/>
                <a:cs typeface="Arial"/>
              </a:defRPr>
            </a:lvl6pPr>
            <a:lvl7pPr algn="l">
              <a:defRPr sz="2175" b="0">
                <a:solidFill>
                  <a:srgbClr val="475569"/>
                </a:solidFill>
                <a:latin typeface="Arial"/>
                <a:ea typeface="Arial"/>
                <a:cs typeface="Arial"/>
              </a:defRPr>
            </a:lvl7pPr>
            <a:lvl8pPr algn="l">
              <a:defRPr sz="2175" b="0">
                <a:solidFill>
                  <a:srgbClr val="475569"/>
                </a:solidFill>
                <a:latin typeface="Arial"/>
                <a:ea typeface="Arial"/>
                <a:cs typeface="Arial"/>
              </a:defRPr>
            </a:lvl8pPr>
            <a:lvl9pPr algn="l">
              <a:defRPr sz="2175" b="0">
                <a:solidFill>
                  <a:srgbClr val="475569"/>
                </a:solidFill>
                <a:latin typeface="Arial"/>
                <a:ea typeface="Arial"/>
                <a:cs typeface="Arial"/>
              </a:defRPr>
            </a:lvl9pPr>
          </a:lstStyle>
          <a:p xmlns:a="http://schemas.openxmlformats.org/drawingml/2006/main">
            <a:pPr algn="l">
              <a:defRPr sz="2175" b="0">
                <a:solidFill>
                  <a:srgbClr val="475569"/>
                </a:solidFill>
                <a:latin typeface="Arial"/>
                <a:ea typeface="Arial"/>
                <a:cs typeface="Arial"/>
              </a:defRPr>
            </a:pPr>
            <a:r>
              <a:rPr sz="2175" b="0">
                <a:solidFill>
                  <a:srgbClr val="475569"/>
                </a:solidFill>
                <a:latin typeface="Arial"/>
                <a:ea typeface="Arial"/>
                <a:cs typeface="Arial"/>
              </a:rPr>
              <a:t>Pemeriksaan yang baik menguji aturan serta interaksi antarkomponen.</a:t>
            </a:r>
          </a:p>
        </p:txBody>
      </p:sp>
      <p:sp>
        <p:nvSpPr>
          <p:cNvPr id="3" name="text-329">
            <a:extLst xmlns:a="http://schemas.openxmlformats.org/drawingml/2006/main">
              <a:ext uri="{FF2B5EF4-FFF2-40B4-BE49-F238E27FC236}">
                <a16:creationId xmlns:a16="http://schemas.microsoft.com/office/drawing/2014/main" id="{A830DA30-9D22-4904-9ADA-1991DDCA04C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75569"/>
                </a:solidFill>
                <a:latin typeface="Arial"/>
                <a:ea typeface="Arial"/>
                <a:cs typeface="Arial"/>
              </a:defRPr>
            </a:defPPr>
            <a:lvl1pPr algn="r">
              <a:defRPr sz="1500" b="0">
                <a:solidFill>
                  <a:srgbClr val="475569"/>
                </a:solidFill>
                <a:latin typeface="Arial"/>
                <a:ea typeface="Arial"/>
                <a:cs typeface="Arial"/>
              </a:defRPr>
            </a:lvl1pPr>
            <a:lvl2pPr algn="r">
              <a:defRPr sz="1500" b="0">
                <a:solidFill>
                  <a:srgbClr val="475569"/>
                </a:solidFill>
                <a:latin typeface="Arial"/>
                <a:ea typeface="Arial"/>
                <a:cs typeface="Arial"/>
              </a:defRPr>
            </a:lvl2pPr>
            <a:lvl3pPr algn="r">
              <a:defRPr sz="1500" b="0">
                <a:solidFill>
                  <a:srgbClr val="475569"/>
                </a:solidFill>
                <a:latin typeface="Arial"/>
                <a:ea typeface="Arial"/>
                <a:cs typeface="Arial"/>
              </a:defRPr>
            </a:lvl3pPr>
            <a:lvl4pPr algn="r">
              <a:defRPr sz="1500" b="0">
                <a:solidFill>
                  <a:srgbClr val="475569"/>
                </a:solidFill>
                <a:latin typeface="Arial"/>
                <a:ea typeface="Arial"/>
                <a:cs typeface="Arial"/>
              </a:defRPr>
            </a:lvl4pPr>
            <a:lvl5pPr algn="r">
              <a:defRPr sz="1500" b="0">
                <a:solidFill>
                  <a:srgbClr val="475569"/>
                </a:solidFill>
                <a:latin typeface="Arial"/>
                <a:ea typeface="Arial"/>
                <a:cs typeface="Arial"/>
              </a:defRPr>
            </a:lvl5pPr>
            <a:lvl6pPr algn="r">
              <a:defRPr sz="1500" b="0">
                <a:solidFill>
                  <a:srgbClr val="475569"/>
                </a:solidFill>
                <a:latin typeface="Arial"/>
                <a:ea typeface="Arial"/>
                <a:cs typeface="Arial"/>
              </a:defRPr>
            </a:lvl6pPr>
            <a:lvl7pPr algn="r">
              <a:defRPr sz="1500" b="0">
                <a:solidFill>
                  <a:srgbClr val="475569"/>
                </a:solidFill>
                <a:latin typeface="Arial"/>
                <a:ea typeface="Arial"/>
                <a:cs typeface="Arial"/>
              </a:defRPr>
            </a:lvl7pPr>
            <a:lvl8pPr algn="r">
              <a:defRPr sz="1500" b="0">
                <a:solidFill>
                  <a:srgbClr val="475569"/>
                </a:solidFill>
                <a:latin typeface="Arial"/>
                <a:ea typeface="Arial"/>
                <a:cs typeface="Arial"/>
              </a:defRPr>
            </a:lvl8pPr>
            <a:lvl9pPr algn="r">
              <a:defRPr sz="1500" b="0">
                <a:solidFill>
                  <a:srgbClr val="475569"/>
                </a:solidFill>
                <a:latin typeface="Arial"/>
                <a:ea typeface="Arial"/>
                <a:cs typeface="Arial"/>
              </a:defRPr>
            </a:lvl9pPr>
          </a:lstStyle>
          <a:p xmlns:a="http://schemas.openxmlformats.org/drawingml/2006/main">
            <a:pPr algn="r">
              <a:defRPr sz="1500" b="0">
                <a:solidFill>
                  <a:srgbClr val="475569"/>
                </a:solidFill>
                <a:latin typeface="Arial"/>
                <a:ea typeface="Arial"/>
                <a:cs typeface="Arial"/>
              </a:defRPr>
            </a:pPr>
            <a:r>
              <a:rPr sz="1500" b="0">
                <a:solidFill>
                  <a:srgbClr val="475569"/>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CC73EAFF-17AA-4A0B-9100-B99B9EE35BD1}"/>
              </a:ext>
            </a:extLst>
          </p:cNvPr>
          <p:cNvGraphicFramePr/>
          <p:nvPr/>
        </p:nvGraphicFramePr>
        <p:xfrm>
          <a:off xmlns:a="http://schemas.openxmlformats.org/drawingml/2006/main" x="914400" y="2524125"/>
          <a:ext xmlns:a="http://schemas.openxmlformats.org/drawingml/2006/main" cx="13411200" cy="4686300"/>
        </p:xfrm>
        <a:graphic xmlns:a="http://schemas.openxmlformats.org/drawingml/2006/main">
          <a:graphicData uri="http://schemas.openxmlformats.org/drawingml/2006/table">
            <a:tbl>
              <a:tblPr firstRow="0" bandRow="0"/>
              <a:tblGrid>
                <a:gridCol w="3333750"/>
                <a:gridCol w="6096000"/>
                <a:gridCol w="3981450"/>
              </a:tblGrid>
              <a:tr h="781050">
                <a:tc>
                  <a:txBody>
                    <a:bodyPr wrap="square" lIns="152400" tIns="152400" rIns="152400" bIns="152400">
                      <a:noAutofit/>
                    </a:bodyPr>
                    <a:lstStyle/>
                    <a:p>
                      <a:pPr algn="l"/>
                      <a:r>
                        <a:rPr sz="1875" b="1">
                          <a:solidFill>
                            <a:srgbClr val="FFFFFF"/>
                          </a:solidFill>
                          <a:latin typeface="Arial"/>
                          <a:ea typeface="Arial"/>
                          <a:cs typeface="Arial"/>
                        </a:rPr>
                        <a:t>Lapisan</a:t>
                      </a:r>
                    </a:p>
                  </a:txBody>
                  <a:tcPr marL="91440" marR="91440" marT="45720" marB="45720" anchor="ctr">
                    <a:lnL w="9525">
                      <a:solidFill>
                        <a:srgbClr val="D8E1EA"/>
                      </a:solidFill>
                      <a:prstDash val="solid"/>
                    </a:lnL>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Skenario utama</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c>
                  <a:txBody>
                    <a:bodyPr wrap="square" lIns="152400" tIns="152400" rIns="152400" bIns="152400">
                      <a:noAutofit/>
                    </a:bodyPr>
                    <a:lstStyle/>
                    <a:p>
                      <a:pPr algn="l"/>
                      <a:r>
                        <a:rPr sz="1875" b="1">
                          <a:solidFill>
                            <a:srgbClr val="FFFFFF"/>
                          </a:solidFill>
                          <a:latin typeface="Arial"/>
                          <a:ea typeface="Arial"/>
                          <a:cs typeface="Arial"/>
                        </a:rPr>
                        <a:t>Hal yang dibuktikan</a:t>
                      </a:r>
                    </a:p>
                  </a:txBody>
                  <a:tcPr marL="91440" marR="91440" marT="45720" marB="45720" anchor="ctr">
                    <a:lnR w="9525">
                      <a:solidFill>
                        <a:srgbClr val="D8E1EA"/>
                      </a:solidFill>
                      <a:prstDash val="solid"/>
                    </a:lnR>
                    <a:lnT w="9525">
                      <a:solidFill>
                        <a:srgbClr val="D8E1EA"/>
                      </a:solidFill>
                      <a:prstDash val="solid"/>
                    </a:lnT>
                    <a:lnB w="9525">
                      <a:solidFill>
                        <a:srgbClr val="D8E1EA"/>
                      </a:solidFill>
                      <a:prstDash val="solid"/>
                    </a:lnB>
                    <a:solidFill>
                      <a:srgbClr val="0284C7"/>
                    </a:solidFill>
                  </a:tcPr>
                </a:tc>
              </a:tr>
              <a:tr h="781050">
                <a:tc>
                  <a:txBody>
                    <a:bodyPr wrap="square" lIns="152400" tIns="152400" rIns="152400" bIns="152400">
                      <a:noAutofit/>
                    </a:bodyPr>
                    <a:lstStyle/>
                    <a:p>
                      <a:pPr algn="l"/>
                      <a:r>
                        <a:rPr sz="1875" b="1">
                          <a:solidFill>
                            <a:srgbClr val="0F172A"/>
                          </a:solidFill>
                          <a:latin typeface="Arial"/>
                          <a:ea typeface="Arial"/>
                          <a:cs typeface="Arial"/>
                        </a:rPr>
                        <a:t>Backend dengan PostgreSQL</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Sesi, akses, retry identik, balasan lintas chat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Kontrak dan integritas penyimpanan</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Flutter widget</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Validasi form, composer, error API, layar sempit</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Perilaku interaksi dan tata letak</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Android end-to-end</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Login, dua pengguna, pesan, media, reaksi</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Integrasi aplikasi asli dengan API</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r h="781050">
                <a:tc>
                  <a:txBody>
                    <a:bodyPr wrap="square" lIns="152400" tIns="152400" rIns="152400" bIns="152400">
                      <a:noAutofit/>
                    </a:bodyPr>
                    <a:lstStyle/>
                    <a:p>
                      <a:pPr algn="l"/>
                      <a:r>
                        <a:rPr sz="1875" b="1">
                          <a:solidFill>
                            <a:srgbClr val="0F172A"/>
                          </a:solidFill>
                          <a:latin typeface="Arial"/>
                          <a:ea typeface="Arial"/>
                          <a:cs typeface="Arial"/>
                        </a:rPr>
                        <a:t>Kegagalan jaringan</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Respons hilang, reconnect, event ganda</a:t>
                      </a:r>
                    </a:p>
                  </a:txBody>
                  <a:tcPr marL="91440" marR="91440" marT="45720" marB="45720" anchor="ctr">
                    <a:lnR w="9525">
                      <a:solidFill>
                        <a:srgbClr val="D8E1EA"/>
                      </a:solidFill>
                      <a:prstDash val="solid"/>
                    </a:lnR>
                    <a:lnB w="9525">
                      <a:solidFill>
                        <a:srgbClr val="D8E1EA"/>
                      </a:solidFill>
                      <a:prstDash val="solid"/>
                    </a:lnB>
                    <a:solidFill>
                      <a:srgbClr val="EFF5FA"/>
                    </a:solidFill>
                  </a:tcPr>
                </a:tc>
                <a:tc>
                  <a:txBody>
                    <a:bodyPr wrap="square" lIns="152400" tIns="152400" rIns="152400" bIns="152400">
                      <a:noAutofit/>
                    </a:bodyPr>
                    <a:lstStyle/>
                    <a:p>
                      <a:pPr algn="l"/>
                      <a:r>
                        <a:rPr sz="1875" b="0">
                          <a:solidFill>
                            <a:srgbClr val="0F172A"/>
                          </a:solidFill>
                          <a:latin typeface="Arial"/>
                          <a:ea typeface="Arial"/>
                          <a:cs typeface="Arial"/>
                        </a:rPr>
                        <a:t>Pemulihan dan deduplikasi pesan</a:t>
                      </a:r>
                    </a:p>
                  </a:txBody>
                  <a:tcPr marL="91440" marR="91440" marT="45720" marB="45720" anchor="ctr">
                    <a:lnR w="9525">
                      <a:solidFill>
                        <a:srgbClr val="D8E1EA"/>
                      </a:solidFill>
                      <a:prstDash val="solid"/>
                    </a:lnR>
                    <a:lnB w="9525">
                      <a:solidFill>
                        <a:srgbClr val="D8E1EA"/>
                      </a:solidFill>
                      <a:prstDash val="solid"/>
                    </a:lnB>
                    <a:solidFill>
                      <a:srgbClr val="EFF5FA"/>
                    </a:solidFill>
                  </a:tcPr>
                </a:tc>
              </a:tr>
              <a:tr h="781050">
                <a:tc>
                  <a:txBody>
                    <a:bodyPr wrap="square" lIns="152400" tIns="152400" rIns="152400" bIns="152400">
                      <a:noAutofit/>
                    </a:bodyPr>
                    <a:lstStyle/>
                    <a:p>
                      <a:pPr algn="l"/>
                      <a:r>
                        <a:rPr sz="1875" b="1">
                          <a:solidFill>
                            <a:srgbClr val="0F172A"/>
                          </a:solidFill>
                          <a:latin typeface="Arial"/>
                          <a:ea typeface="Arial"/>
                          <a:cs typeface="Arial"/>
                        </a:rPr>
                        <a:t>Build dan CI</a:t>
                      </a:r>
                    </a:p>
                  </a:txBody>
                  <a:tcPr marL="91440" marR="91440" marT="45720" marB="45720" anchor="ctr">
                    <a:lnL w="9525">
                      <a:solidFill>
                        <a:srgbClr val="D8E1EA"/>
                      </a:solidFill>
                      <a:prstDash val="solid"/>
                    </a:lnL>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Workflow tersedia untuk push dan pull request</a:t>
                      </a:r>
                    </a:p>
                  </a:txBody>
                  <a:tcPr marL="91440" marR="91440" marT="45720" marB="45720" anchor="ctr">
                    <a:lnR w="9525">
                      <a:solidFill>
                        <a:srgbClr val="D8E1EA"/>
                      </a:solidFill>
                      <a:prstDash val="solid"/>
                    </a:lnR>
                    <a:lnB w="9525">
                      <a:solidFill>
                        <a:srgbClr val="D8E1EA"/>
                      </a:solidFill>
                      <a:prstDash val="solid"/>
                    </a:lnB>
                    <a:solidFill>
                      <a:srgbClr val="FFFFFF"/>
                    </a:solidFill>
                  </a:tcPr>
                </a:tc>
                <a:tc>
                  <a:txBody>
                    <a:bodyPr wrap="square" lIns="152400" tIns="152400" rIns="152400" bIns="152400">
                      <a:noAutofit/>
                    </a:bodyPr>
                    <a:lstStyle/>
                    <a:p>
                      <a:pPr algn="l"/>
                      <a:r>
                        <a:rPr sz="1875" b="0">
                          <a:solidFill>
                            <a:srgbClr val="0F172A"/>
                          </a:solidFill>
                          <a:latin typeface="Arial"/>
                          <a:ea typeface="Arial"/>
                          <a:cs typeface="Arial"/>
                        </a:rPr>
                        <a:t>Pemeriksaan berulang pada perubahan kode</a:t>
                      </a:r>
                    </a:p>
                  </a:txBody>
                  <a:tcPr marL="91440" marR="91440" marT="45720" marB="45720" anchor="ctr">
                    <a:lnR w="9525">
                      <a:solidFill>
                        <a:srgbClr val="D8E1EA"/>
                      </a:solidFill>
                      <a:prstDash val="solid"/>
                    </a:lnR>
                    <a:lnB w="9525">
                      <a:solidFill>
                        <a:srgbClr val="D8E1EA"/>
                      </a:solidFill>
                      <a:prstDash val="solid"/>
                    </a:lnB>
                    <a:solidFill>
                      <a:srgbClr val="FFFFFF"/>
                    </a:solidFill>
                  </a:tcPr>
                </a:tc>
              </a:tr>
            </a:tbl>
          </a:graphicData>
        </a:graphic>
      </p:graphicFrame>
    </p:spTree>
    <p:extLst>
      <p:ext uri="{BB962C8B-B14F-4D97-AF65-F5344CB8AC3E}">
        <p14:creationId xmlns:p14="http://schemas.microsoft.com/office/powerpoint/2010/main" val="2001466421"/>
      </p:ext>
    </p:extLst>
  </p:cSld>
</p:sld>
</file>

<file path=ppt/slides/slide3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6" name="text-330">
            <a:extLst xmlns:a="http://schemas.openxmlformats.org/drawingml/2006/main">
              <a:ext uri="{FF2B5EF4-FFF2-40B4-BE49-F238E27FC236}">
                <a16:creationId xmlns:a16="http://schemas.microsoft.com/office/drawing/2014/main" id="{1B1B80E7-114C-4A95-9AA9-A44885DA68CD}"/>
              </a:ext>
            </a:extLst>
          </p:cNvPr>
          <p:cNvSpPr>
            <a:spLocks xmlns:a="http://schemas.openxmlformats.org/drawingml/2006/main" noGrp="1"/>
          </p:cNvSpPr>
          <p:nvPr/>
        </p:nvSpPr>
        <p:spPr>
          <a:xfrm xmlns:a="http://schemas.openxmlformats.org/drawingml/2006/main">
            <a:off x="914400" y="590550"/>
            <a:ext cx="13411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Latihan penelusuran dan pengembangan</a:t>
            </a:r>
          </a:p>
        </p:txBody>
      </p:sp>
      <p:sp>
        <p:nvSpPr>
          <p:cNvPr id="2" name="text-331">
            <a:extLst xmlns:a="http://schemas.openxmlformats.org/drawingml/2006/main">
              <a:ext uri="{FF2B5EF4-FFF2-40B4-BE49-F238E27FC236}">
                <a16:creationId xmlns:a16="http://schemas.microsoft.com/office/drawing/2014/main" id="{E5C7F614-2759-43FE-9C90-C31D42E65191}"/>
              </a:ext>
            </a:extLst>
          </p:cNvPr>
          <p:cNvSpPr>
            <a:spLocks xmlns:a="http://schemas.openxmlformats.org/drawingml/2006/main" noGrp="1"/>
          </p:cNvSpPr>
          <p:nvPr/>
        </p:nvSpPr>
        <p:spPr>
          <a:xfrm xmlns:a="http://schemas.openxmlformats.org/drawingml/2006/main">
            <a:off x="914400" y="1619250"/>
            <a:ext cx="13411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BD5E1"/>
                </a:solidFill>
                <a:latin typeface="Arial"/>
                <a:ea typeface="Arial"/>
                <a:cs typeface="Arial"/>
              </a:defRPr>
            </a:defPPr>
            <a:lvl1pPr algn="l">
              <a:defRPr sz="2175" b="0">
                <a:solidFill>
                  <a:srgbClr val="CBD5E1"/>
                </a:solidFill>
                <a:latin typeface="Arial"/>
                <a:ea typeface="Arial"/>
                <a:cs typeface="Arial"/>
              </a:defRPr>
            </a:lvl1pPr>
            <a:lvl2pPr algn="l">
              <a:defRPr sz="2175" b="0">
                <a:solidFill>
                  <a:srgbClr val="CBD5E1"/>
                </a:solidFill>
                <a:latin typeface="Arial"/>
                <a:ea typeface="Arial"/>
                <a:cs typeface="Arial"/>
              </a:defRPr>
            </a:lvl2pPr>
            <a:lvl3pPr algn="l">
              <a:defRPr sz="2175" b="0">
                <a:solidFill>
                  <a:srgbClr val="CBD5E1"/>
                </a:solidFill>
                <a:latin typeface="Arial"/>
                <a:ea typeface="Arial"/>
                <a:cs typeface="Arial"/>
              </a:defRPr>
            </a:lvl3pPr>
            <a:lvl4pPr algn="l">
              <a:defRPr sz="2175" b="0">
                <a:solidFill>
                  <a:srgbClr val="CBD5E1"/>
                </a:solidFill>
                <a:latin typeface="Arial"/>
                <a:ea typeface="Arial"/>
                <a:cs typeface="Arial"/>
              </a:defRPr>
            </a:lvl4pPr>
            <a:lvl5pPr algn="l">
              <a:defRPr sz="2175" b="0">
                <a:solidFill>
                  <a:srgbClr val="CBD5E1"/>
                </a:solidFill>
                <a:latin typeface="Arial"/>
                <a:ea typeface="Arial"/>
                <a:cs typeface="Arial"/>
              </a:defRPr>
            </a:lvl5pPr>
            <a:lvl6pPr algn="l">
              <a:defRPr sz="2175" b="0">
                <a:solidFill>
                  <a:srgbClr val="CBD5E1"/>
                </a:solidFill>
                <a:latin typeface="Arial"/>
                <a:ea typeface="Arial"/>
                <a:cs typeface="Arial"/>
              </a:defRPr>
            </a:lvl6pPr>
            <a:lvl7pPr algn="l">
              <a:defRPr sz="2175" b="0">
                <a:solidFill>
                  <a:srgbClr val="CBD5E1"/>
                </a:solidFill>
                <a:latin typeface="Arial"/>
                <a:ea typeface="Arial"/>
                <a:cs typeface="Arial"/>
              </a:defRPr>
            </a:lvl7pPr>
            <a:lvl8pPr algn="l">
              <a:defRPr sz="2175" b="0">
                <a:solidFill>
                  <a:srgbClr val="CBD5E1"/>
                </a:solidFill>
                <a:latin typeface="Arial"/>
                <a:ea typeface="Arial"/>
                <a:cs typeface="Arial"/>
              </a:defRPr>
            </a:lvl8pPr>
            <a:lvl9pPr algn="l">
              <a:defRPr sz="2175" b="0">
                <a:solidFill>
                  <a:srgbClr val="CBD5E1"/>
                </a:solidFill>
                <a:latin typeface="Arial"/>
                <a:ea typeface="Arial"/>
                <a:cs typeface="Arial"/>
              </a:defRPr>
            </a:lvl9pPr>
          </a:lstStyle>
          <a:p xmlns:a="http://schemas.openxmlformats.org/drawingml/2006/main">
            <a:pPr algn="l">
              <a:defRPr sz="2175" b="0">
                <a:solidFill>
                  <a:srgbClr val="CBD5E1"/>
                </a:solidFill>
                <a:latin typeface="Arial"/>
                <a:ea typeface="Arial"/>
                <a:cs typeface="Arial"/>
              </a:defRPr>
            </a:pPr>
            <a:r>
              <a:rPr sz="2175" b="0">
                <a:solidFill>
                  <a:srgbClr val="CBD5E1"/>
                </a:solidFill>
                <a:latin typeface="Arial"/>
                <a:ea typeface="Arial"/>
                <a:cs typeface="Arial"/>
              </a:rPr>
              <a:t>Mahasiswa menjelaskan mekanisme sebelum mengubah implementasinya.</a:t>
            </a:r>
          </a:p>
        </p:txBody>
      </p:sp>
      <p:sp>
        <p:nvSpPr>
          <p:cNvPr id="3" name="text-332">
            <a:extLst xmlns:a="http://schemas.openxmlformats.org/drawingml/2006/main">
              <a:ext uri="{FF2B5EF4-FFF2-40B4-BE49-F238E27FC236}">
                <a16:creationId xmlns:a16="http://schemas.microsoft.com/office/drawing/2014/main" id="{3032FDCF-C916-4790-B1F7-5975B1607AD0}"/>
              </a:ext>
            </a:extLst>
          </p:cNvPr>
          <p:cNvSpPr>
            <a:spLocks xmlns:a="http://schemas.openxmlformats.org/drawingml/2006/main" noGrp="1"/>
          </p:cNvSpPr>
          <p:nvPr/>
        </p:nvSpPr>
        <p:spPr>
          <a:xfrm xmlns:a="http://schemas.openxmlformats.org/drawingml/2006/main">
            <a:off x="13716000" y="80581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CBD5E1"/>
                </a:solidFill>
                <a:latin typeface="Arial"/>
                <a:ea typeface="Arial"/>
                <a:cs typeface="Arial"/>
              </a:defRPr>
            </a:defPPr>
            <a:lvl1pPr algn="r">
              <a:defRPr sz="1500" b="0">
                <a:solidFill>
                  <a:srgbClr val="CBD5E1"/>
                </a:solidFill>
                <a:latin typeface="Arial"/>
                <a:ea typeface="Arial"/>
                <a:cs typeface="Arial"/>
              </a:defRPr>
            </a:lvl1pPr>
            <a:lvl2pPr algn="r">
              <a:defRPr sz="1500" b="0">
                <a:solidFill>
                  <a:srgbClr val="CBD5E1"/>
                </a:solidFill>
                <a:latin typeface="Arial"/>
                <a:ea typeface="Arial"/>
                <a:cs typeface="Arial"/>
              </a:defRPr>
            </a:lvl2pPr>
            <a:lvl3pPr algn="r">
              <a:defRPr sz="1500" b="0">
                <a:solidFill>
                  <a:srgbClr val="CBD5E1"/>
                </a:solidFill>
                <a:latin typeface="Arial"/>
                <a:ea typeface="Arial"/>
                <a:cs typeface="Arial"/>
              </a:defRPr>
            </a:lvl3pPr>
            <a:lvl4pPr algn="r">
              <a:defRPr sz="1500" b="0">
                <a:solidFill>
                  <a:srgbClr val="CBD5E1"/>
                </a:solidFill>
                <a:latin typeface="Arial"/>
                <a:ea typeface="Arial"/>
                <a:cs typeface="Arial"/>
              </a:defRPr>
            </a:lvl4pPr>
            <a:lvl5pPr algn="r">
              <a:defRPr sz="1500" b="0">
                <a:solidFill>
                  <a:srgbClr val="CBD5E1"/>
                </a:solidFill>
                <a:latin typeface="Arial"/>
                <a:ea typeface="Arial"/>
                <a:cs typeface="Arial"/>
              </a:defRPr>
            </a:lvl5pPr>
            <a:lvl6pPr algn="r">
              <a:defRPr sz="1500" b="0">
                <a:solidFill>
                  <a:srgbClr val="CBD5E1"/>
                </a:solidFill>
                <a:latin typeface="Arial"/>
                <a:ea typeface="Arial"/>
                <a:cs typeface="Arial"/>
              </a:defRPr>
            </a:lvl6pPr>
            <a:lvl7pPr algn="r">
              <a:defRPr sz="1500" b="0">
                <a:solidFill>
                  <a:srgbClr val="CBD5E1"/>
                </a:solidFill>
                <a:latin typeface="Arial"/>
                <a:ea typeface="Arial"/>
                <a:cs typeface="Arial"/>
              </a:defRPr>
            </a:lvl7pPr>
            <a:lvl8pPr algn="r">
              <a:defRPr sz="1500" b="0">
                <a:solidFill>
                  <a:srgbClr val="CBD5E1"/>
                </a:solidFill>
                <a:latin typeface="Arial"/>
                <a:ea typeface="Arial"/>
                <a:cs typeface="Arial"/>
              </a:defRPr>
            </a:lvl8pPr>
            <a:lvl9pPr algn="r">
              <a:defRPr sz="1500" b="0">
                <a:solidFill>
                  <a:srgbClr val="CBD5E1"/>
                </a:solidFill>
                <a:latin typeface="Arial"/>
                <a:ea typeface="Arial"/>
                <a:cs typeface="Arial"/>
              </a:defRPr>
            </a:lvl9pPr>
          </a:lstStyle>
          <a:p xmlns:a="http://schemas.openxmlformats.org/drawingml/2006/main">
            <a:pPr algn="r">
              <a:defRPr sz="1500" b="0">
                <a:solidFill>
                  <a:srgbClr val="CBD5E1"/>
                </a:solidFill>
                <a:latin typeface="Arial"/>
                <a:ea typeface="Arial"/>
                <a:cs typeface="Arial"/>
              </a:defRPr>
            </a:pPr>
            <a:r>
              <a:rPr sz="1500" b="0">
                <a:solidFill>
                  <a:srgbClr val="CBD5E1"/>
                </a:solidFill>
                <a:latin typeface="Arial"/>
                <a:ea typeface="Arial"/>
                <a:cs typeface="Arial"/>
              </a:rPr>
              <a:t>30</a:t>
            </a:r>
          </a:p>
        </p:txBody>
      </p:sp>
      <p:sp>
        <p:nvSpPr>
          <p:cNvPr id="4" name="text-333">
            <a:extLst xmlns:a="http://schemas.openxmlformats.org/drawingml/2006/main">
              <a:ext uri="{FF2B5EF4-FFF2-40B4-BE49-F238E27FC236}">
                <a16:creationId xmlns:a16="http://schemas.microsoft.com/office/drawing/2014/main" id="{8943D9D7-0961-4BD9-A4B1-895553AFD1F2}"/>
              </a:ext>
            </a:extLst>
          </p:cNvPr>
          <p:cNvSpPr>
            <a:spLocks xmlns:a="http://schemas.openxmlformats.org/drawingml/2006/main" noGrp="1"/>
          </p:cNvSpPr>
          <p:nvPr/>
        </p:nvSpPr>
        <p:spPr>
          <a:xfrm xmlns:a="http://schemas.openxmlformats.org/drawingml/2006/main">
            <a:off x="914400" y="26670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1</a:t>
            </a:r>
          </a:p>
        </p:txBody>
      </p:sp>
      <p:sp>
        <p:nvSpPr>
          <p:cNvPr id="5" name="text-334">
            <a:extLst xmlns:a="http://schemas.openxmlformats.org/drawingml/2006/main">
              <a:ext uri="{FF2B5EF4-FFF2-40B4-BE49-F238E27FC236}">
                <a16:creationId xmlns:a16="http://schemas.microsoft.com/office/drawing/2014/main" id="{C6726E27-C095-4E5B-A23F-344219C590A6}"/>
              </a:ext>
            </a:extLst>
          </p:cNvPr>
          <p:cNvSpPr>
            <a:spLocks xmlns:a="http://schemas.openxmlformats.org/drawingml/2006/main" noGrp="1"/>
          </p:cNvSpPr>
          <p:nvPr/>
        </p:nvSpPr>
        <p:spPr>
          <a:xfrm xmlns:a="http://schemas.openxmlformats.org/drawingml/2006/main">
            <a:off x="1619250" y="26670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Kasus konsistensi</a:t>
            </a:r>
          </a:p>
        </p:txBody>
      </p:sp>
      <p:sp>
        <p:nvSpPr>
          <p:cNvPr id="6" name="text-335">
            <a:extLst xmlns:a="http://schemas.openxmlformats.org/drawingml/2006/main">
              <a:ext uri="{FF2B5EF4-FFF2-40B4-BE49-F238E27FC236}">
                <a16:creationId xmlns:a16="http://schemas.microsoft.com/office/drawing/2014/main" id="{52F31B77-BEF9-481A-AB9A-56F60471AF36}"/>
              </a:ext>
            </a:extLst>
          </p:cNvPr>
          <p:cNvSpPr>
            <a:spLocks xmlns:a="http://schemas.openxmlformats.org/drawingml/2006/main" noGrp="1"/>
          </p:cNvSpPr>
          <p:nvPr/>
        </p:nvSpPr>
        <p:spPr>
          <a:xfrm xmlns:a="http://schemas.openxmlformats.org/drawingml/2006/main">
            <a:off x="1619250" y="32385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Apa yang terjadi jika database berhasil menyimpan tetapi respons HTTP hilang? Telusuri client_id.</a:t>
            </a:r>
          </a:p>
        </p:txBody>
      </p:sp>
      <p:sp>
        <p:nvSpPr>
          <p:cNvPr id="7" name="text-336">
            <a:extLst xmlns:a="http://schemas.openxmlformats.org/drawingml/2006/main">
              <a:ext uri="{FF2B5EF4-FFF2-40B4-BE49-F238E27FC236}">
                <a16:creationId xmlns:a16="http://schemas.microsoft.com/office/drawing/2014/main" id="{0D3DE672-A496-464A-8FE6-2465AD3F03B4}"/>
              </a:ext>
            </a:extLst>
          </p:cNvPr>
          <p:cNvSpPr>
            <a:spLocks xmlns:a="http://schemas.openxmlformats.org/drawingml/2006/main" noGrp="1"/>
          </p:cNvSpPr>
          <p:nvPr/>
        </p:nvSpPr>
        <p:spPr>
          <a:xfrm xmlns:a="http://schemas.openxmlformats.org/drawingml/2006/main">
            <a:off x="914400" y="39624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2</a:t>
            </a:r>
          </a:p>
        </p:txBody>
      </p:sp>
      <p:sp>
        <p:nvSpPr>
          <p:cNvPr id="8" name="text-337">
            <a:extLst xmlns:a="http://schemas.openxmlformats.org/drawingml/2006/main">
              <a:ext uri="{FF2B5EF4-FFF2-40B4-BE49-F238E27FC236}">
                <a16:creationId xmlns:a16="http://schemas.microsoft.com/office/drawing/2014/main" id="{F0CE88A1-242E-463A-8841-53BE4C18E226}"/>
              </a:ext>
            </a:extLst>
          </p:cNvPr>
          <p:cNvSpPr>
            <a:spLocks xmlns:a="http://schemas.openxmlformats.org/drawingml/2006/main" noGrp="1"/>
          </p:cNvSpPr>
          <p:nvPr/>
        </p:nvSpPr>
        <p:spPr>
          <a:xfrm xmlns:a="http://schemas.openxmlformats.org/drawingml/2006/main">
            <a:off x="1619250" y="39624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Kasus keamanan</a:t>
            </a:r>
          </a:p>
        </p:txBody>
      </p:sp>
      <p:sp>
        <p:nvSpPr>
          <p:cNvPr id="9" name="text-338">
            <a:extLst xmlns:a="http://schemas.openxmlformats.org/drawingml/2006/main">
              <a:ext uri="{FF2B5EF4-FFF2-40B4-BE49-F238E27FC236}">
                <a16:creationId xmlns:a16="http://schemas.microsoft.com/office/drawing/2014/main" id="{C68E054A-2D9B-4F6B-99EC-D45EB922C6A2}"/>
              </a:ext>
            </a:extLst>
          </p:cNvPr>
          <p:cNvSpPr>
            <a:spLocks xmlns:a="http://schemas.openxmlformats.org/drawingml/2006/main" noGrp="1"/>
          </p:cNvSpPr>
          <p:nvPr/>
        </p:nvSpPr>
        <p:spPr>
          <a:xfrm xmlns:a="http://schemas.openxmlformats.org/drawingml/2006/main">
            <a:off x="1619250" y="45339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Mengapa token valid tetap dapat memperoleh 403 ketika mengunduh lampiran percakapan lain?</a:t>
            </a:r>
          </a:p>
        </p:txBody>
      </p:sp>
      <p:sp>
        <p:nvSpPr>
          <p:cNvPr id="10" name="text-339">
            <a:extLst xmlns:a="http://schemas.openxmlformats.org/drawingml/2006/main">
              <a:ext uri="{FF2B5EF4-FFF2-40B4-BE49-F238E27FC236}">
                <a16:creationId xmlns:a16="http://schemas.microsoft.com/office/drawing/2014/main" id="{227B3170-F079-4F59-84D0-593ED42724A7}"/>
              </a:ext>
            </a:extLst>
          </p:cNvPr>
          <p:cNvSpPr>
            <a:spLocks xmlns:a="http://schemas.openxmlformats.org/drawingml/2006/main" noGrp="1"/>
          </p:cNvSpPr>
          <p:nvPr/>
        </p:nvSpPr>
        <p:spPr>
          <a:xfrm xmlns:a="http://schemas.openxmlformats.org/drawingml/2006/main">
            <a:off x="914400" y="52578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3</a:t>
            </a:r>
          </a:p>
        </p:txBody>
      </p:sp>
      <p:sp>
        <p:nvSpPr>
          <p:cNvPr id="11" name="text-340">
            <a:extLst xmlns:a="http://schemas.openxmlformats.org/drawingml/2006/main">
              <a:ext uri="{FF2B5EF4-FFF2-40B4-BE49-F238E27FC236}">
                <a16:creationId xmlns:a16="http://schemas.microsoft.com/office/drawing/2014/main" id="{EC151019-8D80-4D7F-9452-6E6AE38B151F}"/>
              </a:ext>
            </a:extLst>
          </p:cNvPr>
          <p:cNvSpPr>
            <a:spLocks xmlns:a="http://schemas.openxmlformats.org/drawingml/2006/main" noGrp="1"/>
          </p:cNvSpPr>
          <p:nvPr/>
        </p:nvSpPr>
        <p:spPr>
          <a:xfrm xmlns:a="http://schemas.openxmlformats.org/drawingml/2006/main">
            <a:off x="1619250" y="52578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Tugas pengembangan</a:t>
            </a:r>
          </a:p>
        </p:txBody>
      </p:sp>
      <p:sp>
        <p:nvSpPr>
          <p:cNvPr id="12" name="text-341">
            <a:extLst xmlns:a="http://schemas.openxmlformats.org/drawingml/2006/main">
              <a:ext uri="{FF2B5EF4-FFF2-40B4-BE49-F238E27FC236}">
                <a16:creationId xmlns:a16="http://schemas.microsoft.com/office/drawing/2014/main" id="{452B9856-B574-4109-A5A1-7E97434B99C4}"/>
              </a:ext>
            </a:extLst>
          </p:cNvPr>
          <p:cNvSpPr>
            <a:spLocks xmlns:a="http://schemas.openxmlformats.org/drawingml/2006/main" noGrp="1"/>
          </p:cNvSpPr>
          <p:nvPr/>
        </p:nvSpPr>
        <p:spPr>
          <a:xfrm xmlns:a="http://schemas.openxmlformats.org/drawingml/2006/main">
            <a:off x="1619250" y="58293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Rancang pencarian server atau antrean offline. Tentukan kontrak, data, state, dan skenario gagal.</a:t>
            </a:r>
          </a:p>
        </p:txBody>
      </p:sp>
      <p:sp>
        <p:nvSpPr>
          <p:cNvPr id="13" name="text-342">
            <a:extLst xmlns:a="http://schemas.openxmlformats.org/drawingml/2006/main">
              <a:ext uri="{FF2B5EF4-FFF2-40B4-BE49-F238E27FC236}">
                <a16:creationId xmlns:a16="http://schemas.microsoft.com/office/drawing/2014/main" id="{EB8EED4A-6869-43F1-BCA7-C327D0129354}"/>
              </a:ext>
            </a:extLst>
          </p:cNvPr>
          <p:cNvSpPr>
            <a:spLocks xmlns:a="http://schemas.openxmlformats.org/drawingml/2006/main" noGrp="1"/>
          </p:cNvSpPr>
          <p:nvPr/>
        </p:nvSpPr>
        <p:spPr>
          <a:xfrm xmlns:a="http://schemas.openxmlformats.org/drawingml/2006/main">
            <a:off x="914400" y="6553200"/>
            <a:ext cx="495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8BDF8"/>
                </a:solidFill>
                <a:latin typeface="Arial"/>
                <a:ea typeface="Arial"/>
                <a:cs typeface="Arial"/>
              </a:defRPr>
            </a:defPPr>
            <a:lvl1pPr algn="l">
              <a:defRPr sz="2325" b="1">
                <a:solidFill>
                  <a:srgbClr val="38BDF8"/>
                </a:solidFill>
                <a:latin typeface="Arial"/>
                <a:ea typeface="Arial"/>
                <a:cs typeface="Arial"/>
              </a:defRPr>
            </a:lvl1pPr>
            <a:lvl2pPr algn="l">
              <a:defRPr sz="2325" b="1">
                <a:solidFill>
                  <a:srgbClr val="38BDF8"/>
                </a:solidFill>
                <a:latin typeface="Arial"/>
                <a:ea typeface="Arial"/>
                <a:cs typeface="Arial"/>
              </a:defRPr>
            </a:lvl2pPr>
            <a:lvl3pPr algn="l">
              <a:defRPr sz="2325" b="1">
                <a:solidFill>
                  <a:srgbClr val="38BDF8"/>
                </a:solidFill>
                <a:latin typeface="Arial"/>
                <a:ea typeface="Arial"/>
                <a:cs typeface="Arial"/>
              </a:defRPr>
            </a:lvl3pPr>
            <a:lvl4pPr algn="l">
              <a:defRPr sz="2325" b="1">
                <a:solidFill>
                  <a:srgbClr val="38BDF8"/>
                </a:solidFill>
                <a:latin typeface="Arial"/>
                <a:ea typeface="Arial"/>
                <a:cs typeface="Arial"/>
              </a:defRPr>
            </a:lvl4pPr>
            <a:lvl5pPr algn="l">
              <a:defRPr sz="2325" b="1">
                <a:solidFill>
                  <a:srgbClr val="38BDF8"/>
                </a:solidFill>
                <a:latin typeface="Arial"/>
                <a:ea typeface="Arial"/>
                <a:cs typeface="Arial"/>
              </a:defRPr>
            </a:lvl5pPr>
            <a:lvl6pPr algn="l">
              <a:defRPr sz="2325" b="1">
                <a:solidFill>
                  <a:srgbClr val="38BDF8"/>
                </a:solidFill>
                <a:latin typeface="Arial"/>
                <a:ea typeface="Arial"/>
                <a:cs typeface="Arial"/>
              </a:defRPr>
            </a:lvl6pPr>
            <a:lvl7pPr algn="l">
              <a:defRPr sz="2325" b="1">
                <a:solidFill>
                  <a:srgbClr val="38BDF8"/>
                </a:solidFill>
                <a:latin typeface="Arial"/>
                <a:ea typeface="Arial"/>
                <a:cs typeface="Arial"/>
              </a:defRPr>
            </a:lvl7pPr>
            <a:lvl8pPr algn="l">
              <a:defRPr sz="2325" b="1">
                <a:solidFill>
                  <a:srgbClr val="38BDF8"/>
                </a:solidFill>
                <a:latin typeface="Arial"/>
                <a:ea typeface="Arial"/>
                <a:cs typeface="Arial"/>
              </a:defRPr>
            </a:lvl8pPr>
            <a:lvl9pPr algn="l">
              <a:defRPr sz="2325" b="1">
                <a:solidFill>
                  <a:srgbClr val="38BDF8"/>
                </a:solidFill>
                <a:latin typeface="Arial"/>
                <a:ea typeface="Arial"/>
                <a:cs typeface="Arial"/>
              </a:defRPr>
            </a:lvl9pPr>
          </a:lstStyle>
          <a:p xmlns:a="http://schemas.openxmlformats.org/drawingml/2006/main">
            <a:pPr algn="l">
              <a:defRPr sz="2325" b="1">
                <a:solidFill>
                  <a:srgbClr val="38BDF8"/>
                </a:solidFill>
                <a:latin typeface="Arial"/>
                <a:ea typeface="Arial"/>
                <a:cs typeface="Arial"/>
              </a:defRPr>
            </a:pPr>
            <a:r>
              <a:rPr sz="2325" b="1">
                <a:solidFill>
                  <a:srgbClr val="38BDF8"/>
                </a:solidFill>
                <a:latin typeface="Arial"/>
                <a:ea typeface="Arial"/>
                <a:cs typeface="Arial"/>
              </a:rPr>
              <a:t>4</a:t>
            </a:r>
          </a:p>
        </p:txBody>
      </p:sp>
      <p:sp>
        <p:nvSpPr>
          <p:cNvPr id="14" name="text-343">
            <a:extLst xmlns:a="http://schemas.openxmlformats.org/drawingml/2006/main">
              <a:ext uri="{FF2B5EF4-FFF2-40B4-BE49-F238E27FC236}">
                <a16:creationId xmlns:a16="http://schemas.microsoft.com/office/drawing/2014/main" id="{01553A24-6613-4386-BA99-63A951934396}"/>
              </a:ext>
            </a:extLst>
          </p:cNvPr>
          <p:cNvSpPr>
            <a:spLocks xmlns:a="http://schemas.openxmlformats.org/drawingml/2006/main" noGrp="1"/>
          </p:cNvSpPr>
          <p:nvPr/>
        </p:nvSpPr>
        <p:spPr>
          <a:xfrm xmlns:a="http://schemas.openxmlformats.org/drawingml/2006/main">
            <a:off x="1619250" y="6553200"/>
            <a:ext cx="12439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Batas arsitektur saat ini</a:t>
            </a:r>
          </a:p>
        </p:txBody>
      </p:sp>
      <p:sp>
        <p:nvSpPr>
          <p:cNvPr id="15" name="text-344">
            <a:extLst xmlns:a="http://schemas.openxmlformats.org/drawingml/2006/main">
              <a:ext uri="{FF2B5EF4-FFF2-40B4-BE49-F238E27FC236}">
                <a16:creationId xmlns:a16="http://schemas.microsoft.com/office/drawing/2014/main" id="{9F2FA4D8-9D6F-4055-B5F7-51F021D1DF1B}"/>
              </a:ext>
            </a:extLst>
          </p:cNvPr>
          <p:cNvSpPr>
            <a:spLocks xmlns:a="http://schemas.openxmlformats.org/drawingml/2006/main" noGrp="1"/>
          </p:cNvSpPr>
          <p:nvPr/>
        </p:nvSpPr>
        <p:spPr>
          <a:xfrm xmlns:a="http://schemas.openxmlformats.org/drawingml/2006/main">
            <a:off x="1619250" y="7124700"/>
            <a:ext cx="12363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BD5E1"/>
                </a:solidFill>
                <a:latin typeface="Arial"/>
                <a:ea typeface="Arial"/>
                <a:cs typeface="Arial"/>
              </a:defRPr>
            </a:defPPr>
            <a:lvl1pPr algn="l">
              <a:defRPr sz="2025" b="0">
                <a:solidFill>
                  <a:srgbClr val="CBD5E1"/>
                </a:solidFill>
                <a:latin typeface="Arial"/>
                <a:ea typeface="Arial"/>
                <a:cs typeface="Arial"/>
              </a:defRPr>
            </a:lvl1pPr>
            <a:lvl2pPr algn="l">
              <a:defRPr sz="2025" b="0">
                <a:solidFill>
                  <a:srgbClr val="CBD5E1"/>
                </a:solidFill>
                <a:latin typeface="Arial"/>
                <a:ea typeface="Arial"/>
                <a:cs typeface="Arial"/>
              </a:defRPr>
            </a:lvl2pPr>
            <a:lvl3pPr algn="l">
              <a:defRPr sz="2025" b="0">
                <a:solidFill>
                  <a:srgbClr val="CBD5E1"/>
                </a:solidFill>
                <a:latin typeface="Arial"/>
                <a:ea typeface="Arial"/>
                <a:cs typeface="Arial"/>
              </a:defRPr>
            </a:lvl3pPr>
            <a:lvl4pPr algn="l">
              <a:defRPr sz="2025" b="0">
                <a:solidFill>
                  <a:srgbClr val="CBD5E1"/>
                </a:solidFill>
                <a:latin typeface="Arial"/>
                <a:ea typeface="Arial"/>
                <a:cs typeface="Arial"/>
              </a:defRPr>
            </a:lvl4pPr>
            <a:lvl5pPr algn="l">
              <a:defRPr sz="2025" b="0">
                <a:solidFill>
                  <a:srgbClr val="CBD5E1"/>
                </a:solidFill>
                <a:latin typeface="Arial"/>
                <a:ea typeface="Arial"/>
                <a:cs typeface="Arial"/>
              </a:defRPr>
            </a:lvl5pPr>
            <a:lvl6pPr algn="l">
              <a:defRPr sz="2025" b="0">
                <a:solidFill>
                  <a:srgbClr val="CBD5E1"/>
                </a:solidFill>
                <a:latin typeface="Arial"/>
                <a:ea typeface="Arial"/>
                <a:cs typeface="Arial"/>
              </a:defRPr>
            </a:lvl6pPr>
            <a:lvl7pPr algn="l">
              <a:defRPr sz="2025" b="0">
                <a:solidFill>
                  <a:srgbClr val="CBD5E1"/>
                </a:solidFill>
                <a:latin typeface="Arial"/>
                <a:ea typeface="Arial"/>
                <a:cs typeface="Arial"/>
              </a:defRPr>
            </a:lvl7pPr>
            <a:lvl8pPr algn="l">
              <a:defRPr sz="2025" b="0">
                <a:solidFill>
                  <a:srgbClr val="CBD5E1"/>
                </a:solidFill>
                <a:latin typeface="Arial"/>
                <a:ea typeface="Arial"/>
                <a:cs typeface="Arial"/>
              </a:defRPr>
            </a:lvl8pPr>
            <a:lvl9pPr algn="l">
              <a:defRPr sz="2025" b="0">
                <a:solidFill>
                  <a:srgbClr val="CBD5E1"/>
                </a:solidFill>
                <a:latin typeface="Arial"/>
                <a:ea typeface="Arial"/>
                <a:cs typeface="Arial"/>
              </a:defRPr>
            </a:lvl9pPr>
          </a:lstStyle>
          <a:p xmlns:a="http://schemas.openxmlformats.org/drawingml/2006/main">
            <a:pPr algn="l">
              <a:defRPr sz="2025" b="0">
                <a:solidFill>
                  <a:srgbClr val="CBD5E1"/>
                </a:solidFill>
                <a:latin typeface="Arial"/>
                <a:ea typeface="Arial"/>
                <a:cs typeface="Arial"/>
              </a:defRPr>
            </a:pPr>
            <a:r>
              <a:rPr sz="2025" b="0">
                <a:solidFill>
                  <a:srgbClr val="CBD5E1"/>
                </a:solidFill>
                <a:latin typeface="Arial"/>
                <a:ea typeface="Arial"/>
                <a:cs typeface="Arial"/>
              </a:rPr>
              <a:t>Satu hub Go, tanpa push, grup, panggilan, dan E2EE. Multi-instance memerlukan broker event.</a:t>
            </a:r>
          </a:p>
        </p:txBody>
      </p:sp>
    </p:spTree>
    <p:extLst>
      <p:ext uri="{BB962C8B-B14F-4D97-AF65-F5344CB8AC3E}">
        <p14:creationId xmlns:p14="http://schemas.microsoft.com/office/powerpoint/2010/main" val="1034053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2026-10-31T04:17:13.3340000Z</dcterms:created>
  <dcterms:modified xsi:type="dcterms:W3CDTF">2026-10-31T04:17:13.3340000Z</dcterms:modified>
</coreProperties>
</file>